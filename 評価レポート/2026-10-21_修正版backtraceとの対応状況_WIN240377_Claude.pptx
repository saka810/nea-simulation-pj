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8C6CF"/>
                </a:solidFill>
                <a:latin typeface="Meiryo UI"/>
              </a:rPr>
              <a:t>豊田政弘氏の修正版 backtrace_rev.f90（2026-10-19）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eiryo UI"/>
              </a:rPr>
              <a:t>修正版の改善点は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eiryo UI"/>
              </a:rPr>
              <a:t>Python 版でどこまで済んでいるか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DE5EA"/>
                </a:solidFill>
                <a:latin typeface="Meiryo UI"/>
              </a:rPr>
              <a:t>改善 6 項目と「そのほかの整理」を geosim と突き合わせ、対応済みのものはいつ・どのコミットで直したかを履歴から拾った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8C6CF"/>
                </a:solidFill>
                <a:latin typeface="Meiryo UI"/>
              </a:rPr>
              <a:t>2026-10-21　WIN240377 /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5720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6 項目のうち 5 つは対応済み（②は一部）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E7C86"/>
                </a:solidFill>
                <a:latin typeface="Meiryo UI"/>
              </a:rPr>
              <a:t>③の音線数の決め方だけが手つかず。②は「同じ平面でも材料が違うと捨てる」穴が残る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8424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E7D5B"/>
                </a:solidFill>
                <a:latin typeface="Meiryo UI"/>
              </a:rPr>
              <a:t>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2029967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対応済み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603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2F3D"/>
                </a:solidFill>
                <a:latin typeface="Meiryo UI"/>
              </a:rPr>
              <a:t>音線追跡を 1 回にした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175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C69"/>
                </a:solidFill>
                <a:latin typeface="Meiryo UI"/>
              </a:rPr>
              <a:t>移植時から 1 回。2026-08-12 に確定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7830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98424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C77C02"/>
                </a:solidFill>
                <a:latin typeface="Meiryo UI"/>
              </a:rPr>
              <a:t>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19" y="2029967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C77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一部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5603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2F3D"/>
                </a:solidFill>
                <a:latin typeface="Meiryo UI"/>
              </a:rPr>
              <a:t>反射履歴に平面の番号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0175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C69"/>
                </a:solidFill>
                <a:latin typeface="Meiryo UI"/>
              </a:rPr>
              <a:t>2026-08-20 にパッチ単位（材料で割る）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830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1" y="198424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B33A2E"/>
                </a:solidFill>
                <a:latin typeface="Meiryo UI"/>
              </a:rPr>
              <a:t>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59" y="2029967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B3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未対応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25603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2F3D"/>
                </a:solidFill>
                <a:latin typeface="Meiryo UI"/>
              </a:rPr>
              <a:t>音線数を時間長から決める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1" y="30175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C69"/>
                </a:solidFill>
                <a:latin typeface="Meiryo UI"/>
              </a:rPr>
              <a:t>既定 20 万本・反射回数で打ち切り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04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04164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E7D5B"/>
                </a:solidFill>
                <a:latin typeface="Meiryo UI"/>
              </a:rPr>
              <a:t>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4087368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対応済み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6177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2F3D"/>
                </a:solidFill>
                <a:latin typeface="Meiryo UI"/>
              </a:rPr>
              <a:t>重複削除を整列方式に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074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C69"/>
                </a:solidFill>
                <a:latin typeface="Meiryo UI"/>
              </a:rPr>
              <a:t>2026-08-12 にハッシュで O(n)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38404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404164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E7D5B"/>
                </a:solidFill>
                <a:latin typeface="Meiryo UI"/>
              </a:rPr>
              <a:t>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19" y="4087368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対応済み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6177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2F3D"/>
                </a:solidFill>
                <a:latin typeface="Meiryo UI"/>
              </a:rPr>
              <a:t>出力の順序を固定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5074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C69"/>
                </a:solidFill>
                <a:latin typeface="Meiryo UI"/>
              </a:rPr>
              <a:t>2026-08-12〜21。並列で書かない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38404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1" y="404164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E7D5B"/>
                </a:solidFill>
                <a:latin typeface="Meiryo UI"/>
              </a:rPr>
              <a:t>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59" y="4087368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対応済み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1" y="46177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2F3D"/>
                </a:solidFill>
                <a:latin typeface="Meiryo UI"/>
              </a:rPr>
              <a:t>音線方向の式の 1 ずれ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1" y="5074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C69"/>
                </a:solidFill>
                <a:latin typeface="Meiryo UI"/>
              </a:rPr>
              <a:t>移植時（2025-06-10）から 0 始まり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A5C69"/>
                </a:solidFill>
                <a:latin typeface="Meiryo UI"/>
              </a:rPr>
              <a:t>そのほかの整理</a:t>
            </a:r>
            <a:r>
              <a:rPr sz="1400" b="0">
                <a:solidFill>
                  <a:srgbClr val="4A5C69"/>
                </a:solidFill>
                <a:latin typeface="Meiryo UI"/>
              </a:rPr>
              <a:t>（符号付きの鏡像・最寄りの壁探しの一本化）も済んでいる → スライド 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backtrace_rev.f90 と geosim の対応状況　2026-10-21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5720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対応はほぼ 2026 年 8 月の移植作業で入っていた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E7C86"/>
                </a:solidFill>
                <a:latin typeface="Meiryo UI"/>
              </a:rPr>
              <a:t>修正版が直した点の多くは、Fortran を Python に写すときに別の理由で直していた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227832"/>
            <a:ext cx="9509760" cy="36576"/>
          </a:xfrm>
          <a:prstGeom prst="rect">
            <a:avLst/>
          </a:prstGeom>
          <a:solidFill>
            <a:srgbClr val="6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7784" y="3118103"/>
            <a:ext cx="256032" cy="256032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82879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7D5B"/>
                </a:solidFill>
                <a:latin typeface="Meiryo UI"/>
              </a:rPr>
              <a:t>2025-06-10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194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F3D"/>
                </a:solidFill>
                <a:latin typeface="Meiryo UI"/>
              </a:rPr>
              <a:t>移植の初版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3566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C69"/>
                </a:solidFill>
                <a:latin typeface="Meiryo UI"/>
              </a:rPr>
              <a:t>音線方向を
0 始まりで書く（⑥）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48463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E7C86"/>
                </a:solidFill>
                <a:latin typeface="Meiryo UI"/>
              </a:rPr>
              <a:t>y-nea</a:t>
            </a:r>
          </a:p>
        </p:txBody>
      </p:sp>
      <p:sp>
        <p:nvSpPr>
          <p:cNvPr id="11" name="Oval 10"/>
          <p:cNvSpPr/>
          <p:nvPr/>
        </p:nvSpPr>
        <p:spPr>
          <a:xfrm>
            <a:off x="2459736" y="3118103"/>
            <a:ext cx="256032" cy="256032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9736" y="182879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7D5B"/>
                </a:solidFill>
                <a:latin typeface="Meiryo UI"/>
              </a:rPr>
              <a:t>2026-08-12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9736" y="2194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F3D"/>
                </a:solidFill>
                <a:latin typeface="Meiryo UI"/>
              </a:rPr>
              <a:t>音線追跡を完成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3566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C69"/>
                </a:solidFill>
                <a:latin typeface="Meiryo UI"/>
              </a:rPr>
              <a:t>traceff を読み解き 1 回の追跡に（①）
重複削除を速く（④⑤）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9736" y="48463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E7C86"/>
                </a:solidFill>
                <a:latin typeface="Meiryo UI"/>
              </a:rPr>
              <a:t>HBN240018</a:t>
            </a:r>
          </a:p>
        </p:txBody>
      </p:sp>
      <p:sp>
        <p:nvSpPr>
          <p:cNvPr id="16" name="Oval 15"/>
          <p:cNvSpPr/>
          <p:nvPr/>
        </p:nvSpPr>
        <p:spPr>
          <a:xfrm>
            <a:off x="4361688" y="3118103"/>
            <a:ext cx="256032" cy="256032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82879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7D5B"/>
                </a:solidFill>
                <a:latin typeface="Meiryo UI"/>
              </a:rPr>
              <a:t>2026-08-14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194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F3D"/>
                </a:solidFill>
                <a:latin typeface="Meiryo UI"/>
              </a:rPr>
              <a:t>パイプライン接続・F-1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566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C69"/>
                </a:solidFill>
                <a:latin typeface="Meiryo UI"/>
              </a:rPr>
              <a:t>鏡像を符号付きに（E-12）
交差判定を 1 つの関数に（整理）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48463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E7C86"/>
                </a:solidFill>
                <a:latin typeface="Meiryo UI"/>
              </a:rPr>
              <a:t>HBN240018</a:t>
            </a:r>
          </a:p>
        </p:txBody>
      </p:sp>
      <p:sp>
        <p:nvSpPr>
          <p:cNvPr id="21" name="Oval 20"/>
          <p:cNvSpPr/>
          <p:nvPr/>
        </p:nvSpPr>
        <p:spPr>
          <a:xfrm>
            <a:off x="6263640" y="3118103"/>
            <a:ext cx="256032" cy="256032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82879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7D5B"/>
                </a:solidFill>
                <a:latin typeface="Meiryo UI"/>
              </a:rPr>
              <a:t>2026-08-20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94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F3D"/>
                </a:solidFill>
                <a:latin typeface="Meiryo UI"/>
              </a:rPr>
              <a:t>F-4 パッチ単位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566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C69"/>
                </a:solidFill>
                <a:latin typeface="Meiryo UI"/>
              </a:rPr>
              <a:t>同一平面パッチで照合（②の一部）
受音経路 2.2 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8463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E7C86"/>
                </a:solidFill>
                <a:latin typeface="Meiryo UI"/>
              </a:rPr>
              <a:t>HBN240018</a:t>
            </a:r>
          </a:p>
        </p:txBody>
      </p:sp>
      <p:sp>
        <p:nvSpPr>
          <p:cNvPr id="26" name="Oval 25"/>
          <p:cNvSpPr/>
          <p:nvPr/>
        </p:nvSpPr>
        <p:spPr>
          <a:xfrm>
            <a:off x="8165592" y="3118103"/>
            <a:ext cx="256032" cy="256032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182879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7D5B"/>
                </a:solidFill>
                <a:latin typeface="Meiryo UI"/>
              </a:rPr>
              <a:t>2026-08-21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194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F3D"/>
                </a:solidFill>
                <a:latin typeface="Meiryo UI"/>
              </a:rPr>
              <a:t>F-5〜F-7a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3566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C69"/>
                </a:solidFill>
                <a:latin typeface="Meiryo UI"/>
              </a:rPr>
              <a:t>バックトレースを束で回す
入力順のまま返す（⑤）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48463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E7C86"/>
                </a:solidFill>
                <a:latin typeface="Meiryo UI"/>
              </a:rPr>
              <a:t>HBN240018</a:t>
            </a:r>
          </a:p>
        </p:txBody>
      </p:sp>
      <p:sp>
        <p:nvSpPr>
          <p:cNvPr id="31" name="Oval 30"/>
          <p:cNvSpPr/>
          <p:nvPr/>
        </p:nvSpPr>
        <p:spPr>
          <a:xfrm>
            <a:off x="10067544" y="3118103"/>
            <a:ext cx="256032" cy="256032"/>
          </a:xfrm>
          <a:prstGeom prst="ellipse">
            <a:avLst/>
          </a:prstGeom>
          <a:solidFill>
            <a:srgbClr val="C77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67544" y="182879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77C02"/>
                </a:solidFill>
                <a:latin typeface="Meiryo UI"/>
              </a:rPr>
              <a:t>2026-10-19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194560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F3D"/>
                </a:solidFill>
                <a:latin typeface="Meiryo UI"/>
              </a:rPr>
              <a:t>修正版 backtrace_rev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67544" y="3566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C69"/>
                </a:solidFill>
                <a:latin typeface="Meiryo UI"/>
              </a:rPr>
              <a:t>6 項目＋整理を
Fortran で直す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67544" y="48463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E7C86"/>
                </a:solidFill>
                <a:latin typeface="Meiryo UI"/>
              </a:rPr>
              <a:t>豊田氏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E7C86"/>
                </a:solidFill>
                <a:latin typeface="Meiryo UI"/>
              </a:rPr>
              <a:t>日付・端末はコミット履歴と Claude履歴 から。⑥のコメント（NaN の理由）は 2026-08-12 74a33dd で足した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backtrace_rev.f90 と geosim の対応状況　2026-10-21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5720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音線追跡は最初から 1 回で済んでいる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E7C86"/>
                </a:solidFill>
                <a:latin typeface="Meiryo UI"/>
              </a:rPr>
              <a:t>件数を前もって数える必要が無い作りなので、2 回目のはみ出しは起こりえない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59436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対応済み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120640" cy="3072384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2F3D"/>
                </a:solidFill>
                <a:latin typeface="Meiryo UI"/>
              </a:rPr>
              <a:t>修正版（backtrace_rev.f90）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4572000" cy="2203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旧版は件数を数える 1 回目（並列）と書き込む 2 回目（1 スレッド）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丸めの違いで 2 回目が多いと配列の外へ書き、黙ってメモリが壊れる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修正版はスレッドごとの領域に積み、一杯なら 2 倍に広げる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78308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eiryo UI"/>
              </a:rPr>
              <a:t>Python 版（geosim）の対応</a:t>
            </a:r>
          </a:p>
        </p:txBody>
      </p:sp>
      <p:sp>
        <p:nvSpPr>
          <p:cNvPr id="10" name="Oval 9"/>
          <p:cNvSpPr/>
          <p:nvPr/>
        </p:nvSpPr>
        <p:spPr>
          <a:xfrm>
            <a:off x="6035040" y="2404872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2331720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F3D"/>
                </a:solidFill>
                <a:latin typeface="Meiryo UI"/>
              </a:rPr>
              <a:t>2026-08-12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233172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E7C86"/>
                </a:solidFill>
                <a:latin typeface="Meiryo UI"/>
              </a:rPr>
              <a:t>84ad7eb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331720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F3D"/>
                </a:solidFill>
                <a:latin typeface="Meiryo UI"/>
              </a:rPr>
              <a:t>traceff の扱いを元コードから読み解いて確定。受音のたびに可変長リストへ積む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3154679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3081527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F3D"/>
                </a:solidFill>
                <a:latin typeface="Meiryo UI"/>
              </a:rPr>
              <a:t>2026-08-14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3081527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E7C86"/>
                </a:solidFill>
                <a:latin typeface="Meiryo UI"/>
              </a:rPr>
              <a:t>c904fa9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081527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F3D"/>
                </a:solidFill>
                <a:latin typeface="Meiryo UI"/>
              </a:rPr>
              <a:t>F-1：音線の束 × 全面を 1 回の配列演算に（180〜215 倍）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0" y="3904487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831335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F3D"/>
                </a:solidFill>
                <a:latin typeface="Meiryo UI"/>
              </a:rPr>
              <a:t>2026-08-21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3831335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E7C86"/>
                </a:solidFill>
                <a:latin typeface="Meiryo UI"/>
              </a:rPr>
              <a:t>0d9eb28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831335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F3D"/>
                </a:solidFill>
                <a:latin typeface="Meiryo UI"/>
              </a:rPr>
              <a:t>F-6：受音点をまたいで追跡を 1 回に（音源も束ねる）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718304"/>
            <a:ext cx="5577840" cy="156362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9D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901184"/>
            <a:ext cx="5120640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6E7C86"/>
                </a:solidFill>
                <a:latin typeface="Meiryo UI"/>
              </a:rPr>
              <a:t>・</a:t>
            </a:r>
            <a:r>
              <a:rPr sz="1300" b="0">
                <a:solidFill>
                  <a:srgbClr val="1B2F3D"/>
                </a:solidFill>
                <a:latin typeface="Meiryo UI"/>
              </a:rPr>
              <a:t>Python はスレッド並列ではなく配列演算で速くしているので、修正版の「スレッドごとの領域」に当たるものは要らない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E7C86"/>
                </a:solidFill>
                <a:latin typeface="Meiryo UI"/>
              </a:rPr>
              <a:t>・</a:t>
            </a:r>
            <a:r>
              <a:rPr sz="1300" b="0">
                <a:solidFill>
                  <a:srgbClr val="1B2F3D"/>
                </a:solidFill>
                <a:latin typeface="Meiryo UI"/>
              </a:rPr>
              <a:t>2 回目の追跡を持ったことが一度も無い（移植の時点で 1 回）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backtrace_rev.f90 と geosim の対応状況　2026-10-21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5720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平面での照合はパッチ単位まで来ている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E7C86"/>
                </a:solidFill>
                <a:latin typeface="Meiryo UI"/>
              </a:rPr>
              <a:t>三角形の食い違いで捨てる問題は 8 月に解消。ただしパッチは材料でも割るので穴が残る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59436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C77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一部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120640" cy="3730752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2F3D"/>
                </a:solidFill>
                <a:latin typeface="Meiryo UI"/>
              </a:rPr>
              <a:t>修正版（backtrace_rev.f90）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4572000" cy="2862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旧版は当たった三角形の番号で照合し、同じ床の隣の三角形でも捨てた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修正版は法線と位置が一致する三角形を同じ平面にまとめ、平面番号で照合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反射率は逆追跡で実際に当たった三角形の材料で計算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hall1 で 38 枚 → 11 平面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78308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77C02"/>
                </a:solidFill>
                <a:latin typeface="Meiryo UI"/>
              </a:rPr>
              <a:t>Python 版（geosim）の対応</a:t>
            </a:r>
          </a:p>
        </p:txBody>
      </p:sp>
      <p:sp>
        <p:nvSpPr>
          <p:cNvPr id="10" name="Oval 9"/>
          <p:cNvSpPr/>
          <p:nvPr/>
        </p:nvSpPr>
        <p:spPr>
          <a:xfrm>
            <a:off x="6035040" y="2404872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2331720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F3D"/>
                </a:solidFill>
                <a:latin typeface="Meiryo UI"/>
              </a:rPr>
              <a:t>2026-08-20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233172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E7C86"/>
                </a:solidFill>
                <a:latin typeface="Meiryo UI"/>
              </a:rPr>
              <a:t>705ccf6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331720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F3D"/>
                </a:solidFill>
                <a:latin typeface="Meiryo UI"/>
              </a:rPr>
              <a:t>F-4：同一平面パッチ単位で交差判定。視聴覚室で受音経路 314 → 703 本（2.2 倍）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218687"/>
            <a:ext cx="5577840" cy="280720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9D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401568"/>
            <a:ext cx="5120640" cy="2532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6E7C86"/>
                </a:solidFill>
                <a:latin typeface="Meiryo UI"/>
              </a:rPr>
              <a:t>・</a:t>
            </a:r>
            <a:r>
              <a:rPr sz="1300" b="1">
                <a:solidFill>
                  <a:srgbClr val="1B2F3D"/>
                </a:solidFill>
                <a:latin typeface="Meiryo UI"/>
              </a:rPr>
              <a:t>残っている穴：</a:t>
            </a:r>
            <a:r>
              <a:rPr sz="1300" b="0">
                <a:solidFill>
                  <a:srgbClr val="1B2F3D"/>
                </a:solidFill>
                <a:latin typeface="Meiryo UI"/>
              </a:rPr>
              <a:t>パッチは「同一平面＋辺でつながる＋同じ材料＋同じ向き」。同じ平面でも材料が違う部分は別パッチになり、そこに当たると捨てる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E7C86"/>
                </a:solidFill>
                <a:latin typeface="Meiryo UI"/>
              </a:rPr>
              <a:t>・</a:t>
            </a:r>
            <a:r>
              <a:rPr sz="1300" b="1">
                <a:solidFill>
                  <a:srgbClr val="1B2F3D"/>
                </a:solidFill>
                <a:latin typeface="Meiryo UI"/>
              </a:rPr>
              <a:t>hall1：</a:t>
            </a:r>
            <a:r>
              <a:rPr sz="1300" b="0">
                <a:solidFill>
                  <a:srgbClr val="1B2F3D"/>
                </a:solidFill>
                <a:latin typeface="Meiryo UI"/>
              </a:rPr>
              <a:t>平面 11 に対しパッチ 14（3 平面が 2 つのレイヤに割れる）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E7C86"/>
                </a:solidFill>
                <a:latin typeface="Meiryo UI"/>
              </a:rPr>
              <a:t>・</a:t>
            </a:r>
            <a:r>
              <a:rPr sz="1300" b="1">
                <a:solidFill>
                  <a:srgbClr val="1B2F3D"/>
                </a:solidFill>
                <a:latin typeface="Meiryo UI"/>
              </a:rPr>
              <a:t>hall1・1,000,000 本・反射 100 回：</a:t>
            </a:r>
            <a:r>
              <a:rPr sz="1300" b="0">
                <a:solidFill>
                  <a:srgbClr val="1B2F3D"/>
                </a:solidFill>
                <a:latin typeface="Meiryo UI"/>
              </a:rPr>
              <a:t>可視な虚音源は いまのパッチ照合 61,667 → 平面照合 73,817（1.20 倍。増えるのは 1 s 以降）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E7C86"/>
                </a:solidFill>
                <a:latin typeface="Meiryo UI"/>
              </a:rPr>
              <a:t>・</a:t>
            </a:r>
            <a:r>
              <a:rPr sz="1300" b="1">
                <a:solidFill>
                  <a:srgbClr val="1B2F3D"/>
                </a:solidFill>
                <a:latin typeface="Meiryo UI"/>
              </a:rPr>
              <a:t>参考（修正版 PDF の同条件）：</a:t>
            </a:r>
            <a:r>
              <a:rPr sz="1300" b="0">
                <a:solidFill>
                  <a:srgbClr val="1B2F3D"/>
                </a:solidFill>
                <a:latin typeface="Meiryo UI"/>
              </a:rPr>
              <a:t>旧 Fortran 21,058 ／ 修正版 70,554。音線の配り方と受音判定が違うので数は揃わない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backtrace_rev.f90 と geosim の対応状況　2026-10-21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5720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重複削除はハッシュで一度に済ませている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E7C86"/>
                </a:solidFill>
                <a:latin typeface="Meiryo UI"/>
              </a:rPr>
              <a:t>修正版の整列（n log n）よりさらに軽い O(n)。初出の順も保つ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59436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対応済み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120640" cy="3072384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2F3D"/>
                </a:solidFill>
                <a:latin typeface="Meiryo UI"/>
              </a:rPr>
              <a:t>修正版（backtrace_rev.f90）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4572000" cy="2203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旧版は反射回数ごとに分け、グループ内で全ペアを比べていた（n²）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修正版は反射履歴を辞書式に整列し、隣どうしだけ比べる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あわせて 1 経路の履歴がメモリ上で連続する向きにした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78308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eiryo UI"/>
              </a:rPr>
              <a:t>Python 版（geosim）の対応</a:t>
            </a:r>
          </a:p>
        </p:txBody>
      </p:sp>
      <p:sp>
        <p:nvSpPr>
          <p:cNvPr id="10" name="Oval 9"/>
          <p:cNvSpPr/>
          <p:nvPr/>
        </p:nvSpPr>
        <p:spPr>
          <a:xfrm>
            <a:off x="6035040" y="2404872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2331720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F3D"/>
                </a:solidFill>
                <a:latin typeface="Meiryo UI"/>
              </a:rPr>
              <a:t>2026-08-12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233172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E7C86"/>
                </a:solidFill>
                <a:latin typeface="Meiryo UI"/>
              </a:rPr>
              <a:t>84ad7eb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331720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F3D"/>
                </a:solidFill>
                <a:latin typeface="Meiryo UI"/>
              </a:rPr>
              <a:t>履歴をタプルにして dict.fromkeys で一括除去。元コードの並べ替えは「比べる相手を絞る高速化」だったと読み解いてコメントに残した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218687"/>
            <a:ext cx="5577840" cy="156362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9D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401568"/>
            <a:ext cx="5120640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6E7C86"/>
                </a:solidFill>
                <a:latin typeface="Meiryo UI"/>
              </a:rPr>
              <a:t>・</a:t>
            </a:r>
            <a:r>
              <a:rPr sz="1300" b="0">
                <a:solidFill>
                  <a:srgbClr val="1B2F3D"/>
                </a:solidFill>
                <a:latin typeface="Meiryo UI"/>
              </a:rPr>
              <a:t>set にしなかったのは順序を決定的にするため（⑤とつながる）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E7C86"/>
                </a:solidFill>
                <a:latin typeface="Meiryo UI"/>
              </a:rPr>
              <a:t>・</a:t>
            </a:r>
            <a:r>
              <a:rPr sz="1300" b="0">
                <a:solidFill>
                  <a:srgbClr val="1B2F3D"/>
                </a:solidFill>
                <a:latin typeface="Meiryo UI"/>
              </a:rPr>
              <a:t>検算：6×4×3 m の箱で 234 → 214 経路、総当たりと一致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backtrace_rev.f90 と geosim の対応状況　2026-10-21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5720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出力の順序は同じ入力なら必ず同じ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E7C86"/>
                </a:solidFill>
                <a:latin typeface="Meiryo UI"/>
              </a:rPr>
              <a:t>並べ方は修正版（反射履歴の辞書式）と違うが、どちらも決まった順になる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59436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対応済み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120640" cy="2414015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2F3D"/>
                </a:solidFill>
                <a:latin typeface="Meiryo UI"/>
              </a:rPr>
              <a:t>修正版（backtrace_rev.f90）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4572000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旧版は並列の逆追跡の中で各スレッドがその場で書き込み、実行のたびに行の順が変わった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修正版は配列に貯めてから、反射履歴の辞書式順に 1 スレッドで書く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78308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eiryo UI"/>
              </a:rPr>
              <a:t>Python 版（geosim）の対応</a:t>
            </a:r>
          </a:p>
        </p:txBody>
      </p:sp>
      <p:sp>
        <p:nvSpPr>
          <p:cNvPr id="10" name="Oval 9"/>
          <p:cNvSpPr/>
          <p:nvPr/>
        </p:nvSpPr>
        <p:spPr>
          <a:xfrm>
            <a:off x="6035040" y="2404872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2331720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F3D"/>
                </a:solidFill>
                <a:latin typeface="Meiryo UI"/>
              </a:rPr>
              <a:t>2026-08-12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233172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E7C86"/>
                </a:solidFill>
                <a:latin typeface="Meiryo UI"/>
              </a:rPr>
              <a:t>84ad7eb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331720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F3D"/>
                </a:solidFill>
                <a:latin typeface="Meiryo UI"/>
              </a:rPr>
              <a:t>重複削除を初出順に（set をやめて dict.fromkeys）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3154679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3081527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F3D"/>
                </a:solidFill>
                <a:latin typeface="Meiryo UI"/>
              </a:rPr>
              <a:t>2026-08-14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3081527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E7C86"/>
                </a:solidFill>
                <a:latin typeface="Meiryo UI"/>
              </a:rPr>
              <a:t>a67709f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081527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F3D"/>
                </a:solidFill>
                <a:latin typeface="Meiryo UI"/>
              </a:rPr>
              <a:t>パルス列を到来時刻順に並べて書く（sort_by_time）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0" y="3904487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831335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F3D"/>
                </a:solidFill>
                <a:latin typeface="Meiryo UI"/>
              </a:rPr>
              <a:t>2026-08-21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3831335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E7C86"/>
                </a:solidFill>
                <a:latin typeface="Meiryo UI"/>
              </a:rPr>
              <a:t>0d9eb28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831335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F3D"/>
                </a:solidFill>
                <a:latin typeface="Meiryo UI"/>
              </a:rPr>
              <a:t>束のバックトレースは入力の順のまま返す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718304"/>
            <a:ext cx="5577840" cy="156362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9D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901184"/>
            <a:ext cx="5120640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6E7C86"/>
                </a:solidFill>
                <a:latin typeface="Meiryo UI"/>
              </a:rPr>
              <a:t>・</a:t>
            </a:r>
            <a:r>
              <a:rPr sz="1300" b="0">
                <a:solidFill>
                  <a:srgbClr val="1B2F3D"/>
                </a:solidFill>
                <a:latin typeface="Meiryo UI"/>
              </a:rPr>
              <a:t>Python は書き出しを並列にしていないので、旧版の揺れはもともと起きない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E7C86"/>
                </a:solidFill>
                <a:latin typeface="Meiryo UI"/>
              </a:rPr>
              <a:t>・</a:t>
            </a:r>
            <a:r>
              <a:rPr sz="1300" b="0">
                <a:solidFill>
                  <a:srgbClr val="1B2F3D"/>
                </a:solidFill>
                <a:latin typeface="Meiryo UI"/>
              </a:rPr>
              <a:t>pulses.csv は到来時刻順。修正版の出力と行ごとに見比べるときは並べ直しが要る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backtrace_rev.f90 と geosim の対応状況　2026-10-21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5720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音線方向の 1 ずれは移植の初版から無い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E7C86"/>
                </a:solidFill>
                <a:latin typeface="Meiryo UI"/>
              </a:rPr>
              <a:t>0 始まりの添字で書いたので、z が 1 を超える最後の 1 本が出ない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59436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対応済み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120640" cy="2414015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385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2F3D"/>
                </a:solidFill>
                <a:latin typeface="Meiryo UI"/>
              </a:rPr>
              <a:t>修正版（backtrace_rev.f90）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4572000" cy="1545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旧版 z = (2i+1)/N − 1（i = 1…N）。i = N で z &gt; 1、√(1−z²) が NaN になり 1 本消えていた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修正版 z = (2i−1)/N − 1（i = 1…N）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78308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eiryo UI"/>
              </a:rPr>
              <a:t>Python 版（geosim）の対応</a:t>
            </a:r>
          </a:p>
        </p:txBody>
      </p:sp>
      <p:sp>
        <p:nvSpPr>
          <p:cNvPr id="10" name="Oval 9"/>
          <p:cNvSpPr/>
          <p:nvPr/>
        </p:nvSpPr>
        <p:spPr>
          <a:xfrm>
            <a:off x="6035040" y="2404872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2331720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F3D"/>
                </a:solidFill>
                <a:latin typeface="Meiryo UI"/>
              </a:rPr>
              <a:t>2025-06-10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233172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E7C86"/>
                </a:solidFill>
                <a:latin typeface="Meiryo UI"/>
              </a:rPr>
              <a:t>d079d74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331720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F3D"/>
                </a:solidFill>
                <a:latin typeface="Meiryo UI"/>
              </a:rPr>
              <a:t>移植の初版で z = dz·i − 1 + 1/N（i = 0…N−1）。修正版と同じ z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3154679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3081527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F3D"/>
                </a:solidFill>
                <a:latin typeface="Meiryo UI"/>
              </a:rPr>
              <a:t>2026-08-12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3081527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E7C86"/>
                </a:solidFill>
                <a:latin typeface="Meiryo UI"/>
              </a:rPr>
              <a:t>74a33dd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081527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F3D"/>
                </a:solidFill>
                <a:latin typeface="Meiryo UI"/>
              </a:rPr>
              <a:t>元コードで NaN になる理由をコメントに明記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968496"/>
            <a:ext cx="5577840" cy="1563624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9D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151376"/>
            <a:ext cx="5120640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6E7C86"/>
                </a:solidFill>
                <a:latin typeface="Meiryo UI"/>
              </a:rPr>
              <a:t>・</a:t>
            </a:r>
            <a:r>
              <a:rPr sz="1300" b="0">
                <a:solidFill>
                  <a:srgbClr val="1B2F3D"/>
                </a:solidFill>
                <a:latin typeface="Meiryo UI"/>
              </a:rPr>
              <a:t>方位角は dt·i で、i が 0 始まりのぶん修正版より格子全体が dt だけ回っている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E7C86"/>
                </a:solidFill>
                <a:latin typeface="Meiryo UI"/>
              </a:rPr>
              <a:t>・</a:t>
            </a:r>
            <a:r>
              <a:rPr sz="1300" b="0">
                <a:solidFill>
                  <a:srgbClr val="1B2F3D"/>
                </a:solidFill>
                <a:latin typeface="Meiryo UI"/>
              </a:rPr>
              <a:t>分布は同じだが音線の向きはビットでは一致しない。修正版の出力と 1 本ずつ突き合わせるなら揃える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backtrace_rev.f90 と geosim の対応状況　2026-10-21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5720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「そのほかの整理」も済んでいて、E-12 は閉じられる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E7C86"/>
                </a:solidFill>
                <a:latin typeface="Meiryo UI"/>
              </a:rPr>
              <a:t>鏡像の abs() は 8 月から判断待ちだったが、修正版も符号付きを採った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20440" cy="3291840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2F3D"/>
                </a:solidFill>
                <a:latin typeface="Meiryo UI"/>
              </a:rPr>
              <a:t>符号付きの鏡像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688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7D5B"/>
                </a:solidFill>
                <a:latin typeface="Meiryo UI"/>
              </a:rPr>
              <a:t>2026-08-14 a67709f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71800"/>
            <a:ext cx="30175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Python は移植時から符号付き（TODO E-12 で判断待ち）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修正版も「正しい経路では結果は同じ」として符号付き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→ 打合せで E-12 を閉じる提案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83080"/>
            <a:ext cx="3520440" cy="3291840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0116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2F3D"/>
                </a:solidFill>
                <a:latin typeface="Meiryo UI"/>
              </a:rPr>
              <a:t>最寄りの壁探しを 1 つに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4688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7D5B"/>
                </a:solidFill>
                <a:latin typeface="Meiryo UI"/>
              </a:rPr>
              <a:t>2026-08-14 c904fa9 / 08-20 705ccf6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971800"/>
            <a:ext cx="30175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旧版は約 70 行が 3 か所にコピー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Python は nearest_hit 1 つを追跡とバックトレースが共用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入れ物も collision_arrays() 1 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783080"/>
            <a:ext cx="3520440" cy="3291840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2F3D"/>
                </a:solidFill>
                <a:latin typeface="Meiryo UI"/>
              </a:rPr>
              <a:t>受音判定は Python が先へ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7D5B"/>
                </a:solidFill>
                <a:latin typeface="Meiryo UI"/>
              </a:rPr>
              <a:t>2026-09-05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71800"/>
            <a:ext cx="30175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修正版は旧版と同じ「垂線の足が球の中か」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Python は「壁までの線分と球の交差」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1B2F3D"/>
                </a:solidFill>
                <a:latin typeface="Meiryo UI"/>
              </a:rPr>
              <a:t>受音点が壁に近いとき Python のほうが拾う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backtrace_rev.f90 と geosim の対応状況　2026-10-21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Meiryo UI"/>
              </a:rPr>
              <a:t>残る 2 点はどちらも計算結果が変わる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8C6CF"/>
                </a:solidFill>
                <a:latin typeface="Meiryo UI"/>
              </a:rPr>
              <a:t>この端末のルールどおり、ブランチに置いて共同開発者に判断を仰ぐ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120640" cy="3383280"/>
          </a:xfrm>
          <a:prstGeom prst="roundRect">
            <a:avLst>
              <a:gd name="adj" fmla="val 4000"/>
            </a:avLst>
          </a:prstGeom>
          <a:solidFill>
            <a:srgbClr val="26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774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77C02"/>
                </a:solidFill>
                <a:latin typeface="Meiryo UI"/>
              </a:rPr>
              <a:t>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45059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eiryo UI"/>
              </a:rPr>
              <a:t>平面単位で照合する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08960"/>
            <a:ext cx="45262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DDE5EA"/>
                </a:solidFill>
                <a:latin typeface="Meiryo UI"/>
              </a:rPr>
              <a:t>照合の番号を「パッチ」から「平面」に替える（交差判定はパッチのまま）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DDE5EA"/>
                </a:solidFill>
                <a:latin typeface="Meiryo UI"/>
              </a:rPr>
              <a:t>反射率は実際に当たったパッチの材料で引く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DDE5EA"/>
                </a:solidFill>
                <a:latin typeface="Meiryo UI"/>
              </a:rPr>
              <a:t>経路キャッシュの形が変わるので版を上げて作り直す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DDE5EA"/>
                </a:solidFill>
                <a:latin typeface="Meiryo UI"/>
              </a:rPr>
              <a:t>hall1 では可視な虚音源が 1.20 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120640" cy="3383280"/>
          </a:xfrm>
          <a:prstGeom prst="roundRect">
            <a:avLst>
              <a:gd name="adj" fmla="val 4000"/>
            </a:avLst>
          </a:prstGeom>
          <a:solidFill>
            <a:srgbClr val="26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33A2E"/>
                </a:solidFill>
                <a:latin typeface="Meiryo UI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45059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eiryo UI"/>
              </a:rPr>
              <a:t>音線数を時間長から決める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08960"/>
            <a:ext cx="45262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DDE5EA"/>
                </a:solidFill>
                <a:latin typeface="Meiryo UI"/>
              </a:rPr>
              <a:t>既定 20 万本・受音球 1 m だと、届く本数の期待値が 1 本になるのは約 0.65 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DDE5EA"/>
                </a:solidFill>
                <a:latin typeface="Meiryo UI"/>
              </a:rPr>
              <a:t>3 s では 0.05 本＝ほとんどの経路を見落とす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DDE5EA"/>
                </a:solidFill>
                <a:latin typeface="Meiryo UI"/>
              </a:rPr>
              <a:t>修正版の式 N = 4k(ct)²/r² を入れ、期待値 1 本の時刻を必ず表示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E7C86"/>
                </a:solidFill>
                <a:latin typeface="Meiryo UI"/>
              </a:rPr>
              <a:t>・</a:t>
            </a:r>
            <a:r>
              <a:rPr sz="1400" b="0">
                <a:solidFill>
                  <a:srgbClr val="DDE5EA"/>
                </a:solidFill>
                <a:latin typeface="Meiryo UI"/>
              </a:rPr>
              <a:t>伝搬距離が c·tmax を超えたら打ち切る（反射回数は安全装置へ）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