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36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737360"/>
            <a:ext cx="1051560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>
                <a:solidFill>
                  <a:srgbClr val="C9DBD7"/>
                </a:solidFill>
                <a:latin typeface="Meiryo UI"/>
                <a:ea typeface="Meiryo UI"/>
                <a:cs typeface="Meiryo UI"/>
              </a:rPr>
              <a:t>NEA シミュレーション PJ（geosim）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286000"/>
            <a:ext cx="10515600" cy="10972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4800" b="1">
                <a:solidFill>
                  <a:srgbClr val="FFFFFF"/>
                </a:solidFill>
                <a:latin typeface="Meiryo UI"/>
                <a:ea typeface="Meiryo UI"/>
                <a:cs typeface="Meiryo UI"/>
              </a:rPr>
              <a:t>打合せ 確認事項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337560"/>
            <a:ext cx="1051560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0">
                <a:solidFill>
                  <a:srgbClr val="FFFFFF"/>
                </a:solidFill>
                <a:latin typeface="Meiryo UI"/>
                <a:ea typeface="Meiryo UI"/>
                <a:cs typeface="Meiryo UI"/>
              </a:rPr>
              <a:t>決めていただきたいこと・確認したいことの整理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4572000"/>
            <a:ext cx="868680" cy="329184"/>
          </a:xfrm>
          <a:prstGeom prst="roundRect">
            <a:avLst>
              <a:gd name="adj" fmla="val 6000"/>
            </a:avLst>
          </a:prstGeom>
          <a:solidFill>
            <a:srgbClr val="B07D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Meiryo UI"/>
                <a:ea typeface="Meiryo UI"/>
                <a:cs typeface="Meiryo UI"/>
              </a:rPr>
              <a:t>要判断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83080" y="4553712"/>
            <a:ext cx="2103120" cy="3657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FFFFFF"/>
                </a:solidFill>
                <a:latin typeface="Meiryo UI"/>
                <a:ea typeface="Meiryo UI"/>
                <a:cs typeface="Meiryo UI"/>
              </a:rPr>
              <a:t>その場で方針を決めたい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931920" y="4572000"/>
            <a:ext cx="868680" cy="329184"/>
          </a:xfrm>
          <a:prstGeom prst="roundRect">
            <a:avLst>
              <a:gd name="adj" fmla="val 6000"/>
            </a:avLst>
          </a:prstGeom>
          <a:solidFill>
            <a:srgbClr val="3E7C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Meiryo UI"/>
                <a:ea typeface="Meiryo UI"/>
                <a:cs typeface="Meiryo UI"/>
              </a:rPr>
              <a:t>要確認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92040" y="4553712"/>
            <a:ext cx="2103120" cy="3657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FFFFFF"/>
                </a:solidFill>
                <a:latin typeface="Meiryo UI"/>
                <a:ea typeface="Meiryo UI"/>
                <a:cs typeface="Meiryo UI"/>
              </a:rPr>
              <a:t>事実・出典を確認したい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040880" y="4572000"/>
            <a:ext cx="868680" cy="329184"/>
          </a:xfrm>
          <a:prstGeom prst="roundRect">
            <a:avLst>
              <a:gd name="adj" fmla="val 6000"/>
            </a:avLst>
          </a:prstGeom>
          <a:solidFill>
            <a:srgbClr val="5F6B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Meiryo UI"/>
                <a:ea typeface="Meiryo UI"/>
                <a:cs typeface="Meiryo UI"/>
              </a:rPr>
              <a:t>報告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01000" y="4553712"/>
            <a:ext cx="2103120" cy="3657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FFFFFF"/>
                </a:solidFill>
                <a:latin typeface="Meiryo UI"/>
                <a:ea typeface="Meiryo UI"/>
                <a:cs typeface="Meiryo UI"/>
              </a:rPr>
              <a:t>共有のみ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5760720"/>
            <a:ext cx="105156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C9DBD7"/>
                </a:solidFill>
                <a:latin typeface="Meiryo UI"/>
                <a:ea typeface="Meiryo UI"/>
                <a:cs typeface="Meiryo UI"/>
              </a:rPr>
              <a:t>2026-10　※散乱（拡散反射）の導入は確認済みのため、本資料では扱いません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9326880" cy="7315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1C363A"/>
                </a:solidFill>
                <a:latin typeface="Meiryo UI"/>
                <a:ea typeface="Meiryo UI"/>
                <a:cs typeface="Meiryo UI"/>
              </a:rPr>
              <a:t>本日の確認事項（一覧）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24128"/>
            <a:ext cx="1042416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5F6B6D"/>
                </a:solidFill>
                <a:latin typeface="Meiryo UI"/>
                <a:ea typeface="Meiryo UI"/>
                <a:cs typeface="Meiryo UI"/>
              </a:rPr>
              <a:t>①〜⑧の順に進めます。⑨は共有のみ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600200"/>
          <a:ext cx="11064240" cy="43891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48640"/>
                <a:gridCol w="4023360"/>
                <a:gridCol w="1188720"/>
                <a:gridCol w="5303520"/>
              </a:tblGrid>
              <a:tr h="438912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#</a:t>
                      </a:r>
                    </a:p>
                  </a:txBody>
                  <a:tcPr marL="73152" marR="73152" marT="27432" marB="27432" anchor="ctr">
                    <a:solidFill>
                      <a:srgbClr val="1C363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項目</a:t>
                      </a:r>
                    </a:p>
                  </a:txBody>
                  <a:tcPr marL="73152" marR="73152" marT="27432" marB="27432" anchor="ctr">
                    <a:solidFill>
                      <a:srgbClr val="1C363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区分</a:t>
                      </a:r>
                    </a:p>
                  </a:txBody>
                  <a:tcPr marL="73152" marR="73152" marT="27432" marB="27432" anchor="ctr">
                    <a:solidFill>
                      <a:srgbClr val="1C363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決めたいこと</a:t>
                      </a:r>
                    </a:p>
                  </a:txBody>
                  <a:tcPr marL="73152" marR="73152" marT="27432" marB="27432" anchor="ctr">
                    <a:solidFill>
                      <a:srgbClr val="1C363A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222628"/>
                          </a:solidFill>
                          <a:latin typeface="Meiryo UI"/>
                          <a:ea typeface="Meiryo UI"/>
                          <a:cs typeface="Meiryo UI"/>
                        </a:rPr>
                        <a:t>①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222628"/>
                          </a:solidFill>
                          <a:latin typeface="Meiryo UI"/>
                          <a:ea typeface="Meiryo UI"/>
                          <a:cs typeface="Meiryo UI"/>
                        </a:rPr>
                        <a:t>鏡像の式の abs()（E-12）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222628"/>
                          </a:solidFill>
                          <a:latin typeface="Meiryo UI"/>
                          <a:ea typeface="Meiryo UI"/>
                          <a:cs typeface="Meiryo UI"/>
                        </a:rPr>
                        <a:t>要判断</a:t>
                      </a:r>
                    </a:p>
                  </a:txBody>
                  <a:tcPr marL="73152" marR="73152" marT="27432" marB="27432" anchor="ctr">
                    <a:solidFill>
                      <a:srgbClr val="F6F1E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222628"/>
                          </a:solidFill>
                          <a:latin typeface="Meiryo UI"/>
                          <a:ea typeface="Meiryo UI"/>
                          <a:cs typeface="Meiryo UI"/>
                        </a:rPr>
                        <a:t>符号付きの式で確定してよいか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222628"/>
                          </a:solidFill>
                          <a:latin typeface="Meiryo UI"/>
                          <a:ea typeface="Meiryo UI"/>
                          <a:cs typeface="Meiryo UI"/>
                        </a:rPr>
                        <a:t>②</a:t>
                      </a:r>
                    </a:p>
                  </a:txBody>
                  <a:tcPr marL="73152" marR="73152" marT="27432" marB="27432" anchor="ctr">
                    <a:solidFill>
                      <a:srgbClr val="ECF2F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222628"/>
                          </a:solidFill>
                          <a:latin typeface="Meiryo UI"/>
                          <a:ea typeface="Meiryo UI"/>
                          <a:cs typeface="Meiryo UI"/>
                        </a:rPr>
                        <a:t>吸音率の入力と上限（E-13 ほか）</a:t>
                      </a:r>
                    </a:p>
                  </a:txBody>
                  <a:tcPr marL="73152" marR="73152" marT="27432" marB="27432" anchor="ctr">
                    <a:solidFill>
                      <a:srgbClr val="ECF2F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222628"/>
                          </a:solidFill>
                          <a:latin typeface="Meiryo UI"/>
                          <a:ea typeface="Meiryo UI"/>
                          <a:cs typeface="Meiryo UI"/>
                        </a:rPr>
                        <a:t>要確認</a:t>
                      </a:r>
                    </a:p>
                  </a:txBody>
                  <a:tcPr marL="73152" marR="73152" marT="27432" marB="27432" anchor="ctr">
                    <a:solidFill>
                      <a:srgbClr val="ECF2F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222628"/>
                          </a:solidFill>
                          <a:latin typeface="Meiryo UI"/>
                          <a:ea typeface="Meiryo UI"/>
                          <a:cs typeface="Meiryo UI"/>
                        </a:rPr>
                        <a:t>absorption.csv の出典／上限 0.951 と両面吸音の扱い</a:t>
                      </a:r>
                    </a:p>
                  </a:txBody>
                  <a:tcPr marL="73152" marR="73152" marT="27432" marB="27432" anchor="ctr">
                    <a:solidFill>
                      <a:srgbClr val="ECF2F1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222628"/>
                          </a:solidFill>
                          <a:latin typeface="Meiryo UI"/>
                          <a:ea typeface="Meiryo UI"/>
                          <a:cs typeface="Meiryo UI"/>
                        </a:rPr>
                        <a:t>③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222628"/>
                          </a:solidFill>
                          <a:latin typeface="Meiryo UI"/>
                          <a:ea typeface="Meiryo UI"/>
                          <a:cs typeface="Meiryo UI"/>
                        </a:rPr>
                        <a:t>COMSOL との突き合わせ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222628"/>
                          </a:solidFill>
                          <a:latin typeface="Meiryo UI"/>
                          <a:ea typeface="Meiryo UI"/>
                          <a:cs typeface="Meiryo UI"/>
                        </a:rPr>
                        <a:t>要確認</a:t>
                      </a:r>
                    </a:p>
                  </a:txBody>
                  <a:tcPr marL="73152" marR="73152" marT="27432" marB="27432" anchor="ctr">
                    <a:solidFill>
                      <a:srgbClr val="ECF2F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222628"/>
                          </a:solidFill>
                          <a:latin typeface="Meiryo UI"/>
                          <a:ea typeface="Meiryo UI"/>
                          <a:cs typeface="Meiryo UI"/>
                        </a:rPr>
                        <a:t>吸音率の入れ方・本数・モデルの版をそろえる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222628"/>
                          </a:solidFill>
                          <a:latin typeface="Meiryo UI"/>
                          <a:ea typeface="Meiryo UI"/>
                          <a:cs typeface="Meiryo UI"/>
                        </a:rPr>
                        <a:t>④</a:t>
                      </a:r>
                    </a:p>
                  </a:txBody>
                  <a:tcPr marL="73152" marR="73152" marT="27432" marB="27432" anchor="ctr">
                    <a:solidFill>
                      <a:srgbClr val="ECF2F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222628"/>
                          </a:solidFill>
                          <a:latin typeface="Meiryo UI"/>
                          <a:ea typeface="Meiryo UI"/>
                          <a:cs typeface="Meiryo UI"/>
                        </a:rPr>
                        <a:t>残響時間をどの数字で報告するか</a:t>
                      </a:r>
                    </a:p>
                  </a:txBody>
                  <a:tcPr marL="73152" marR="73152" marT="27432" marB="27432" anchor="ctr">
                    <a:solidFill>
                      <a:srgbClr val="ECF2F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222628"/>
                          </a:solidFill>
                          <a:latin typeface="Meiryo UI"/>
                          <a:ea typeface="Meiryo UI"/>
                          <a:cs typeface="Meiryo UI"/>
                        </a:rPr>
                        <a:t>要判断</a:t>
                      </a:r>
                    </a:p>
                  </a:txBody>
                  <a:tcPr marL="73152" marR="73152" marT="27432" marB="27432" anchor="ctr">
                    <a:solidFill>
                      <a:srgbClr val="F6F1E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222628"/>
                          </a:solidFill>
                          <a:latin typeface="Meiryo UI"/>
                          <a:ea typeface="Meiryo UI"/>
                          <a:cs typeface="Meiryo UI"/>
                        </a:rPr>
                        <a:t>T20／EDT／RTany／統計式のどれを設計値に</a:t>
                      </a:r>
                    </a:p>
                  </a:txBody>
                  <a:tcPr marL="73152" marR="73152" marT="27432" marB="27432" anchor="ctr">
                    <a:solidFill>
                      <a:srgbClr val="ECF2F1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222628"/>
                          </a:solidFill>
                          <a:latin typeface="Meiryo UI"/>
                          <a:ea typeface="Meiryo UI"/>
                          <a:cs typeface="Meiryo UI"/>
                        </a:rPr>
                        <a:t>⑤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222628"/>
                          </a:solidFill>
                          <a:latin typeface="Meiryo UI"/>
                          <a:ea typeface="Meiryo UI"/>
                          <a:cs typeface="Meiryo UI"/>
                        </a:rPr>
                        <a:t>音圧レベル・STI の絶対値（E-11）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222628"/>
                          </a:solidFill>
                          <a:latin typeface="Meiryo UI"/>
                          <a:ea typeface="Meiryo UI"/>
                          <a:cs typeface="Meiryo UI"/>
                        </a:rPr>
                        <a:t>要判断</a:t>
                      </a:r>
                    </a:p>
                  </a:txBody>
                  <a:tcPr marL="73152" marR="73152" marT="27432" marB="27432" anchor="ctr">
                    <a:solidFill>
                      <a:srgbClr val="F6F1E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222628"/>
                          </a:solidFill>
                          <a:latin typeface="Meiryo UI"/>
                          <a:ea typeface="Meiryo UI"/>
                          <a:cs typeface="Meiryo UI"/>
                        </a:rPr>
                        <a:t>PWL・暗騒音を入れるか、値の出典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222628"/>
                          </a:solidFill>
                          <a:latin typeface="Meiryo UI"/>
                          <a:ea typeface="Meiryo UI"/>
                          <a:cs typeface="Meiryo UI"/>
                        </a:rPr>
                        <a:t>⑥</a:t>
                      </a:r>
                    </a:p>
                  </a:txBody>
                  <a:tcPr marL="73152" marR="73152" marT="27432" marB="27432" anchor="ctr">
                    <a:solidFill>
                      <a:srgbClr val="ECF2F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222628"/>
                          </a:solidFill>
                          <a:latin typeface="Meiryo UI"/>
                          <a:ea typeface="Meiryo UI"/>
                          <a:cs typeface="Meiryo UI"/>
                        </a:rPr>
                        <a:t>モデル化のルール（B-23・B-11 ほか）</a:t>
                      </a:r>
                    </a:p>
                  </a:txBody>
                  <a:tcPr marL="73152" marR="73152" marT="27432" marB="27432" anchor="ctr">
                    <a:solidFill>
                      <a:srgbClr val="ECF2F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222628"/>
                          </a:solidFill>
                          <a:latin typeface="Meiryo UI"/>
                          <a:ea typeface="Meiryo UI"/>
                          <a:cs typeface="Meiryo UI"/>
                        </a:rPr>
                        <a:t>要判断</a:t>
                      </a:r>
                    </a:p>
                  </a:txBody>
                  <a:tcPr marL="73152" marR="73152" marT="27432" marB="27432" anchor="ctr">
                    <a:solidFill>
                      <a:srgbClr val="F6F1E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222628"/>
                          </a:solidFill>
                          <a:latin typeface="Meiryo UI"/>
                          <a:ea typeface="Meiryo UI"/>
                          <a:cs typeface="Meiryo UI"/>
                        </a:rPr>
                        <a:t>曲面の集約・指向性・ブロック参照・DWG 手順</a:t>
                      </a:r>
                    </a:p>
                  </a:txBody>
                  <a:tcPr marL="73152" marR="73152" marT="27432" marB="27432" anchor="ctr">
                    <a:solidFill>
                      <a:srgbClr val="ECF2F1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222628"/>
                          </a:solidFill>
                          <a:latin typeface="Meiryo UI"/>
                          <a:ea typeface="Meiryo UI"/>
                          <a:cs typeface="Meiryo UI"/>
                        </a:rPr>
                        <a:t>⑦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222628"/>
                          </a:solidFill>
                          <a:latin typeface="Meiryo UI"/>
                          <a:ea typeface="Meiryo UI"/>
                          <a:cs typeface="Meiryo UI"/>
                        </a:rPr>
                        <a:t>開発の進め方（ブランチ・リスト）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222628"/>
                          </a:solidFill>
                          <a:latin typeface="Meiryo UI"/>
                          <a:ea typeface="Meiryo UI"/>
                          <a:cs typeface="Meiryo UI"/>
                        </a:rPr>
                        <a:t>要判断</a:t>
                      </a:r>
                    </a:p>
                  </a:txBody>
                  <a:tcPr marL="73152" marR="73152" marT="27432" marB="27432" anchor="ctr">
                    <a:solidFill>
                      <a:srgbClr val="F6F1E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222628"/>
                          </a:solidFill>
                          <a:latin typeface="Meiryo UI"/>
                          <a:ea typeface="Meiryo UI"/>
                          <a:cs typeface="Meiryo UI"/>
                        </a:rPr>
                        <a:t>計算に効く変更の承認／吸音材リストの持ち方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222628"/>
                          </a:solidFill>
                          <a:latin typeface="Meiryo UI"/>
                          <a:ea typeface="Meiryo UI"/>
                          <a:cs typeface="Meiryo UI"/>
                        </a:rPr>
                        <a:t>⑧</a:t>
                      </a:r>
                    </a:p>
                  </a:txBody>
                  <a:tcPr marL="73152" marR="73152" marT="27432" marB="27432" anchor="ctr">
                    <a:solidFill>
                      <a:srgbClr val="ECF2F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222628"/>
                          </a:solidFill>
                          <a:latin typeface="Meiryo UI"/>
                          <a:ea typeface="Meiryo UI"/>
                          <a:cs typeface="Meiryo UI"/>
                        </a:rPr>
                        <a:t>画面（GUI）の方向性</a:t>
                      </a:r>
                    </a:p>
                  </a:txBody>
                  <a:tcPr marL="73152" marR="73152" marT="27432" marB="27432" anchor="ctr">
                    <a:solidFill>
                      <a:srgbClr val="ECF2F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222628"/>
                          </a:solidFill>
                          <a:latin typeface="Meiryo UI"/>
                          <a:ea typeface="Meiryo UI"/>
                          <a:cs typeface="Meiryo UI"/>
                        </a:rPr>
                        <a:t>要判断</a:t>
                      </a:r>
                    </a:p>
                  </a:txBody>
                  <a:tcPr marL="73152" marR="73152" marT="27432" marB="27432" anchor="ctr">
                    <a:solidFill>
                      <a:srgbClr val="F6F1E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222628"/>
                          </a:solidFill>
                          <a:latin typeface="Meiryo UI"/>
                          <a:ea typeface="Meiryo UI"/>
                          <a:cs typeface="Meiryo UI"/>
                        </a:rPr>
                        <a:t>1 画面への統合の作り方・面の確認画面</a:t>
                      </a:r>
                    </a:p>
                  </a:txBody>
                  <a:tcPr marL="73152" marR="73152" marT="27432" marB="27432" anchor="ctr">
                    <a:solidFill>
                      <a:srgbClr val="ECF2F1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222628"/>
                          </a:solidFill>
                          <a:latin typeface="Meiryo UI"/>
                          <a:ea typeface="Meiryo UI"/>
                          <a:cs typeface="Meiryo UI"/>
                        </a:rPr>
                        <a:t>⑨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222628"/>
                          </a:solidFill>
                          <a:latin typeface="Meiryo UI"/>
                          <a:ea typeface="Meiryo UI"/>
                          <a:cs typeface="Meiryo UI"/>
                        </a:rPr>
                        <a:t>近況と今後の予定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222628"/>
                          </a:solidFill>
                          <a:latin typeface="Meiryo UI"/>
                          <a:ea typeface="Meiryo UI"/>
                          <a:cs typeface="Meiryo UI"/>
                        </a:rPr>
                        <a:t>報告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222628"/>
                          </a:solidFill>
                          <a:latin typeface="Meiryo UI"/>
                          <a:ea typeface="Meiryo UI"/>
                          <a:cs typeface="Meiryo UI"/>
                        </a:rPr>
                        <a:t>—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5F6B6D"/>
                </a:solidFill>
                <a:latin typeface="Meiryo UI"/>
                <a:ea typeface="Meiryo UI"/>
                <a:cs typeface="Meiryo UI"/>
              </a:rPr>
              <a:t>geosim 打合せ 確認事項（2026-10）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19088"/>
            <a:ext cx="77724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5F6B6D"/>
                </a:solidFill>
                <a:latin typeface="Meiryo UI"/>
                <a:ea typeface="Meiryo UI"/>
                <a:cs typeface="Meiryo U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438912"/>
            <a:ext cx="566928" cy="566928"/>
          </a:xfrm>
          <a:prstGeom prst="ellipse">
            <a:avLst/>
          </a:prstGeom>
          <a:solidFill>
            <a:srgbClr val="1C3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eiryo UI"/>
                <a:ea typeface="Meiryo UI"/>
                <a:cs typeface="Meiryo UI"/>
              </a:rPr>
              <a:t>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80160" y="347472"/>
            <a:ext cx="9326880" cy="7315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1C363A"/>
                </a:solidFill>
                <a:latin typeface="Meiryo UI"/>
                <a:ea typeface="Meiryo UI"/>
                <a:cs typeface="Meiryo UI"/>
              </a:rPr>
              <a:t>鏡像の式の abs() をどうするか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789920" y="548640"/>
            <a:ext cx="868680" cy="329184"/>
          </a:xfrm>
          <a:prstGeom prst="roundRect">
            <a:avLst>
              <a:gd name="adj" fmla="val 6000"/>
            </a:avLst>
          </a:prstGeom>
          <a:solidFill>
            <a:srgbClr val="B07D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Meiryo UI"/>
                <a:ea typeface="Meiryo UI"/>
                <a:cs typeface="Meiryo UI"/>
              </a:rPr>
              <a:t>要判断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1024128"/>
            <a:ext cx="1042416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5F6B6D"/>
                </a:solidFill>
                <a:latin typeface="Meiryo UI"/>
                <a:ea typeface="Meiryo UI"/>
                <a:cs typeface="Meiryo UI"/>
              </a:rPr>
              <a:t>TODO E-12。2026-08-14 から暫定で「符号付き」を採用中（docs/議論_鏡像の式のabs問題.md）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5394960" cy="4480560"/>
          </a:xfrm>
          <a:prstGeom prst="roundRect">
            <a:avLst>
              <a:gd name="adj" fmla="val 6000"/>
            </a:avLst>
          </a:prstGeom>
          <a:solidFill>
            <a:srgbClr val="ECF2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493776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1C363A"/>
                </a:solidFill>
                <a:latin typeface="Meiryo UI"/>
                <a:ea typeface="Meiryo UI"/>
                <a:cs typeface="Meiryo UI"/>
              </a:rPr>
              <a:t>何が違うか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240280"/>
            <a:ext cx="5120640" cy="20116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marL="201168" indent="-182880">
              <a:spcAft>
                <a:spcPts val="700"/>
              </a:spcAft>
              <a:buFont typeface="Arial"/>
              <a:buChar char="•"/>
            </a:pPr>
            <a:r>
              <a:rPr sz="1400" b="0">
                <a:solidFill>
                  <a:srgbClr val="222628"/>
                </a:solidFill>
                <a:latin typeface="Meiryo UI"/>
                <a:ea typeface="Meiryo UI"/>
                <a:cs typeface="Meiryo UI"/>
              </a:rPr>
              <a:t>元コード（backtrace.f90 907〜917 行）は鏡像の距離に abs() を付けている</a:t>
            </a:r>
          </a:p>
          <a:p>
            <a:pPr marL="201168" indent="-182880">
              <a:spcAft>
                <a:spcPts val="700"/>
              </a:spcAft>
              <a:buFont typeface="Arial"/>
              <a:buChar char="•"/>
            </a:pPr>
            <a:r>
              <a:rPr sz="1400" b="0">
                <a:solidFill>
                  <a:srgbClr val="222628"/>
                </a:solidFill>
                <a:latin typeface="Meiryo UI"/>
                <a:ea typeface="Meiryo UI"/>
                <a:cs typeface="Meiryo UI"/>
              </a:rPr>
              <a:t>虚音源が面の裏側にあると、面を跨がずに遠ざかる向きへ動く</a:t>
            </a:r>
          </a:p>
          <a:p>
            <a:pPr marL="201168" indent="-182880">
              <a:spcAft>
                <a:spcPts val="700"/>
              </a:spcAft>
              <a:buFont typeface="Arial"/>
              <a:buChar char="•"/>
            </a:pPr>
            <a:r>
              <a:rPr sz="1400" b="1">
                <a:solidFill>
                  <a:srgbClr val="222628"/>
                </a:solidFill>
                <a:latin typeface="Meiryo UI"/>
                <a:ea typeface="Meiryo UI"/>
                <a:cs typeface="Meiryo UI"/>
              </a:rPr>
              <a:t>凸な部屋（直方体など）では両者は完全に一致</a:t>
            </a:r>
          </a:p>
          <a:p>
            <a:pPr marL="201168" indent="-182880">
              <a:spcAft>
                <a:spcPts val="700"/>
              </a:spcAft>
              <a:buFont typeface="Arial"/>
              <a:buChar char="•"/>
            </a:pPr>
            <a:r>
              <a:rPr sz="1400" b="0">
                <a:solidFill>
                  <a:srgbClr val="222628"/>
                </a:solidFill>
                <a:latin typeface="Meiryo UI"/>
                <a:ea typeface="Meiryo UI"/>
                <a:cs typeface="Meiryo UI"/>
              </a:rPr>
              <a:t>差が出るのは凹んだ形・宙に浮いた物体・法線を反転したモデル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4526280"/>
            <a:ext cx="493776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5F6B6D"/>
                </a:solidFill>
                <a:latin typeface="Meiryo UI"/>
                <a:ea typeface="Meiryo UI"/>
                <a:cs typeface="Meiryo UI"/>
              </a:rPr>
              <a:t>式（面の単位法線 n、平面 n·x + d = 0）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892040"/>
            <a:ext cx="4937760" cy="10972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0">
                <a:solidFill>
                  <a:srgbClr val="222628"/>
                </a:solidFill>
                <a:latin typeface="Meiryo UI"/>
                <a:ea typeface="Meiryo UI"/>
                <a:cs typeface="Meiryo UI"/>
              </a:rPr>
              <a:t>元：  s = |n·p + d|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222628"/>
                </a:solidFill>
                <a:latin typeface="Meiryo UI"/>
                <a:ea typeface="Meiryo UI"/>
                <a:cs typeface="Meiryo UI"/>
              </a:rPr>
              <a:t>現在： s = n·p + d（符号付き）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222628"/>
                </a:solidFill>
                <a:latin typeface="Meiryo UI"/>
                <a:ea typeface="Meiryo UI"/>
                <a:cs typeface="Meiryo UI"/>
              </a:rPr>
              <a:t>鏡像 p′ = p − 2 s 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1645920"/>
            <a:ext cx="5303520" cy="133502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8D3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492240" y="2029968"/>
            <a:ext cx="566928" cy="566928"/>
          </a:xfrm>
          <a:prstGeom prst="ellipse">
            <a:avLst/>
          </a:prstGeom>
          <a:solidFill>
            <a:srgbClr val="B07D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eiryo UI"/>
                <a:ea typeface="Meiryo UI"/>
                <a:cs typeface="Meiryo UI"/>
              </a:rPr>
              <a:t>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69480" y="1828800"/>
            <a:ext cx="420624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1C363A"/>
                </a:solidFill>
                <a:latin typeface="Meiryo UI"/>
                <a:ea typeface="Meiryo UI"/>
                <a:cs typeface="Meiryo UI"/>
              </a:rPr>
              <a:t>符号付きで確定（現状のまま）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69480" y="2267712"/>
            <a:ext cx="4206240" cy="5943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5F6B6D"/>
                </a:solidFill>
                <a:latin typeface="Meiryo UI"/>
                <a:ea typeface="Meiryo UI"/>
                <a:cs typeface="Meiryo UI"/>
              </a:rPr>
              <a:t>数学的に正しい。凸な室の結果は元コードと同じ。推奨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09360" y="3163824"/>
            <a:ext cx="5303520" cy="133502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8D3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492240" y="3547872"/>
            <a:ext cx="566928" cy="566928"/>
          </a:xfrm>
          <a:prstGeom prst="ellipse">
            <a:avLst/>
          </a:prstGeom>
          <a:solidFill>
            <a:srgbClr val="3E7C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eiryo UI"/>
                <a:ea typeface="Meiryo UI"/>
                <a:cs typeface="Meiryo UI"/>
              </a:rPr>
              <a:t>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69480" y="3346704"/>
            <a:ext cx="420624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1C363A"/>
                </a:solidFill>
                <a:latin typeface="Meiryo UI"/>
                <a:ea typeface="Meiryo UI"/>
                <a:cs typeface="Meiryo UI"/>
              </a:rPr>
              <a:t>元コードどおり abs() に戻す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69480" y="3785615"/>
            <a:ext cx="4206240" cy="5943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5F6B6D"/>
                </a:solidFill>
                <a:latin typeface="Meiryo UI"/>
                <a:ea typeface="Meiryo UI"/>
                <a:cs typeface="Meiryo UI"/>
              </a:rPr>
              <a:t>元のプログラムの結果を再現したいとき。凹形状で誤差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09360" y="4681728"/>
            <a:ext cx="5303520" cy="133502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8D3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492240" y="5065776"/>
            <a:ext cx="566928" cy="566928"/>
          </a:xfrm>
          <a:prstGeom prst="ellipse">
            <a:avLst/>
          </a:prstGeom>
          <a:solidFill>
            <a:srgbClr val="5F6B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eiryo UI"/>
                <a:ea typeface="Meiryo UI"/>
                <a:cs typeface="Meiryo UI"/>
              </a:rPr>
              <a:t>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69480" y="4864608"/>
            <a:ext cx="420624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1C363A"/>
                </a:solidFill>
                <a:latin typeface="Meiryo UI"/>
                <a:ea typeface="Meiryo UI"/>
                <a:cs typeface="Meiryo UI"/>
              </a:rPr>
              <a:t>切り替えられるようにする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69480" y="5303520"/>
            <a:ext cx="4206240" cy="5943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5F6B6D"/>
                </a:solidFill>
                <a:latin typeface="Meiryo UI"/>
                <a:ea typeface="Meiryo UI"/>
                <a:cs typeface="Meiryo UI"/>
              </a:rPr>
              <a:t>検証用に両方を残す。既定をどちらにするかは別途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5F6B6D"/>
                </a:solidFill>
                <a:latin typeface="Meiryo UI"/>
                <a:ea typeface="Meiryo UI"/>
                <a:cs typeface="Meiryo UI"/>
              </a:rPr>
              <a:t>geosim 打合せ 確認事項（2026-10）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881360" y="6419088"/>
            <a:ext cx="77724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5F6B6D"/>
                </a:solidFill>
                <a:latin typeface="Meiryo UI"/>
                <a:ea typeface="Meiryo UI"/>
                <a:cs typeface="Meiryo U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438912"/>
            <a:ext cx="566928" cy="566928"/>
          </a:xfrm>
          <a:prstGeom prst="ellipse">
            <a:avLst/>
          </a:prstGeom>
          <a:solidFill>
            <a:srgbClr val="1C3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eiryo UI"/>
                <a:ea typeface="Meiryo UI"/>
                <a:cs typeface="Meiryo UI"/>
              </a:rPr>
              <a:t>②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80160" y="347472"/>
            <a:ext cx="9326880" cy="7315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1C363A"/>
                </a:solidFill>
                <a:latin typeface="Meiryo UI"/>
                <a:ea typeface="Meiryo UI"/>
                <a:cs typeface="Meiryo UI"/>
              </a:rPr>
              <a:t>吸音率の入力と上限の扱い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789920" y="548640"/>
            <a:ext cx="868680" cy="329184"/>
          </a:xfrm>
          <a:prstGeom prst="roundRect">
            <a:avLst>
              <a:gd name="adj" fmla="val 6000"/>
            </a:avLst>
          </a:prstGeom>
          <a:solidFill>
            <a:srgbClr val="3E7C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Meiryo UI"/>
                <a:ea typeface="Meiryo UI"/>
                <a:cs typeface="Meiryo UI"/>
              </a:rPr>
              <a:t>要確認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1024128"/>
            <a:ext cx="1042416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5F6B6D"/>
                </a:solidFill>
                <a:latin typeface="Meiryo UI"/>
                <a:ea typeface="Meiryo UI"/>
                <a:cs typeface="Meiryo UI"/>
              </a:rPr>
              <a:t>取り違えると吸音を大きく誤る部分。実案件の計算で気づいた点を含む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3566160" cy="4480560"/>
          </a:xfrm>
          <a:prstGeom prst="roundRect">
            <a:avLst>
              <a:gd name="adj" fmla="val 6000"/>
            </a:avLst>
          </a:prstGeom>
          <a:solidFill>
            <a:srgbClr val="ECF2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783080"/>
            <a:ext cx="320040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1C363A"/>
                </a:solidFill>
                <a:latin typeface="Meiryo UI"/>
                <a:ea typeface="Meiryo UI"/>
                <a:cs typeface="Meiryo UI"/>
              </a:rPr>
              <a:t>吸音率表の出典（E-13）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212848"/>
            <a:ext cx="3291840" cy="3840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marL="201168" indent="-182880">
              <a:spcAft>
                <a:spcPts val="500"/>
              </a:spcAft>
              <a:buFont typeface="Arial"/>
              <a:buChar char="•"/>
            </a:pPr>
            <a:r>
              <a:rPr sz="1400" b="0">
                <a:solidFill>
                  <a:srgbClr val="222628"/>
                </a:solidFill>
                <a:latin typeface="Meiryo UI"/>
                <a:ea typeface="Meiryo UI"/>
                <a:cs typeface="Meiryo UI"/>
              </a:rPr>
              <a:t>元 Fortran 付属の表が残響室法か垂直入射か不明</a:t>
            </a:r>
          </a:p>
          <a:p>
            <a:pPr marL="201168" indent="-182880">
              <a:spcAft>
                <a:spcPts val="500"/>
              </a:spcAft>
              <a:buFont typeface="Arial"/>
              <a:buChar char="•"/>
            </a:pPr>
            <a:r>
              <a:rPr sz="1400" b="0">
                <a:solidFill>
                  <a:srgbClr val="222628"/>
                </a:solidFill>
                <a:latin typeface="Meiryo UI"/>
                <a:ea typeface="Meiryo UI"/>
                <a:cs typeface="Meiryo UI"/>
              </a:rPr>
              <a:t>いまは種類を指定して読む（未指定なら警告）</a:t>
            </a:r>
          </a:p>
          <a:p>
            <a:pPr marL="201168" indent="-182880">
              <a:spcAft>
                <a:spcPts val="500"/>
              </a:spcAft>
              <a:buFont typeface="Arial"/>
              <a:buChar char="•"/>
            </a:pPr>
            <a:r>
              <a:rPr sz="1400" b="0">
                <a:solidFill>
                  <a:srgbClr val="222628"/>
                </a:solidFill>
                <a:latin typeface="Meiryo UI"/>
                <a:ea typeface="Meiryo UI"/>
                <a:cs typeface="Meiryo UI"/>
              </a:rPr>
              <a:t>public リポジトリには載せていない</a:t>
            </a:r>
          </a:p>
          <a:p>
            <a:pPr marL="201168" indent="-182880">
              <a:spcAft>
                <a:spcPts val="500"/>
              </a:spcAft>
              <a:buFont typeface="Arial"/>
              <a:buChar char="•"/>
            </a:pPr>
            <a:r>
              <a:rPr sz="1400" b="1">
                <a:solidFill>
                  <a:srgbClr val="B07D24"/>
                </a:solidFill>
                <a:latin typeface="Meiryo UI"/>
                <a:ea typeface="Meiryo UI"/>
                <a:cs typeface="Meiryo UI"/>
              </a:rPr>
              <a:t>→ 出典・種類をご存じなら教えてください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15968" y="1645920"/>
            <a:ext cx="3566160" cy="4480560"/>
          </a:xfrm>
          <a:prstGeom prst="roundRect">
            <a:avLst>
              <a:gd name="adj" fmla="val 6000"/>
            </a:avLst>
          </a:prstGeom>
          <a:solidFill>
            <a:srgbClr val="ECF2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98848" y="1783080"/>
            <a:ext cx="320040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1C363A"/>
                </a:solidFill>
                <a:latin typeface="Meiryo UI"/>
                <a:ea typeface="Meiryo UI"/>
                <a:cs typeface="Meiryo UI"/>
              </a:rPr>
              <a:t>上限 0.951 への丸め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53128" y="2212848"/>
            <a:ext cx="3291840" cy="3840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marL="201168" indent="-182880">
              <a:spcAft>
                <a:spcPts val="500"/>
              </a:spcAft>
              <a:buFont typeface="Arial"/>
              <a:buChar char="•"/>
            </a:pPr>
            <a:r>
              <a:rPr sz="1400" b="0">
                <a:solidFill>
                  <a:srgbClr val="222628"/>
                </a:solidFill>
                <a:latin typeface="Meiryo UI"/>
                <a:ea typeface="Meiryo UI"/>
                <a:cs typeface="Meiryo UI"/>
              </a:rPr>
              <a:t>残響室法 → 垂直入射の変換（Paris の式）は α = 1 で解けないため上限で丸めている</a:t>
            </a:r>
          </a:p>
          <a:p>
            <a:pPr marL="201168" indent="-182880">
              <a:spcAft>
                <a:spcPts val="500"/>
              </a:spcAft>
              <a:buFont typeface="Arial"/>
              <a:buChar char="•"/>
            </a:pPr>
            <a:r>
              <a:rPr sz="1400" b="0">
                <a:solidFill>
                  <a:srgbClr val="222628"/>
                </a:solidFill>
                <a:latin typeface="Meiryo UI"/>
                <a:ea typeface="Meiryo UI"/>
                <a:cs typeface="Meiryo UI"/>
              </a:rPr>
              <a:t>「開口（反射無し）」の α = 1.0 も 0.951 になり、垂直入射でも約 5% 反射する</a:t>
            </a:r>
          </a:p>
          <a:p>
            <a:pPr marL="201168" indent="-182880">
              <a:spcAft>
                <a:spcPts val="500"/>
              </a:spcAft>
              <a:buFont typeface="Arial"/>
              <a:buChar char="•"/>
            </a:pPr>
            <a:r>
              <a:rPr sz="1400" b="1">
                <a:solidFill>
                  <a:srgbClr val="B07D24"/>
                </a:solidFill>
                <a:latin typeface="Meiryo UI"/>
                <a:ea typeface="Meiryo UI"/>
                <a:cs typeface="Meiryo UI"/>
              </a:rPr>
              <a:t>→ 開口は「反射しない面」として別扱いにするか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83296" y="1645920"/>
            <a:ext cx="3566160" cy="4480560"/>
          </a:xfrm>
          <a:prstGeom prst="roundRect">
            <a:avLst>
              <a:gd name="adj" fmla="val 6000"/>
            </a:avLst>
          </a:prstGeom>
          <a:solidFill>
            <a:srgbClr val="ECF2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66175" y="1783080"/>
            <a:ext cx="320040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1C363A"/>
                </a:solidFill>
                <a:latin typeface="Meiryo UI"/>
                <a:ea typeface="Meiryo UI"/>
                <a:cs typeface="Meiryo UI"/>
              </a:rPr>
              <a:t>反射板の両面吸音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0456" y="2212848"/>
            <a:ext cx="3291840" cy="3840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marL="201168" indent="-182880">
              <a:spcAft>
                <a:spcPts val="500"/>
              </a:spcAft>
              <a:buFont typeface="Arial"/>
              <a:buChar char="•"/>
            </a:pPr>
            <a:r>
              <a:rPr sz="1400" b="0">
                <a:solidFill>
                  <a:srgbClr val="222628"/>
                </a:solidFill>
                <a:latin typeface="Meiryo UI"/>
                <a:ea typeface="Meiryo UI"/>
                <a:cs typeface="Meiryo UI"/>
              </a:rPr>
              <a:t>反射板を吸音パネルにした条件で上面（天井裏向き）・下面・小口すべてに吸音率が入る</a:t>
            </a:r>
          </a:p>
          <a:p>
            <a:pPr marL="201168" indent="-182880">
              <a:spcAft>
                <a:spcPts val="500"/>
              </a:spcAft>
              <a:buFont typeface="Arial"/>
              <a:buChar char="•"/>
            </a:pPr>
            <a:r>
              <a:rPr sz="1400" b="0">
                <a:solidFill>
                  <a:srgbClr val="222628"/>
                </a:solidFill>
                <a:latin typeface="Meiryo UI"/>
                <a:ea typeface="Meiryo UI"/>
                <a:cs typeface="Meiryo UI"/>
              </a:rPr>
              <a:t>視聴覚室 7-2：265 m²（片面 約 129 m²）／研修室 8：124.6 m²</a:t>
            </a:r>
          </a:p>
          <a:p>
            <a:pPr marL="201168" indent="-182880">
              <a:spcAft>
                <a:spcPts val="500"/>
              </a:spcAft>
              <a:buFont typeface="Arial"/>
              <a:buChar char="•"/>
            </a:pPr>
            <a:r>
              <a:rPr sz="1400" b="0">
                <a:solidFill>
                  <a:srgbClr val="222628"/>
                </a:solidFill>
                <a:latin typeface="Meiryo UI"/>
                <a:ea typeface="Meiryo UI"/>
                <a:cs typeface="Meiryo UI"/>
              </a:rPr>
              <a:t>今回は「両面で良い」とのご指示で計算済み</a:t>
            </a:r>
          </a:p>
          <a:p>
            <a:pPr marL="201168" indent="-182880">
              <a:spcAft>
                <a:spcPts val="500"/>
              </a:spcAft>
              <a:buFont typeface="Arial"/>
              <a:buChar char="•"/>
            </a:pPr>
            <a:r>
              <a:rPr sz="1400" b="1">
                <a:solidFill>
                  <a:srgbClr val="B07D24"/>
                </a:solidFill>
                <a:latin typeface="Meiryo UI"/>
                <a:ea typeface="Meiryo UI"/>
                <a:cs typeface="Meiryo UI"/>
              </a:rPr>
              <a:t>→ 製品が下面だけなら吸音の見過ぎ。今後の標準を決めたい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5F6B6D"/>
                </a:solidFill>
                <a:latin typeface="Meiryo UI"/>
                <a:ea typeface="Meiryo UI"/>
                <a:cs typeface="Meiryo UI"/>
              </a:rPr>
              <a:t>geosim 打合せ 確認事項（2026-10）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881360" y="6419088"/>
            <a:ext cx="77724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5F6B6D"/>
                </a:solidFill>
                <a:latin typeface="Meiryo UI"/>
                <a:ea typeface="Meiryo UI"/>
                <a:cs typeface="Meiryo U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438912"/>
            <a:ext cx="566928" cy="566928"/>
          </a:xfrm>
          <a:prstGeom prst="ellipse">
            <a:avLst/>
          </a:prstGeom>
          <a:solidFill>
            <a:srgbClr val="1C3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eiryo UI"/>
                <a:ea typeface="Meiryo UI"/>
                <a:cs typeface="Meiryo UI"/>
              </a:rPr>
              <a:t>③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80160" y="347472"/>
            <a:ext cx="9326880" cy="7315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1C363A"/>
                </a:solidFill>
                <a:latin typeface="Meiryo UI"/>
                <a:ea typeface="Meiryo UI"/>
                <a:cs typeface="Meiryo UI"/>
              </a:rPr>
              <a:t>COMSOL（Ray Acoustics）との突き合わせ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789920" y="548640"/>
            <a:ext cx="868680" cy="329184"/>
          </a:xfrm>
          <a:prstGeom prst="roundRect">
            <a:avLst>
              <a:gd name="adj" fmla="val 6000"/>
            </a:avLst>
          </a:prstGeom>
          <a:solidFill>
            <a:srgbClr val="3E7C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Meiryo UI"/>
                <a:ea typeface="Meiryo UI"/>
                <a:cs typeface="Meiryo UI"/>
              </a:rPr>
              <a:t>要確認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1024128"/>
            <a:ext cx="1042416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5F6B6D"/>
                </a:solidFill>
                <a:latin typeface="Meiryo UI"/>
                <a:ea typeface="Meiryo UI"/>
                <a:cs typeface="Meiryo UI"/>
              </a:rPr>
              <a:t>階段教室の解析ケース CASE-01〜07 と管理表を読んだ結果（2026-09-29）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600200"/>
          <a:ext cx="11064240" cy="43891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828800"/>
                <a:gridCol w="5669280"/>
                <a:gridCol w="3566160"/>
              </a:tblGrid>
              <a:tr h="73152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気になる点</a:t>
                      </a:r>
                    </a:p>
                  </a:txBody>
                  <a:tcPr marL="73152" marR="73152" marT="27432" marB="27432" anchor="ctr">
                    <a:solidFill>
                      <a:srgbClr val="1C363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内容</a:t>
                      </a:r>
                    </a:p>
                  </a:txBody>
                  <a:tcPr marL="73152" marR="73152" marT="27432" marB="27432" anchor="ctr">
                    <a:solidFill>
                      <a:srgbClr val="1C363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ご提案</a:t>
                      </a:r>
                    </a:p>
                  </a:txBody>
                  <a:tcPr marL="73152" marR="73152" marT="27432" marB="27432" anchor="ctr">
                    <a:solidFill>
                      <a:srgbClr val="1C363A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222628"/>
                          </a:solidFill>
                          <a:latin typeface="Meiryo UI"/>
                          <a:ea typeface="Meiryo UI"/>
                          <a:cs typeface="Meiryo UI"/>
                        </a:rPr>
                        <a:t>吸音率の入れ方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22628"/>
                          </a:solidFill>
                          <a:latin typeface="Meiryo UI"/>
                          <a:ea typeface="Meiryo UI"/>
                          <a:cs typeface="Meiryo UI"/>
                        </a:rPr>
                        <a:t>吸音率関数 int2〜11 が垂直入射に換算済み。COMSOL の吸収係数は入射角に依らないので、吸音が 4〜5 割小さく入る（CASE-01〜06 の T20 が長い原因）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22628"/>
                          </a:solidFill>
                          <a:latin typeface="Meiryo UI"/>
                          <a:ea typeface="Meiryo UI"/>
                          <a:cs typeface="Meiryo UI"/>
                        </a:rPr>
                        <a:t>カタログの残響室法の値（安全率後）をそのまま入れる。CASE-07（残響室法版）は geosim に近い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222628"/>
                          </a:solidFill>
                          <a:latin typeface="Meiryo UI"/>
                          <a:ea typeface="Meiryo UI"/>
                          <a:cs typeface="Meiryo UI"/>
                        </a:rPr>
                        <a:t>音線の本数</a:t>
                      </a:r>
                    </a:p>
                  </a:txBody>
                  <a:tcPr marL="73152" marR="73152" marT="27432" marB="27432" anchor="ctr">
                    <a:solidFill>
                      <a:srgbClr val="ECF2F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22628"/>
                          </a:solidFill>
                          <a:latin typeface="Meiryo UI"/>
                          <a:ea typeface="Meiryo UI"/>
                          <a:cs typeface="Meiryo UI"/>
                        </a:rPr>
                        <a:t>本数を半分にしただけ（01→02）で T20・T30 の 1 kHz が 20〜36% 動く</a:t>
                      </a:r>
                    </a:p>
                  </a:txBody>
                  <a:tcPr marL="73152" marR="73152" marT="27432" marB="27432" anchor="ctr">
                    <a:solidFill>
                      <a:srgbClr val="ECF2F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22628"/>
                          </a:solidFill>
                          <a:latin typeface="Meiryo UI"/>
                          <a:ea typeface="Meiryo UI"/>
                          <a:cs typeface="Meiryo UI"/>
                        </a:rPr>
                        <a:t>本数を増やす。読むのは当面 EDT（ほぼ動かない）</a:t>
                      </a:r>
                    </a:p>
                  </a:txBody>
                  <a:tcPr marL="73152" marR="73152" marT="27432" marB="27432" anchor="ctr">
                    <a:solidFill>
                      <a:srgbClr val="ECF2F1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222628"/>
                          </a:solidFill>
                          <a:latin typeface="Meiryo UI"/>
                          <a:ea typeface="Meiryo UI"/>
                          <a:cs typeface="Meiryo UI"/>
                        </a:rPr>
                        <a:t>条件の同時変更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22628"/>
                          </a:solidFill>
                          <a:latin typeface="Meiryo UI"/>
                          <a:ea typeface="Meiryo UI"/>
                          <a:cs typeface="Meiryo UI"/>
                        </a:rPr>
                        <a:t>CASE-07 は開口・時間リスト・吸音率を同時に変えていて原因を切り分けられない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22628"/>
                          </a:solidFill>
                          <a:latin typeface="Meiryo UI"/>
                          <a:ea typeface="Meiryo UI"/>
                          <a:cs typeface="Meiryo UI"/>
                        </a:rPr>
                        <a:t>1 ケース 1 変更に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222628"/>
                          </a:solidFill>
                          <a:latin typeface="Meiryo UI"/>
                          <a:ea typeface="Meiryo UI"/>
                          <a:cs typeface="Meiryo UI"/>
                        </a:rPr>
                        <a:t>モデルの版</a:t>
                      </a:r>
                    </a:p>
                  </a:txBody>
                  <a:tcPr marL="73152" marR="73152" marT="27432" marB="27432" anchor="ctr">
                    <a:solidFill>
                      <a:srgbClr val="ECF2F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22628"/>
                          </a:solidFill>
                          <a:latin typeface="Meiryo UI"/>
                          <a:ea typeface="Meiryo UI"/>
                          <a:cs typeface="Meiryo UI"/>
                        </a:rPr>
                        <a:t>COMSOL は容積 3552 m³（260908）、geosim は 3490 m³（260918）</a:t>
                      </a:r>
                    </a:p>
                  </a:txBody>
                  <a:tcPr marL="73152" marR="73152" marT="27432" marB="27432" anchor="ctr">
                    <a:solidFill>
                      <a:srgbClr val="ECF2F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22628"/>
                          </a:solidFill>
                          <a:latin typeface="Meiryo UI"/>
                          <a:ea typeface="Meiryo UI"/>
                          <a:cs typeface="Meiryo UI"/>
                        </a:rPr>
                        <a:t>同じ版のモデルでそろえる</a:t>
                      </a:r>
                    </a:p>
                  </a:txBody>
                  <a:tcPr marL="73152" marR="73152" marT="27432" marB="27432" anchor="ctr">
                    <a:solidFill>
                      <a:srgbClr val="ECF2F1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222628"/>
                          </a:solidFill>
                          <a:latin typeface="Meiryo UI"/>
                          <a:ea typeface="Meiryo UI"/>
                          <a:cs typeface="Meiryo UI"/>
                        </a:rPr>
                        <a:t>未割り当ての境界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22628"/>
                          </a:solidFill>
                          <a:latin typeface="Meiryo UI"/>
                          <a:ea typeface="Meiryo UI"/>
                          <a:cs typeface="Meiryo UI"/>
                        </a:rPr>
                        <a:t>境界 284 のうち 3 枚が既定の壁（α = 0）に落ちている可能性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22628"/>
                          </a:solidFill>
                          <a:latin typeface="Meiryo UI"/>
                          <a:ea typeface="Meiryo UI"/>
                          <a:cs typeface="Meiryo UI"/>
                        </a:rPr>
                        <a:t>割り当てを確認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5F6B6D"/>
                </a:solidFill>
                <a:latin typeface="Meiryo UI"/>
                <a:ea typeface="Meiryo UI"/>
                <a:cs typeface="Meiryo UI"/>
              </a:rPr>
              <a:t>geosim 打合せ 確認事項（2026-10）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419088"/>
            <a:ext cx="77724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5F6B6D"/>
                </a:solidFill>
                <a:latin typeface="Meiryo UI"/>
                <a:ea typeface="Meiryo UI"/>
                <a:cs typeface="Meiryo U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438912"/>
            <a:ext cx="566928" cy="566928"/>
          </a:xfrm>
          <a:prstGeom prst="ellipse">
            <a:avLst/>
          </a:prstGeom>
          <a:solidFill>
            <a:srgbClr val="1C3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eiryo UI"/>
                <a:ea typeface="Meiryo UI"/>
                <a:cs typeface="Meiryo UI"/>
              </a:rPr>
              <a:t>④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80160" y="347472"/>
            <a:ext cx="9326880" cy="7315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1C363A"/>
                </a:solidFill>
                <a:latin typeface="Meiryo UI"/>
                <a:ea typeface="Meiryo UI"/>
                <a:cs typeface="Meiryo UI"/>
              </a:rPr>
              <a:t>残響時間をどの数字で報告するか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789920" y="548640"/>
            <a:ext cx="868680" cy="329184"/>
          </a:xfrm>
          <a:prstGeom prst="roundRect">
            <a:avLst>
              <a:gd name="adj" fmla="val 6000"/>
            </a:avLst>
          </a:prstGeom>
          <a:solidFill>
            <a:srgbClr val="B07D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Meiryo UI"/>
                <a:ea typeface="Meiryo UI"/>
                <a:cs typeface="Meiryo UI"/>
              </a:rPr>
              <a:t>要判断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1024128"/>
            <a:ext cx="1042416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5F6B6D"/>
                </a:solidFill>
                <a:latin typeface="Meiryo UI"/>
                <a:ea typeface="Meiryo UI"/>
                <a:cs typeface="Meiryo UI"/>
              </a:rPr>
              <a:t>減衰が二段になる室では T20 を 1 本の直線で読むこと自体に無理がある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00200"/>
            <a:ext cx="676656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1C363A"/>
                </a:solidFill>
                <a:latin typeface="Meiryo UI"/>
                <a:ea typeface="Meiryo UI"/>
                <a:cs typeface="Meiryo UI"/>
              </a:rPr>
              <a:t>例：視聴覚室（500 / 1k Hz 平均 [s]、推奨 0.6〜0.7 s：AIJ-ES）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2011680"/>
          <a:ext cx="6766560" cy="18288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377440"/>
                <a:gridCol w="822960"/>
                <a:gridCol w="822960"/>
                <a:gridCol w="914400"/>
                <a:gridCol w="914400"/>
                <a:gridCol w="914400"/>
              </a:tblGrid>
              <a:tr h="45720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条件</a:t>
                      </a:r>
                    </a:p>
                  </a:txBody>
                  <a:tcPr marL="73152" marR="73152" marT="27432" marB="27432" anchor="ctr">
                    <a:solidFill>
                      <a:srgbClr val="1C363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T20</a:t>
                      </a:r>
                    </a:p>
                  </a:txBody>
                  <a:tcPr marL="73152" marR="73152" marT="27432" marB="27432" anchor="ctr">
                    <a:solidFill>
                      <a:srgbClr val="1C363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EDT</a:t>
                      </a:r>
                    </a:p>
                  </a:txBody>
                  <a:tcPr marL="73152" marR="73152" marT="27432" marB="27432" anchor="ctr">
                    <a:solidFill>
                      <a:srgbClr val="1C363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Sabine</a:t>
                      </a:r>
                    </a:p>
                  </a:txBody>
                  <a:tcPr marL="73152" marR="73152" marT="27432" marB="27432" anchor="ctr">
                    <a:solidFill>
                      <a:srgbClr val="1C363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Eyring</a:t>
                      </a:r>
                    </a:p>
                  </a:txBody>
                  <a:tcPr marL="73152" marR="73152" marT="27432" marB="27432" anchor="ctr">
                    <a:solidFill>
                      <a:srgbClr val="1C363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Eyring-Knudsen</a:t>
                      </a:r>
                    </a:p>
                  </a:txBody>
                  <a:tcPr marL="73152" marR="73152" marT="27432" marB="27432" anchor="ctr">
                    <a:solidFill>
                      <a:srgbClr val="1C363A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222628"/>
                          </a:solidFill>
                          <a:latin typeface="Meiryo UI"/>
                          <a:ea typeface="Meiryo UI"/>
                          <a:cs typeface="Meiryo UI"/>
                        </a:rPr>
                        <a:t>0-2（現状）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222628"/>
                          </a:solidFill>
                          <a:latin typeface="Meiryo UI"/>
                          <a:ea typeface="Meiryo UI"/>
                          <a:cs typeface="Meiryo UI"/>
                        </a:rPr>
                        <a:t>0.91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222628"/>
                          </a:solidFill>
                          <a:latin typeface="Meiryo UI"/>
                          <a:ea typeface="Meiryo UI"/>
                          <a:cs typeface="Meiryo UI"/>
                        </a:rPr>
                        <a:t>0.60</a:t>
                      </a:r>
                    </a:p>
                  </a:txBody>
                  <a:tcPr marL="73152" marR="73152" marT="27432" marB="27432" anchor="ctr">
                    <a:solidFill>
                      <a:srgbClr val="DDEB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222628"/>
                          </a:solidFill>
                          <a:latin typeface="Meiryo UI"/>
                          <a:ea typeface="Meiryo UI"/>
                          <a:cs typeface="Meiryo UI"/>
                        </a:rPr>
                        <a:t>0.57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222628"/>
                          </a:solidFill>
                          <a:latin typeface="Meiryo UI"/>
                          <a:ea typeface="Meiryo UI"/>
                          <a:cs typeface="Meiryo UI"/>
                        </a:rPr>
                        <a:t>0.48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222628"/>
                          </a:solidFill>
                          <a:latin typeface="Meiryo UI"/>
                          <a:ea typeface="Meiryo UI"/>
                          <a:cs typeface="Meiryo UI"/>
                        </a:rPr>
                        <a:t>0.47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222628"/>
                          </a:solidFill>
                          <a:latin typeface="Meiryo UI"/>
                          <a:ea typeface="Meiryo UI"/>
                          <a:cs typeface="Meiryo UI"/>
                        </a:rPr>
                        <a:t>7-2（反射板→吸音パネル）</a:t>
                      </a:r>
                    </a:p>
                  </a:txBody>
                  <a:tcPr marL="73152" marR="73152" marT="27432" marB="27432" anchor="ctr">
                    <a:solidFill>
                      <a:srgbClr val="ECF2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222628"/>
                          </a:solidFill>
                          <a:latin typeface="Meiryo UI"/>
                          <a:ea typeface="Meiryo UI"/>
                          <a:cs typeface="Meiryo UI"/>
                        </a:rPr>
                        <a:t>1.06</a:t>
                      </a:r>
                    </a:p>
                  </a:txBody>
                  <a:tcPr marL="73152" marR="73152" marT="27432" marB="27432" anchor="ctr">
                    <a:solidFill>
                      <a:srgbClr val="ECF2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222628"/>
                          </a:solidFill>
                          <a:latin typeface="Meiryo UI"/>
                          <a:ea typeface="Meiryo UI"/>
                          <a:cs typeface="Meiryo UI"/>
                        </a:rPr>
                        <a:t>0.64</a:t>
                      </a:r>
                    </a:p>
                  </a:txBody>
                  <a:tcPr marL="73152" marR="73152" marT="27432" marB="27432" anchor="ctr">
                    <a:solidFill>
                      <a:srgbClr val="DDEB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222628"/>
                          </a:solidFill>
                          <a:latin typeface="Meiryo UI"/>
                          <a:ea typeface="Meiryo UI"/>
                          <a:cs typeface="Meiryo UI"/>
                        </a:rPr>
                        <a:t>0.41</a:t>
                      </a:r>
                    </a:p>
                  </a:txBody>
                  <a:tcPr marL="73152" marR="73152" marT="27432" marB="27432" anchor="ctr">
                    <a:solidFill>
                      <a:srgbClr val="ECF2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222628"/>
                          </a:solidFill>
                          <a:latin typeface="Meiryo UI"/>
                          <a:ea typeface="Meiryo UI"/>
                          <a:cs typeface="Meiryo UI"/>
                        </a:rPr>
                        <a:t>0.32</a:t>
                      </a:r>
                    </a:p>
                  </a:txBody>
                  <a:tcPr marL="73152" marR="73152" marT="27432" marB="27432" anchor="ctr">
                    <a:solidFill>
                      <a:srgbClr val="ECF2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222628"/>
                          </a:solidFill>
                          <a:latin typeface="Meiryo UI"/>
                          <a:ea typeface="Meiryo UI"/>
                          <a:cs typeface="Meiryo UI"/>
                        </a:rPr>
                        <a:t>0.32</a:t>
                      </a:r>
                    </a:p>
                  </a:txBody>
                  <a:tcPr marL="73152" marR="73152" marT="27432" marB="27432" anchor="ctr">
                    <a:solidFill>
                      <a:srgbClr val="ECF2F1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222628"/>
                          </a:solidFill>
                          <a:latin typeface="Meiryo UI"/>
                          <a:ea typeface="Meiryo UI"/>
                          <a:cs typeface="Meiryo UI"/>
                        </a:rPr>
                        <a:t>8-2（建具→ピンホール）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222628"/>
                          </a:solidFill>
                          <a:latin typeface="Meiryo UI"/>
                          <a:ea typeface="Meiryo UI"/>
                          <a:cs typeface="Meiryo UI"/>
                        </a:rPr>
                        <a:t>0.89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222628"/>
                          </a:solidFill>
                          <a:latin typeface="Meiryo UI"/>
                          <a:ea typeface="Meiryo UI"/>
                          <a:cs typeface="Meiryo UI"/>
                        </a:rPr>
                        <a:t>0.59</a:t>
                      </a:r>
                    </a:p>
                  </a:txBody>
                  <a:tcPr marL="73152" marR="73152" marT="27432" marB="27432" anchor="ctr">
                    <a:solidFill>
                      <a:srgbClr val="DDEB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222628"/>
                          </a:solidFill>
                          <a:latin typeface="Meiryo UI"/>
                          <a:ea typeface="Meiryo UI"/>
                          <a:cs typeface="Meiryo UI"/>
                        </a:rPr>
                        <a:t>0.56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222628"/>
                          </a:solidFill>
                          <a:latin typeface="Meiryo UI"/>
                          <a:ea typeface="Meiryo UI"/>
                          <a:cs typeface="Meiryo UI"/>
                        </a:rPr>
                        <a:t>0.47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222628"/>
                          </a:solidFill>
                          <a:latin typeface="Meiryo UI"/>
                          <a:ea typeface="Meiryo UI"/>
                          <a:cs typeface="Meiryo UI"/>
                        </a:rPr>
                        <a:t>0.47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48640" y="3931920"/>
            <a:ext cx="6766560" cy="1463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5F6B6D"/>
                </a:solidFill>
                <a:latin typeface="Meiryo UI"/>
                <a:ea typeface="Meiryo UI"/>
                <a:cs typeface="Meiryo UI"/>
              </a:rPr>
              <a:t>EDT は 3 条件とも推奨の範囲。T20 は範囲より長く、統計式は短い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5F6B6D"/>
                </a:solidFill>
                <a:latin typeface="Meiryo UI"/>
                <a:ea typeface="Meiryo UI"/>
                <a:cs typeface="Meiryo UI"/>
              </a:rPr>
              <a:t>7-2 は吸音面積が増えるのに T20 が伸びる（天井側の吸音が水平の往復に届かない）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680960" y="1600200"/>
            <a:ext cx="3931920" cy="4526280"/>
          </a:xfrm>
          <a:prstGeom prst="roundRect">
            <a:avLst>
              <a:gd name="adj" fmla="val 6000"/>
            </a:avLst>
          </a:prstGeom>
          <a:solidFill>
            <a:srgbClr val="F6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63840" y="1737360"/>
            <a:ext cx="356616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B07D24"/>
                </a:solidFill>
                <a:latin typeface="Meiryo UI"/>
                <a:ea typeface="Meiryo UI"/>
                <a:cs typeface="Meiryo UI"/>
              </a:rPr>
              <a:t>決めたいこと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0" y="2240280"/>
            <a:ext cx="3749039" cy="3840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marL="201168" indent="-182880">
              <a:spcAft>
                <a:spcPts val="700"/>
              </a:spcAft>
              <a:buFont typeface="Arial"/>
              <a:buChar char="•"/>
            </a:pPr>
            <a:r>
              <a:rPr sz="1400" b="0">
                <a:solidFill>
                  <a:srgbClr val="222628"/>
                </a:solidFill>
                <a:latin typeface="Meiryo UI"/>
                <a:ea typeface="Meiryo UI"/>
                <a:cs typeface="Meiryo UI"/>
              </a:rPr>
              <a:t>報告書の設計値をどれにするか</a:t>
            </a:r>
          </a:p>
          <a:p>
            <a:pPr marL="429768" indent="-182880">
              <a:spcAft>
                <a:spcPts val="700"/>
              </a:spcAft>
              <a:buFont typeface="Arial"/>
              <a:buChar char="–"/>
            </a:pPr>
            <a:r>
              <a:rPr sz="1300" b="0">
                <a:solidFill>
                  <a:srgbClr val="5F6B6D"/>
                </a:solidFill>
                <a:latin typeface="Meiryo UI"/>
                <a:ea typeface="Meiryo UI"/>
                <a:cs typeface="Meiryo UI"/>
              </a:rPr>
              <a:t>EDT ／ RTany（区間を決める）／ 統計式</a:t>
            </a:r>
          </a:p>
          <a:p>
            <a:pPr marL="201168" indent="-182880">
              <a:spcAft>
                <a:spcPts val="700"/>
              </a:spcAft>
              <a:buFont typeface="Arial"/>
              <a:buChar char="•"/>
            </a:pPr>
            <a:r>
              <a:rPr sz="1400" b="0">
                <a:solidFill>
                  <a:srgbClr val="222628"/>
                </a:solidFill>
                <a:latin typeface="Meiryo UI"/>
                <a:ea typeface="Meiryo UI"/>
                <a:cs typeface="Meiryo UI"/>
              </a:rPr>
              <a:t>T20・T30 は参考として併記するか</a:t>
            </a:r>
          </a:p>
          <a:p>
            <a:pPr marL="201168" indent="-182880">
              <a:spcAft>
                <a:spcPts val="700"/>
              </a:spcAft>
              <a:buFont typeface="Arial"/>
              <a:buChar char="•"/>
            </a:pPr>
            <a:r>
              <a:rPr sz="1400" b="0">
                <a:solidFill>
                  <a:srgbClr val="222628"/>
                </a:solidFill>
                <a:latin typeface="Meiryo UI"/>
                <a:ea typeface="Meiryo UI"/>
                <a:cs typeface="Meiryo UI"/>
              </a:rPr>
              <a:t>RTany の区間を案件ごとに決めて結果に残すか（いまは画面の中だけ。G-41c）</a:t>
            </a:r>
          </a:p>
          <a:p>
            <a:pPr marL="201168" indent="-182880">
              <a:spcAft>
                <a:spcPts val="700"/>
              </a:spcAft>
              <a:buFont typeface="Arial"/>
              <a:buChar char="•"/>
            </a:pPr>
            <a:r>
              <a:rPr sz="1400" b="0">
                <a:solidFill>
                  <a:srgbClr val="222628"/>
                </a:solidFill>
                <a:latin typeface="Meiryo UI"/>
                <a:ea typeface="Meiryo UI"/>
                <a:cs typeface="Meiryo UI"/>
              </a:rPr>
              <a:t>エネルギー和の T20 を標準の出力に入れるか（G-41b）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5F6B6D"/>
                </a:solidFill>
                <a:latin typeface="Meiryo UI"/>
                <a:ea typeface="Meiryo UI"/>
                <a:cs typeface="Meiryo UI"/>
              </a:rPr>
              <a:t>geosim 打合せ 確認事項（2026-10）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81360" y="6419088"/>
            <a:ext cx="77724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5F6B6D"/>
                </a:solidFill>
                <a:latin typeface="Meiryo UI"/>
                <a:ea typeface="Meiryo UI"/>
                <a:cs typeface="Meiryo U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438912"/>
            <a:ext cx="566928" cy="566928"/>
          </a:xfrm>
          <a:prstGeom prst="ellipse">
            <a:avLst/>
          </a:prstGeom>
          <a:solidFill>
            <a:srgbClr val="1C3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eiryo UI"/>
                <a:ea typeface="Meiryo UI"/>
                <a:cs typeface="Meiryo UI"/>
              </a:rPr>
              <a:t>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80160" y="347472"/>
            <a:ext cx="9326880" cy="7315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1C363A"/>
                </a:solidFill>
                <a:latin typeface="Meiryo UI"/>
                <a:ea typeface="Meiryo UI"/>
                <a:cs typeface="Meiryo UI"/>
              </a:rPr>
              <a:t>音圧レベル・STI の絶対値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789920" y="548640"/>
            <a:ext cx="868680" cy="329184"/>
          </a:xfrm>
          <a:prstGeom prst="roundRect">
            <a:avLst>
              <a:gd name="adj" fmla="val 6000"/>
            </a:avLst>
          </a:prstGeom>
          <a:solidFill>
            <a:srgbClr val="B07D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Meiryo UI"/>
                <a:ea typeface="Meiryo UI"/>
                <a:cs typeface="Meiryo UI"/>
              </a:rPr>
              <a:t>要判断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1024128"/>
            <a:ext cx="1042416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5F6B6D"/>
                </a:solidFill>
                <a:latin typeface="Meiryo UI"/>
                <a:ea typeface="Meiryo UI"/>
                <a:cs typeface="Meiryo UI"/>
              </a:rPr>
              <a:t>TODO E-11。いまの STI は PWL・暗騒音を入れない「残響だけの STI」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3474720" cy="2103120"/>
          </a:xfrm>
          <a:prstGeom prst="roundRect">
            <a:avLst>
              <a:gd name="adj" fmla="val 6000"/>
            </a:avLst>
          </a:prstGeom>
          <a:solidFill>
            <a:srgbClr val="ECF2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783080"/>
            <a:ext cx="3108960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1C363A"/>
                </a:solidFill>
                <a:latin typeface="Meiryo UI"/>
                <a:ea typeface="Meiryo UI"/>
                <a:cs typeface="Meiryo UI"/>
              </a:rPr>
              <a:t>0.761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743200"/>
            <a:ext cx="3108960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0">
                <a:solidFill>
                  <a:srgbClr val="5F6B6D"/>
                </a:solidFill>
                <a:latin typeface="Meiryo UI"/>
                <a:ea typeface="Meiryo UI"/>
                <a:cs typeface="Meiryo UI"/>
              </a:rPr>
              <a:t>視聴覚室 0-2 の STI
（PWL・暗騒音なし）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79" y="1645920"/>
            <a:ext cx="3474720" cy="2103120"/>
          </a:xfrm>
          <a:prstGeom prst="roundRect">
            <a:avLst>
              <a:gd name="adj" fmla="val 6000"/>
            </a:avLst>
          </a:prstGeom>
          <a:solidFill>
            <a:srgbClr val="ECF2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80559" y="1783080"/>
            <a:ext cx="3108960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1C363A"/>
                </a:solidFill>
                <a:latin typeface="Meiryo UI"/>
                <a:ea typeface="Meiryo UI"/>
                <a:cs typeface="Meiryo UI"/>
              </a:rPr>
              <a:t>0.782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59" y="2743200"/>
            <a:ext cx="3108960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0">
                <a:solidFill>
                  <a:srgbClr val="5F6B6D"/>
                </a:solidFill>
                <a:latin typeface="Meiryo UI"/>
                <a:ea typeface="Meiryo UI"/>
                <a:cs typeface="Meiryo UI"/>
              </a:rPr>
              <a:t>7-2 の STI
（中盤の響きが減って上がる）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19" y="1645920"/>
            <a:ext cx="3474720" cy="2103120"/>
          </a:xfrm>
          <a:prstGeom prst="roundRect">
            <a:avLst>
              <a:gd name="adj" fmla="val 6000"/>
            </a:avLst>
          </a:prstGeom>
          <a:solidFill>
            <a:srgbClr val="ECF2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599" y="1783080"/>
            <a:ext cx="3108960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1C363A"/>
                </a:solidFill>
                <a:latin typeface="Meiryo UI"/>
                <a:ea typeface="Meiryo UI"/>
                <a:cs typeface="Meiryo UI"/>
              </a:rPr>
              <a:t>−1〜2 dB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599" y="2743200"/>
            <a:ext cx="3108960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0">
                <a:solidFill>
                  <a:srgbClr val="5F6B6D"/>
                </a:solidFill>
                <a:latin typeface="Meiryo UI"/>
                <a:ea typeface="Meiryo UI"/>
                <a:cs typeface="Meiryo UI"/>
              </a:rPr>
              <a:t>PWL・暗騒音を入れたときの
7-2 のレベル低下（S/N が下がる）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4023360"/>
            <a:ext cx="1106424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B07D24"/>
                </a:solidFill>
                <a:latin typeface="Meiryo UI"/>
                <a:ea typeface="Meiryo UI"/>
                <a:cs typeface="Meiryo UI"/>
              </a:rPr>
              <a:t>決めたいこと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4480560"/>
            <a:ext cx="11064240" cy="18288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marL="201168" indent="-182880">
              <a:spcAft>
                <a:spcPts val="700"/>
              </a:spcAft>
              <a:buFont typeface="Arial"/>
              <a:buChar char="•"/>
            </a:pPr>
            <a:r>
              <a:rPr sz="1500" b="0">
                <a:solidFill>
                  <a:srgbClr val="222628"/>
                </a:solidFill>
                <a:latin typeface="Meiryo UI"/>
                <a:ea typeface="Meiryo UI"/>
                <a:cs typeface="Meiryo UI"/>
              </a:rPr>
              <a:t>STI は「残響だけ」で出すか、PWL と暗騒音を入れて出すか（入れると条件の順位が変わりうる）</a:t>
            </a:r>
          </a:p>
          <a:p>
            <a:pPr marL="201168" indent="-182880">
              <a:spcAft>
                <a:spcPts val="700"/>
              </a:spcAft>
              <a:buFont typeface="Arial"/>
              <a:buChar char="•"/>
            </a:pPr>
            <a:r>
              <a:rPr sz="1500" b="0">
                <a:solidFill>
                  <a:srgbClr val="222628"/>
                </a:solidFill>
                <a:latin typeface="Meiryo UI"/>
                <a:ea typeface="Meiryo UI"/>
                <a:cs typeface="Meiryo UI"/>
              </a:rPr>
              <a:t>入れる場合の PWL（話者・スピーカ）と暗騒音の値の出典（実測値／設計目標値）</a:t>
            </a:r>
          </a:p>
          <a:p>
            <a:pPr marL="201168" indent="-182880">
              <a:spcAft>
                <a:spcPts val="700"/>
              </a:spcAft>
              <a:buFont typeface="Arial"/>
              <a:buChar char="•"/>
            </a:pPr>
            <a:r>
              <a:rPr sz="1500" b="0">
                <a:solidFill>
                  <a:srgbClr val="222628"/>
                </a:solidFill>
                <a:latin typeface="Meiryo UI"/>
                <a:ea typeface="Meiryo UI"/>
                <a:cs typeface="Meiryo UI"/>
              </a:rPr>
              <a:t>インパルス応答の振幅は 1/(t·c₀) で規格化しただけ。実測と比べるときの校正の基準をどうするか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5F6B6D"/>
                </a:solidFill>
                <a:latin typeface="Meiryo UI"/>
                <a:ea typeface="Meiryo UI"/>
                <a:cs typeface="Meiryo UI"/>
              </a:rPr>
              <a:t>geosim 打合せ 確認事項（2026-10）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881360" y="6419088"/>
            <a:ext cx="77724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5F6B6D"/>
                </a:solidFill>
                <a:latin typeface="Meiryo UI"/>
                <a:ea typeface="Meiryo UI"/>
                <a:cs typeface="Meiryo U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438912"/>
            <a:ext cx="566928" cy="566928"/>
          </a:xfrm>
          <a:prstGeom prst="ellipse">
            <a:avLst/>
          </a:prstGeom>
          <a:solidFill>
            <a:srgbClr val="1C3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eiryo UI"/>
                <a:ea typeface="Meiryo UI"/>
                <a:cs typeface="Meiryo UI"/>
              </a:rPr>
              <a:t>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80160" y="347472"/>
            <a:ext cx="9326880" cy="7315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1C363A"/>
                </a:solidFill>
                <a:latin typeface="Meiryo UI"/>
                <a:ea typeface="Meiryo UI"/>
                <a:cs typeface="Meiryo UI"/>
              </a:rPr>
              <a:t>モデル化のルール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789920" y="548640"/>
            <a:ext cx="868680" cy="329184"/>
          </a:xfrm>
          <a:prstGeom prst="roundRect">
            <a:avLst>
              <a:gd name="adj" fmla="val 6000"/>
            </a:avLst>
          </a:prstGeom>
          <a:solidFill>
            <a:srgbClr val="B07D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Meiryo UI"/>
                <a:ea typeface="Meiryo UI"/>
                <a:cs typeface="Meiryo UI"/>
              </a:rPr>
              <a:t>要判断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1024128"/>
            <a:ext cx="1042416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5F6B6D"/>
                </a:solidFill>
                <a:latin typeface="Meiryo UI"/>
                <a:ea typeface="Meiryo UI"/>
                <a:cs typeface="Meiryo UI"/>
              </a:rPr>
              <a:t>いまの実案件では問題が出ていないが、今後のために決めておきたいもの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00200"/>
            <a:ext cx="5440680" cy="2148840"/>
          </a:xfrm>
          <a:prstGeom prst="roundRect">
            <a:avLst>
              <a:gd name="adj" fmla="val 6000"/>
            </a:avLst>
          </a:prstGeom>
          <a:solidFill>
            <a:srgbClr val="ECF2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737360"/>
            <a:ext cx="507492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1C363A"/>
                </a:solidFill>
                <a:latin typeface="Meiryo UI"/>
                <a:ea typeface="Meiryo UI"/>
                <a:cs typeface="Meiryo UI"/>
              </a:rPr>
              <a:t>曲面・ねじれの集約（B-23）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167128"/>
            <a:ext cx="5166360" cy="1508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marL="201168" indent="-182880">
              <a:spcAft>
                <a:spcPts val="500"/>
              </a:spcAft>
              <a:buFont typeface="Arial"/>
              <a:buChar char="•"/>
            </a:pPr>
            <a:r>
              <a:rPr sz="1400" b="0">
                <a:solidFill>
                  <a:srgbClr val="222628"/>
                </a:solidFill>
                <a:latin typeface="Meiryo UI"/>
                <a:ea typeface="Meiryo UI"/>
                <a:cs typeface="Meiryo UI"/>
              </a:rPr>
              <a:t>同一平面の判定が「隣の三角形どうし」なので、緩い曲面が連鎖して 1 面になりうる</a:t>
            </a:r>
          </a:p>
          <a:p>
            <a:pPr marL="201168" indent="-182880">
              <a:spcAft>
                <a:spcPts val="500"/>
              </a:spcAft>
              <a:buFont typeface="Arial"/>
              <a:buChar char="•"/>
            </a:pPr>
            <a:r>
              <a:rPr sz="1400" b="0">
                <a:solidFill>
                  <a:srgbClr val="222628"/>
                </a:solidFill>
                <a:latin typeface="Meiryo UI"/>
                <a:ea typeface="Meiryo UI"/>
                <a:cs typeface="Meiryo UI"/>
              </a:rPr>
              <a:t>既存モデルでは起きていない（階段教室 229 面で一致）</a:t>
            </a:r>
          </a:p>
          <a:p>
            <a:pPr marL="201168" indent="-182880">
              <a:spcAft>
                <a:spcPts val="500"/>
              </a:spcAft>
              <a:buFont typeface="Arial"/>
              <a:buChar char="•"/>
            </a:pPr>
            <a:r>
              <a:rPr sz="1400" b="1">
                <a:solidFill>
                  <a:srgbClr val="B07D24"/>
                </a:solidFill>
                <a:latin typeface="Meiryo UI"/>
                <a:ea typeface="Meiryo UI"/>
                <a:cs typeface="Meiryo UI"/>
              </a:rPr>
              <a:t>→ 直すか・いつ直すか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600200"/>
            <a:ext cx="5440680" cy="2148840"/>
          </a:xfrm>
          <a:prstGeom prst="roundRect">
            <a:avLst>
              <a:gd name="adj" fmla="val 6000"/>
            </a:avLst>
          </a:prstGeom>
          <a:solidFill>
            <a:srgbClr val="ECF2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55080" y="1737360"/>
            <a:ext cx="507492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1C363A"/>
                </a:solidFill>
                <a:latin typeface="Meiryo UI"/>
                <a:ea typeface="Meiryo UI"/>
                <a:cs typeface="Meiryo UI"/>
              </a:rPr>
              <a:t>音源の指向性（B-11）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0" y="2167128"/>
            <a:ext cx="5166360" cy="1508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marL="201168" indent="-182880">
              <a:spcAft>
                <a:spcPts val="500"/>
              </a:spcAft>
              <a:buFont typeface="Arial"/>
              <a:buChar char="•"/>
            </a:pPr>
            <a:r>
              <a:rPr sz="1400" b="0">
                <a:solidFill>
                  <a:srgbClr val="222628"/>
                </a:solidFill>
                <a:latin typeface="Meiryo UI"/>
                <a:ea typeface="Meiryo UI"/>
                <a:cs typeface="Meiryo UI"/>
              </a:rPr>
              <a:t>いまは無指向の点音源だけ</a:t>
            </a:r>
          </a:p>
          <a:p>
            <a:pPr marL="201168" indent="-182880">
              <a:spcAft>
                <a:spcPts val="500"/>
              </a:spcAft>
              <a:buFont typeface="Arial"/>
              <a:buChar char="•"/>
            </a:pPr>
            <a:r>
              <a:rPr sz="1400" b="0">
                <a:solidFill>
                  <a:srgbClr val="222628"/>
                </a:solidFill>
                <a:latin typeface="Meiryo UI"/>
                <a:ea typeface="Meiryo UI"/>
                <a:cs typeface="Meiryo UI"/>
              </a:rPr>
              <a:t>話者・スピーカの指向性を CAD でどう表すか</a:t>
            </a:r>
          </a:p>
          <a:p>
            <a:pPr marL="201168" indent="-182880">
              <a:spcAft>
                <a:spcPts val="500"/>
              </a:spcAft>
              <a:buFont typeface="Arial"/>
              <a:buChar char="•"/>
            </a:pPr>
            <a:r>
              <a:rPr sz="1400" b="1">
                <a:solidFill>
                  <a:srgbClr val="B07D24"/>
                </a:solidFill>
                <a:latin typeface="Meiryo UI"/>
                <a:ea typeface="Meiryo UI"/>
                <a:cs typeface="Meiryo UI"/>
              </a:rPr>
              <a:t>→ 必要か・表し方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931920"/>
            <a:ext cx="5440680" cy="2148840"/>
          </a:xfrm>
          <a:prstGeom prst="roundRect">
            <a:avLst>
              <a:gd name="adj" fmla="val 6000"/>
            </a:avLst>
          </a:prstGeom>
          <a:solidFill>
            <a:srgbClr val="ECF2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4069080"/>
            <a:ext cx="507492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1C363A"/>
                </a:solidFill>
                <a:latin typeface="Meiryo UI"/>
                <a:ea typeface="Meiryo UI"/>
                <a:cs typeface="Meiryo UI"/>
              </a:rPr>
              <a:t>ブロック参照 INSERT（B-12）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4498848"/>
            <a:ext cx="5166360" cy="1508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marL="201168" indent="-182880">
              <a:spcAft>
                <a:spcPts val="500"/>
              </a:spcAft>
              <a:buFont typeface="Arial"/>
              <a:buChar char="•"/>
            </a:pPr>
            <a:r>
              <a:rPr sz="1400" b="0">
                <a:solidFill>
                  <a:srgbClr val="222628"/>
                </a:solidFill>
                <a:latin typeface="Meiryo UI"/>
                <a:ea typeface="Meiryo UI"/>
                <a:cs typeface="Meiryo UI"/>
              </a:rPr>
              <a:t>いまは読み飛ばしている（什器などが抜ける）</a:t>
            </a:r>
          </a:p>
          <a:p>
            <a:pPr marL="201168" indent="-182880">
              <a:spcAft>
                <a:spcPts val="500"/>
              </a:spcAft>
              <a:buFont typeface="Arial"/>
              <a:buChar char="•"/>
            </a:pPr>
            <a:r>
              <a:rPr sz="1400" b="1">
                <a:solidFill>
                  <a:srgbClr val="B07D24"/>
                </a:solidFill>
                <a:latin typeface="Meiryo UI"/>
                <a:ea typeface="Meiryo UI"/>
                <a:cs typeface="Meiryo UI"/>
              </a:rPr>
              <a:t>→ 展開するか、分解して渡してもらう運用にするか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3931920"/>
            <a:ext cx="5440680" cy="2148840"/>
          </a:xfrm>
          <a:prstGeom prst="roundRect">
            <a:avLst>
              <a:gd name="adj" fmla="val 6000"/>
            </a:avLst>
          </a:prstGeom>
          <a:solidFill>
            <a:srgbClr val="ECF2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55080" y="4069080"/>
            <a:ext cx="507492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1C363A"/>
                </a:solidFill>
                <a:latin typeface="Meiryo UI"/>
                <a:ea typeface="Meiryo UI"/>
                <a:cs typeface="Meiryo UI"/>
              </a:rPr>
              <a:t>DWG（3DSOLID）の取り込み（B-20）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9360" y="4498848"/>
            <a:ext cx="5166360" cy="1508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marL="201168" indent="-182880">
              <a:spcAft>
                <a:spcPts val="500"/>
              </a:spcAft>
              <a:buFont typeface="Arial"/>
              <a:buChar char="•"/>
            </a:pPr>
            <a:r>
              <a:rPr sz="1400" b="0">
                <a:solidFill>
                  <a:srgbClr val="222628"/>
                </a:solidFill>
                <a:latin typeface="Meiryo UI"/>
                <a:ea typeface="Meiryo UI"/>
                <a:cs typeface="Meiryo UI"/>
              </a:rPr>
              <a:t>accoreconsole で面の DXF に直せば読めることは確認済み</a:t>
            </a:r>
          </a:p>
          <a:p>
            <a:pPr marL="201168" indent="-182880">
              <a:spcAft>
                <a:spcPts val="500"/>
              </a:spcAft>
              <a:buFont typeface="Arial"/>
              <a:buChar char="•"/>
            </a:pPr>
            <a:r>
              <a:rPr sz="1400" b="1">
                <a:solidFill>
                  <a:srgbClr val="B07D24"/>
                </a:solidFill>
                <a:latin typeface="Meiryo UI"/>
                <a:ea typeface="Meiryo UI"/>
                <a:cs typeface="Meiryo UI"/>
              </a:rPr>
              <a:t>→ 手順をリポジトリに入れて配るか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5F6B6D"/>
                </a:solidFill>
                <a:latin typeface="Meiryo UI"/>
                <a:ea typeface="Meiryo UI"/>
                <a:cs typeface="Meiryo UI"/>
              </a:rPr>
              <a:t>geosim 打合せ 確認事項（2026-10）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881360" y="6419088"/>
            <a:ext cx="77724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5F6B6D"/>
                </a:solidFill>
                <a:latin typeface="Meiryo UI"/>
                <a:ea typeface="Meiryo UI"/>
                <a:cs typeface="Meiryo U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438912"/>
            <a:ext cx="566928" cy="566928"/>
          </a:xfrm>
          <a:prstGeom prst="ellipse">
            <a:avLst/>
          </a:prstGeom>
          <a:solidFill>
            <a:srgbClr val="1C3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eiryo UI"/>
                <a:ea typeface="Meiryo UI"/>
                <a:cs typeface="Meiryo UI"/>
              </a:rPr>
              <a:t>⑦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80160" y="347472"/>
            <a:ext cx="9326880" cy="7315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1C363A"/>
                </a:solidFill>
                <a:latin typeface="Meiryo UI"/>
                <a:ea typeface="Meiryo UI"/>
                <a:cs typeface="Meiryo UI"/>
              </a:rPr>
              <a:t>開発の進め方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789920" y="548640"/>
            <a:ext cx="868680" cy="329184"/>
          </a:xfrm>
          <a:prstGeom prst="roundRect">
            <a:avLst>
              <a:gd name="adj" fmla="val 6000"/>
            </a:avLst>
          </a:prstGeom>
          <a:solidFill>
            <a:srgbClr val="B07D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Meiryo UI"/>
                <a:ea typeface="Meiryo UI"/>
                <a:cs typeface="Meiryo UI"/>
              </a:rPr>
              <a:t>要判断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1024128"/>
            <a:ext cx="1042416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5F6B6D"/>
                </a:solidFill>
                <a:latin typeface="Meiryo UI"/>
                <a:ea typeface="Meiryo UI"/>
                <a:cs typeface="Meiryo UI"/>
              </a:rPr>
              <a:t>複数端末・複数人で触っているので、約束ごとを確認したい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600200"/>
          <a:ext cx="11064240" cy="43891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377440"/>
                <a:gridCol w="4754880"/>
                <a:gridCol w="3931920"/>
              </a:tblGrid>
              <a:tr h="73152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項目</a:t>
                      </a:r>
                    </a:p>
                  </a:txBody>
                  <a:tcPr marL="73152" marR="73152" marT="27432" marB="27432" anchor="ctr">
                    <a:solidFill>
                      <a:srgbClr val="1C363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いまのやり方</a:t>
                      </a:r>
                    </a:p>
                  </a:txBody>
                  <a:tcPr marL="73152" marR="73152" marT="27432" marB="27432" anchor="ctr">
                    <a:solidFill>
                      <a:srgbClr val="1C363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決めたいこと</a:t>
                      </a:r>
                    </a:p>
                  </a:txBody>
                  <a:tcPr marL="73152" marR="73152" marT="27432" marB="27432" anchor="ctr">
                    <a:solidFill>
                      <a:srgbClr val="1C363A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222628"/>
                          </a:solidFill>
                          <a:latin typeface="Meiryo UI"/>
                          <a:ea typeface="Meiryo UI"/>
                          <a:cs typeface="Meiryo UI"/>
                        </a:rPr>
                        <a:t>計算結果に効く変更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22628"/>
                          </a:solidFill>
                          <a:latin typeface="Meiryo UI"/>
                          <a:ea typeface="Meiryo UI"/>
                          <a:cs typeface="Meiryo UI"/>
                        </a:rPr>
                        <a:t>ブランチに置き、共同開発者の判断を仰いでから main へ（画面・表示・資料は main で可）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22628"/>
                          </a:solidFill>
                          <a:latin typeface="Meiryo UI"/>
                          <a:ea typeface="Meiryo UI"/>
                          <a:cs typeface="Meiryo UI"/>
                        </a:rPr>
                        <a:t>この運用でよいか。承認の窓口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222628"/>
                          </a:solidFill>
                          <a:latin typeface="Meiryo UI"/>
                          <a:ea typeface="Meiryo UI"/>
                          <a:cs typeface="Meiryo UI"/>
                        </a:rPr>
                        <a:t>吸音材リスト（B-21）</a:t>
                      </a:r>
                    </a:p>
                  </a:txBody>
                  <a:tcPr marL="73152" marR="73152" marT="27432" marB="27432" anchor="ctr">
                    <a:solidFill>
                      <a:srgbClr val="ECF2F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22628"/>
                          </a:solidFill>
                          <a:latin typeface="Meiryo UI"/>
                          <a:ea typeface="Meiryo UI"/>
                          <a:cs typeface="Meiryo UI"/>
                        </a:rPr>
                        <a:t>条件表の「吸音率」シート（1000 材料の枠）に案件ごとに持つ</a:t>
                      </a:r>
                    </a:p>
                  </a:txBody>
                  <a:tcPr marL="73152" marR="73152" marT="27432" marB="27432" anchor="ctr">
                    <a:solidFill>
                      <a:srgbClr val="ECF2F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22628"/>
                          </a:solidFill>
                          <a:latin typeface="Meiryo UI"/>
                          <a:ea typeface="Meiryo UI"/>
                          <a:cs typeface="Meiryo UI"/>
                        </a:rPr>
                        <a:t>共通のテンプレートを用意し、案件作成時にコピーする案でよいか</a:t>
                      </a:r>
                    </a:p>
                  </a:txBody>
                  <a:tcPr marL="73152" marR="73152" marT="27432" marB="27432" anchor="ctr">
                    <a:solidFill>
                      <a:srgbClr val="ECF2F1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222628"/>
                          </a:solidFill>
                          <a:latin typeface="Meiryo UI"/>
                          <a:ea typeface="Meiryo UI"/>
                          <a:cs typeface="Meiryo UI"/>
                        </a:rPr>
                        <a:t>エネルギー和の表（G-41b）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22628"/>
                          </a:solidFill>
                          <a:latin typeface="Meiryo UI"/>
                          <a:ea typeface="Meiryo UI"/>
                          <a:cs typeface="Meiryo UI"/>
                        </a:rPr>
                        <a:t>確認用スクリプトで後から作っている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22628"/>
                          </a:solidFill>
                          <a:latin typeface="Meiryo UI"/>
                          <a:ea typeface="Meiryo UI"/>
                          <a:cs typeface="Meiryo UI"/>
                        </a:rPr>
                        <a:t>計算時に標準で書き出すか（ブランチで提案予定）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222628"/>
                          </a:solidFill>
                          <a:latin typeface="Meiryo UI"/>
                          <a:ea typeface="Meiryo UI"/>
                          <a:cs typeface="Meiryo UI"/>
                        </a:rPr>
                        <a:t>import の形（C-2）</a:t>
                      </a:r>
                    </a:p>
                  </a:txBody>
                  <a:tcPr marL="73152" marR="73152" marT="27432" marB="27432" anchor="ctr">
                    <a:solidFill>
                      <a:srgbClr val="ECF2F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22628"/>
                          </a:solidFill>
                          <a:latin typeface="Meiryo UI"/>
                          <a:ea typeface="Meiryo UI"/>
                          <a:cs typeface="Meiryo UI"/>
                        </a:rPr>
                        <a:t>geosim/ を cwd にした直接実行のみ</a:t>
                      </a:r>
                    </a:p>
                  </a:txBody>
                  <a:tcPr marL="73152" marR="73152" marT="27432" marB="27432" anchor="ctr">
                    <a:solidFill>
                      <a:srgbClr val="ECF2F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22628"/>
                          </a:solidFill>
                          <a:latin typeface="Meiryo UI"/>
                          <a:ea typeface="Meiryo UI"/>
                          <a:cs typeface="Meiryo UI"/>
                        </a:rPr>
                        <a:t>パッケージとして import できる形に一括変更するか</a:t>
                      </a:r>
                    </a:p>
                  </a:txBody>
                  <a:tcPr marL="73152" marR="73152" marT="27432" marB="27432" anchor="ctr">
                    <a:solidFill>
                      <a:srgbClr val="ECF2F1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222628"/>
                          </a:solidFill>
                          <a:latin typeface="Meiryo UI"/>
                          <a:ea typeface="Meiryo UI"/>
                          <a:cs typeface="Meiryo UI"/>
                        </a:rPr>
                        <a:t>公開範囲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22628"/>
                          </a:solidFill>
                          <a:latin typeface="Meiryo UI"/>
                          <a:ea typeface="Meiryo UI"/>
                          <a:cs typeface="Meiryo UI"/>
                        </a:rPr>
                        <a:t>リポジトリは public。吸音率表・文献・ドライソースはローカルのみ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22628"/>
                          </a:solidFill>
                          <a:latin typeface="Meiryo UI"/>
                          <a:ea typeface="Meiryo UI"/>
                          <a:cs typeface="Meiryo UI"/>
                        </a:rPr>
                        <a:t>このままでよいか（private 化の要否）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5F6B6D"/>
                </a:solidFill>
                <a:latin typeface="Meiryo UI"/>
                <a:ea typeface="Meiryo UI"/>
                <a:cs typeface="Meiryo UI"/>
              </a:rPr>
              <a:t>geosim 打合せ 確認事項（2026-10）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419088"/>
            <a:ext cx="77724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5F6B6D"/>
                </a:solidFill>
                <a:latin typeface="Meiryo UI"/>
                <a:ea typeface="Meiryo UI"/>
                <a:cs typeface="Meiryo U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438912"/>
            <a:ext cx="566928" cy="566928"/>
          </a:xfrm>
          <a:prstGeom prst="ellipse">
            <a:avLst/>
          </a:prstGeom>
          <a:solidFill>
            <a:srgbClr val="1C3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eiryo UI"/>
                <a:ea typeface="Meiryo UI"/>
                <a:cs typeface="Meiryo UI"/>
              </a:rPr>
              <a:t>⑧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80160" y="347472"/>
            <a:ext cx="9326880" cy="7315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1C363A"/>
                </a:solidFill>
                <a:latin typeface="Meiryo UI"/>
                <a:ea typeface="Meiryo UI"/>
                <a:cs typeface="Meiryo UI"/>
              </a:rPr>
              <a:t>画面（GUI）の方向性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789920" y="548640"/>
            <a:ext cx="868680" cy="329184"/>
          </a:xfrm>
          <a:prstGeom prst="roundRect">
            <a:avLst>
              <a:gd name="adj" fmla="val 6000"/>
            </a:avLst>
          </a:prstGeom>
          <a:solidFill>
            <a:srgbClr val="B07D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Meiryo UI"/>
                <a:ea typeface="Meiryo UI"/>
                <a:cs typeface="Meiryo UI"/>
              </a:rPr>
              <a:t>要判断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1024128"/>
            <a:ext cx="1042416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5F6B6D"/>
                </a:solidFill>
                <a:latin typeface="Meiryo UI"/>
                <a:ea typeface="Meiryo UI"/>
                <a:cs typeface="Meiryo UI"/>
              </a:rPr>
              <a:t>最終形は「1 画面で完結」。作り方を決める段階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5394960" cy="4480560"/>
          </a:xfrm>
          <a:prstGeom prst="roundRect">
            <a:avLst>
              <a:gd name="adj" fmla="val 6000"/>
            </a:avLst>
          </a:prstGeom>
          <a:solidFill>
            <a:srgbClr val="ECF2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493776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1C363A"/>
                </a:solidFill>
                <a:latin typeface="Meiryo UI"/>
                <a:ea typeface="Meiryo UI"/>
                <a:cs typeface="Meiryo UI"/>
              </a:rPr>
              <a:t>いま並んでいる画面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240280"/>
            <a:ext cx="5120640" cy="3840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marL="201168" indent="-182880">
              <a:spcAft>
                <a:spcPts val="700"/>
              </a:spcAft>
              <a:buFont typeface="Arial"/>
              <a:buChar char="•"/>
            </a:pPr>
            <a:r>
              <a:rPr sz="1400" b="1">
                <a:solidFill>
                  <a:srgbClr val="222628"/>
                </a:solidFill>
                <a:latin typeface="Meiryo UI"/>
                <a:ea typeface="Meiryo UI"/>
                <a:cs typeface="Meiryo UI"/>
              </a:rPr>
              <a:t>PyVista（デスクトップの窓）</a:t>
            </a:r>
            <a:r>
              <a:rPr sz="1400" b="0">
                <a:solidFill>
                  <a:srgbClr val="222628"/>
                </a:solidFill>
                <a:latin typeface="Meiryo UI"/>
                <a:ea typeface="Meiryo UI"/>
                <a:cs typeface="Meiryo UI"/>
              </a:rPr>
              <a:t>：面の確認・音線・虚音源・音圧分布</a:t>
            </a:r>
          </a:p>
          <a:p>
            <a:pPr marL="201168" indent="-182880">
              <a:spcAft>
                <a:spcPts val="700"/>
              </a:spcAft>
              <a:buFont typeface="Arial"/>
              <a:buChar char="•"/>
            </a:pPr>
            <a:r>
              <a:rPr sz="1400" b="1">
                <a:solidFill>
                  <a:srgbClr val="222628"/>
                </a:solidFill>
                <a:latin typeface="Meiryo UI"/>
                <a:ea typeface="Meiryo UI"/>
                <a:cs typeface="Meiryo UI"/>
              </a:rPr>
              <a:t>ブラウザ（Edge のアプリ窓）</a:t>
            </a:r>
            <a:r>
              <a:rPr sz="1400" b="0">
                <a:solidFill>
                  <a:srgbClr val="222628"/>
                </a:solidFill>
                <a:latin typeface="Meiryo UI"/>
                <a:ea typeface="Meiryo UI"/>
                <a:cs typeface="Meiryo UI"/>
              </a:rPr>
              <a:t>：可聴化・結果を見比べる</a:t>
            </a:r>
          </a:p>
          <a:p>
            <a:pPr marL="201168" indent="-182880">
              <a:spcAft>
                <a:spcPts val="700"/>
              </a:spcAft>
              <a:buFont typeface="Arial"/>
              <a:buChar char="•"/>
            </a:pPr>
            <a:r>
              <a:rPr sz="1400" b="1">
                <a:solidFill>
                  <a:srgbClr val="222628"/>
                </a:solidFill>
                <a:latin typeface="Meiryo UI"/>
                <a:ea typeface="Meiryo UI"/>
                <a:cs typeface="Meiryo UI"/>
              </a:rPr>
              <a:t>tkinter</a:t>
            </a:r>
            <a:r>
              <a:rPr sz="1400" b="0">
                <a:solidFill>
                  <a:srgbClr val="222628"/>
                </a:solidFill>
                <a:latin typeface="Meiryo UI"/>
                <a:ea typeface="Meiryo UI"/>
                <a:cs typeface="Meiryo UI"/>
              </a:rPr>
              <a:t>：条件入力（設定画面）</a:t>
            </a:r>
          </a:p>
          <a:p>
            <a:pPr marL="201168" indent="-182880">
              <a:spcAft>
                <a:spcPts val="700"/>
              </a:spcAft>
              <a:buFont typeface="Arial"/>
              <a:buChar char="•"/>
            </a:pPr>
            <a:r>
              <a:rPr sz="1400" b="0">
                <a:solidFill>
                  <a:srgbClr val="222628"/>
                </a:solidFill>
                <a:latin typeface="Meiryo UI"/>
                <a:ea typeface="Meiryo UI"/>
                <a:cs typeface="Meiryo UI"/>
              </a:rPr>
              <a:t>可聴化と見比べる画面は frontend-design で作成。追加のライブラリなし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645920"/>
            <a:ext cx="5303520" cy="4480560"/>
          </a:xfrm>
          <a:prstGeom prst="roundRect">
            <a:avLst>
              <a:gd name="adj" fmla="val 6000"/>
            </a:avLst>
          </a:prstGeom>
          <a:solidFill>
            <a:srgbClr val="F6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783080"/>
            <a:ext cx="493776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B07D24"/>
                </a:solidFill>
                <a:latin typeface="Meiryo UI"/>
                <a:ea typeface="Meiryo UI"/>
                <a:cs typeface="Meiryo UI"/>
              </a:rPr>
              <a:t>決めたいこと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240280"/>
            <a:ext cx="5120640" cy="3840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marL="201168" indent="-182880">
              <a:spcAft>
                <a:spcPts val="700"/>
              </a:spcAft>
              <a:buFont typeface="Arial"/>
              <a:buChar char="•"/>
            </a:pPr>
            <a:r>
              <a:rPr sz="1400" b="0">
                <a:solidFill>
                  <a:srgbClr val="222628"/>
                </a:solidFill>
                <a:latin typeface="Meiryo UI"/>
                <a:ea typeface="Meiryo UI"/>
                <a:cs typeface="Meiryo UI"/>
              </a:rPr>
              <a:t>統合の土台をどれにするか（G-7c）</a:t>
            </a:r>
          </a:p>
          <a:p>
            <a:pPr marL="429768" indent="-182880">
              <a:spcAft>
                <a:spcPts val="700"/>
              </a:spcAft>
              <a:buFont typeface="Arial"/>
              <a:buChar char="–"/>
            </a:pPr>
            <a:r>
              <a:rPr sz="1300" b="0">
                <a:solidFill>
                  <a:srgbClr val="5F6B6D"/>
                </a:solidFill>
                <a:latin typeface="Meiryo UI"/>
                <a:ea typeface="Meiryo UI"/>
                <a:cs typeface="Meiryo UI"/>
              </a:rPr>
              <a:t>ブラウザに寄せる／pyvistaqt + PySide6</a:t>
            </a:r>
          </a:p>
          <a:p>
            <a:pPr marL="201168" indent="-182880">
              <a:spcAft>
                <a:spcPts val="700"/>
              </a:spcAft>
              <a:buFont typeface="Arial"/>
              <a:buChar char="•"/>
            </a:pPr>
            <a:r>
              <a:rPr sz="1400" b="0">
                <a:solidFill>
                  <a:srgbClr val="222628"/>
                </a:solidFill>
                <a:latin typeface="Meiryo UI"/>
                <a:ea typeface="Meiryo UI"/>
                <a:cs typeface="Meiryo UI"/>
              </a:rPr>
              <a:t>面の確認画面の操作性（G-30）：提案 5 案のどれを入れるか</a:t>
            </a:r>
          </a:p>
          <a:p>
            <a:pPr marL="429768" indent="-182880">
              <a:spcAft>
                <a:spcPts val="700"/>
              </a:spcAft>
              <a:buFont typeface="Arial"/>
              <a:buChar char="–"/>
            </a:pPr>
            <a:r>
              <a:rPr sz="1300" b="0">
                <a:solidFill>
                  <a:srgbClr val="5F6B6D"/>
                </a:solidFill>
                <a:latin typeface="Meiryo UI"/>
                <a:ea typeface="Meiryo UI"/>
                <a:cs typeface="Meiryo UI"/>
              </a:rPr>
              <a:t>クリックで 1 枚選ぶ・食い違う面だけ順送り・法線に絞る・レイヤを 1 行リスト・断面スライダ</a:t>
            </a:r>
          </a:p>
          <a:p>
            <a:pPr marL="201168" indent="-182880">
              <a:spcAft>
                <a:spcPts val="700"/>
              </a:spcAft>
              <a:buFont typeface="Arial"/>
              <a:buChar char="•"/>
            </a:pPr>
            <a:r>
              <a:rPr sz="1400" b="0">
                <a:solidFill>
                  <a:srgbClr val="222628"/>
                </a:solidFill>
                <a:latin typeface="Meiryo UI"/>
                <a:ea typeface="Meiryo UI"/>
                <a:cs typeface="Meiryo UI"/>
              </a:rPr>
              <a:t>可聴化の音量の合わせ方を切り替えにするか（G-40g・保留中）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5F6B6D"/>
                </a:solidFill>
                <a:latin typeface="Meiryo UI"/>
                <a:ea typeface="Meiryo UI"/>
                <a:cs typeface="Meiryo UI"/>
              </a:rPr>
              <a:t>geosim 打合せ 確認事項（2026-10）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81360" y="6419088"/>
            <a:ext cx="77724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5F6B6D"/>
                </a:solidFill>
                <a:latin typeface="Meiryo UI"/>
                <a:ea typeface="Meiryo UI"/>
                <a:cs typeface="Meiryo U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438912"/>
            <a:ext cx="566928" cy="566928"/>
          </a:xfrm>
          <a:prstGeom prst="ellipse">
            <a:avLst/>
          </a:prstGeom>
          <a:solidFill>
            <a:srgbClr val="1C3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eiryo UI"/>
                <a:ea typeface="Meiryo UI"/>
                <a:cs typeface="Meiryo UI"/>
              </a:rPr>
              <a:t>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80160" y="347472"/>
            <a:ext cx="9326880" cy="7315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1C363A"/>
                </a:solidFill>
                <a:latin typeface="Meiryo UI"/>
                <a:ea typeface="Meiryo UI"/>
                <a:cs typeface="Meiryo UI"/>
              </a:rPr>
              <a:t>近況と今後の予定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789920" y="548640"/>
            <a:ext cx="868680" cy="329184"/>
          </a:xfrm>
          <a:prstGeom prst="roundRect">
            <a:avLst>
              <a:gd name="adj" fmla="val 6000"/>
            </a:avLst>
          </a:prstGeom>
          <a:solidFill>
            <a:srgbClr val="5F6B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Meiryo UI"/>
                <a:ea typeface="Meiryo UI"/>
                <a:cs typeface="Meiryo UI"/>
              </a:rPr>
              <a:t>報告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1024128"/>
            <a:ext cx="1042416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5F6B6D"/>
                </a:solidFill>
                <a:latin typeface="Meiryo UI"/>
                <a:ea typeface="Meiryo UI"/>
                <a:cs typeface="Meiryo UI"/>
              </a:rPr>
              <a:t>9 月中旬〜10 月初の主な動き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00200"/>
            <a:ext cx="3474720" cy="1600200"/>
          </a:xfrm>
          <a:prstGeom prst="roundRect">
            <a:avLst>
              <a:gd name="adj" fmla="val 6000"/>
            </a:avLst>
          </a:prstGeom>
          <a:solidFill>
            <a:srgbClr val="ECF2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691640"/>
            <a:ext cx="310896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600"/>
              </a:spcAft>
            </a:pPr>
            <a:r>
              <a:rPr sz="3000" b="1">
                <a:solidFill>
                  <a:srgbClr val="1C363A"/>
                </a:solidFill>
                <a:latin typeface="Meiryo UI"/>
                <a:ea typeface="Meiryo UI"/>
                <a:cs typeface="Meiryo UI"/>
              </a:rPr>
              <a:t>24 件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423160"/>
            <a:ext cx="310896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0">
                <a:solidFill>
                  <a:srgbClr val="5F6B6D"/>
                </a:solidFill>
                <a:latin typeface="Meiryo UI"/>
                <a:ea typeface="Meiryo UI"/>
                <a:cs typeface="Meiryo UI"/>
              </a:rPr>
              <a:t>不具合報告 ①〜㉔ を対応・反映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79" y="1600200"/>
            <a:ext cx="3474720" cy="1600200"/>
          </a:xfrm>
          <a:prstGeom prst="roundRect">
            <a:avLst>
              <a:gd name="adj" fmla="val 6000"/>
            </a:avLst>
          </a:prstGeom>
          <a:solidFill>
            <a:srgbClr val="ECF2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80559" y="1691640"/>
            <a:ext cx="310896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600"/>
              </a:spcAft>
            </a:pPr>
            <a:r>
              <a:rPr sz="3000" b="1">
                <a:solidFill>
                  <a:srgbClr val="1C363A"/>
                </a:solidFill>
                <a:latin typeface="Meiryo UI"/>
                <a:ea typeface="Meiryo UI"/>
                <a:cs typeface="Meiryo UI"/>
              </a:rPr>
              <a:t>1141 件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59" y="2423160"/>
            <a:ext cx="310896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0">
                <a:solidFill>
                  <a:srgbClr val="5F6B6D"/>
                </a:solidFill>
                <a:latin typeface="Meiryo UI"/>
                <a:ea typeface="Meiryo UI"/>
                <a:cs typeface="Meiryo UI"/>
              </a:rPr>
              <a:t>数値検証テスト すべて OK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19" y="1600200"/>
            <a:ext cx="3474720" cy="1600200"/>
          </a:xfrm>
          <a:prstGeom prst="roundRect">
            <a:avLst>
              <a:gd name="adj" fmla="val 6000"/>
            </a:avLst>
          </a:prstGeom>
          <a:solidFill>
            <a:srgbClr val="ECF2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599" y="1691640"/>
            <a:ext cx="310896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600"/>
              </a:spcAft>
            </a:pPr>
            <a:r>
              <a:rPr sz="3000" b="1">
                <a:solidFill>
                  <a:srgbClr val="1C363A"/>
                </a:solidFill>
                <a:latin typeface="Meiryo UI"/>
                <a:ea typeface="Meiryo UI"/>
                <a:cs typeface="Meiryo UI"/>
              </a:rPr>
              <a:t>2〜5 分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599" y="2423160"/>
            <a:ext cx="310896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0">
                <a:solidFill>
                  <a:srgbClr val="5F6B6D"/>
                </a:solidFill>
                <a:latin typeface="Meiryo UI"/>
                <a:ea typeface="Meiryo UI"/>
                <a:cs typeface="Meiryo UI"/>
              </a:rPr>
              <a:t>材料だけ変える条件の計算時間
（初回 2.5 時間。経路の使い回し）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3474720"/>
            <a:ext cx="54864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1C363A"/>
                </a:solidFill>
                <a:latin typeface="Meiryo UI"/>
                <a:ea typeface="Meiryo UI"/>
                <a:cs typeface="Meiryo UI"/>
              </a:rPr>
              <a:t>できたこと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3886200"/>
            <a:ext cx="5486400" cy="24688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marL="201168" indent="-182880">
              <a:spcAft>
                <a:spcPts val="400"/>
              </a:spcAft>
              <a:buFont typeface="Arial"/>
              <a:buChar char="•"/>
            </a:pPr>
            <a:r>
              <a:rPr sz="1400" b="0">
                <a:solidFill>
                  <a:srgbClr val="222628"/>
                </a:solidFill>
                <a:latin typeface="Meiryo UI"/>
                <a:ea typeface="Meiryo UI"/>
                <a:cs typeface="Meiryo UI"/>
              </a:rPr>
              <a:t>可聴化（ドライソース／マイクにリアルタイムで畳み込み）</a:t>
            </a:r>
          </a:p>
          <a:p>
            <a:pPr marL="201168" indent="-182880">
              <a:spcAft>
                <a:spcPts val="400"/>
              </a:spcAft>
              <a:buFont typeface="Arial"/>
              <a:buChar char="•"/>
            </a:pPr>
            <a:r>
              <a:rPr sz="1400" b="0">
                <a:solidFill>
                  <a:srgbClr val="222628"/>
                </a:solidFill>
                <a:latin typeface="Meiryo UI"/>
                <a:ea typeface="Meiryo UI"/>
                <a:cs typeface="Meiryo UI"/>
              </a:rPr>
              <a:t>結果を見比べる画面（条件・足し方・受音点を窓ごとに）</a:t>
            </a:r>
          </a:p>
          <a:p>
            <a:pPr marL="201168" indent="-182880">
              <a:spcAft>
                <a:spcPts val="400"/>
              </a:spcAft>
              <a:buFont typeface="Arial"/>
              <a:buChar char="•"/>
            </a:pPr>
            <a:r>
              <a:rPr sz="1400" b="0">
                <a:solidFill>
                  <a:srgbClr val="222628"/>
                </a:solidFill>
                <a:latin typeface="Meiryo UI"/>
                <a:ea typeface="Meiryo UI"/>
                <a:cs typeface="Meiryo UI"/>
              </a:rPr>
              <a:t>音源が複数のときの計算、1/3 オクターブ（規格の厳密中心周波数）</a:t>
            </a:r>
          </a:p>
          <a:p>
            <a:pPr marL="201168" indent="-182880">
              <a:spcAft>
                <a:spcPts val="400"/>
              </a:spcAft>
              <a:buFont typeface="Arial"/>
              <a:buChar char="•"/>
            </a:pPr>
            <a:r>
              <a:rPr sz="1400" b="0">
                <a:solidFill>
                  <a:srgbClr val="222628"/>
                </a:solidFill>
                <a:latin typeface="Meiryo UI"/>
                <a:ea typeface="Meiryo UI"/>
                <a:cs typeface="Meiryo UI"/>
              </a:rPr>
              <a:t>実案件：階段教室・研修室・視聴覚室の条件検討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9360" y="3474720"/>
            <a:ext cx="530352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1C363A"/>
                </a:solidFill>
                <a:latin typeface="Meiryo UI"/>
                <a:ea typeface="Meiryo UI"/>
                <a:cs typeface="Meiryo UI"/>
              </a:rPr>
              <a:t>今後（急がないもの）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0" y="3886200"/>
            <a:ext cx="5303520" cy="24688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marL="201168" indent="-182880">
              <a:spcAft>
                <a:spcPts val="400"/>
              </a:spcAft>
              <a:buFont typeface="Arial"/>
              <a:buChar char="•"/>
            </a:pPr>
            <a:r>
              <a:rPr sz="1400" b="0">
                <a:solidFill>
                  <a:srgbClr val="222628"/>
                </a:solidFill>
                <a:latin typeface="Meiryo UI"/>
                <a:ea typeface="Meiryo UI"/>
                <a:cs typeface="Meiryo UI"/>
              </a:rPr>
              <a:t>定在波を反射回数で絞って見る・効いている壁を出す（G-42・43）</a:t>
            </a:r>
          </a:p>
          <a:p>
            <a:pPr marL="201168" indent="-182880">
              <a:spcAft>
                <a:spcPts val="400"/>
              </a:spcAft>
              <a:buFont typeface="Arial"/>
              <a:buChar char="•"/>
            </a:pPr>
            <a:r>
              <a:rPr sz="1400" b="0">
                <a:solidFill>
                  <a:srgbClr val="222628"/>
                </a:solidFill>
                <a:latin typeface="Meiryo UI"/>
                <a:ea typeface="Meiryo UI"/>
                <a:cs typeface="Meiryo UI"/>
              </a:rPr>
              <a:t>実測との突き合わせ（来年。E-15）</a:t>
            </a:r>
          </a:p>
          <a:p>
            <a:pPr marL="201168" indent="-182880">
              <a:spcAft>
                <a:spcPts val="400"/>
              </a:spcAft>
              <a:buFont typeface="Arial"/>
              <a:buChar char="•"/>
            </a:pPr>
            <a:r>
              <a:rPr sz="1400" b="0">
                <a:solidFill>
                  <a:srgbClr val="222628"/>
                </a:solidFill>
                <a:latin typeface="Meiryo UI"/>
                <a:ea typeface="Meiryo UI"/>
                <a:cs typeface="Meiryo UI"/>
              </a:rPr>
              <a:t>マイク入力・ハウリング対策の実機試聴、両耳再生（G-40b・c）</a:t>
            </a:r>
          </a:p>
          <a:p>
            <a:pPr marL="201168" indent="-182880">
              <a:spcAft>
                <a:spcPts val="400"/>
              </a:spcAft>
              <a:buFont typeface="Arial"/>
              <a:buChar char="•"/>
            </a:pPr>
            <a:r>
              <a:rPr sz="1400" b="0">
                <a:solidFill>
                  <a:srgbClr val="222628"/>
                </a:solidFill>
                <a:latin typeface="Meiryo UI"/>
                <a:ea typeface="Meiryo UI"/>
                <a:cs typeface="Meiryo UI"/>
              </a:rPr>
              <a:t>面が数千枚を超えたときの高速化（F-2・F-3）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5F6B6D"/>
                </a:solidFill>
                <a:latin typeface="Meiryo UI"/>
                <a:ea typeface="Meiryo UI"/>
                <a:cs typeface="Meiryo UI"/>
              </a:rPr>
              <a:t>geosim 打合せ 確認事項（2026-10）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881360" y="6419088"/>
            <a:ext cx="77724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5F6B6D"/>
                </a:solidFill>
                <a:latin typeface="Meiryo UI"/>
                <a:ea typeface="Meiryo UI"/>
                <a:cs typeface="Meiryo U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36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48640"/>
            <a:ext cx="1051560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3600" b="1">
                <a:solidFill>
                  <a:srgbClr val="FFFFFF"/>
                </a:solidFill>
                <a:latin typeface="Meiryo UI"/>
                <a:ea typeface="Meiryo UI"/>
                <a:cs typeface="Meiryo UI"/>
              </a:rPr>
              <a:t>本日決めたいこと</a:t>
            </a:r>
          </a:p>
        </p:txBody>
      </p:sp>
      <p:sp>
        <p:nvSpPr>
          <p:cNvPr id="3" name="Oval 2"/>
          <p:cNvSpPr/>
          <p:nvPr/>
        </p:nvSpPr>
        <p:spPr>
          <a:xfrm>
            <a:off x="822960" y="1600200"/>
            <a:ext cx="548640" cy="548640"/>
          </a:xfrm>
          <a:prstGeom prst="ellipse">
            <a:avLst/>
          </a:prstGeom>
          <a:solidFill>
            <a:srgbClr val="B07D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700" b="1">
                <a:solidFill>
                  <a:srgbClr val="FFFFFF"/>
                </a:solidFill>
                <a:latin typeface="Meiryo UI"/>
                <a:ea typeface="Meiryo UI"/>
                <a:cs typeface="Meiryo UI"/>
              </a:rPr>
              <a:t>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54480" y="1554480"/>
            <a:ext cx="4572000" cy="6400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FFFFFF"/>
                </a:solidFill>
                <a:latin typeface="Meiryo UI"/>
                <a:ea typeface="Meiryo UI"/>
                <a:cs typeface="Meiryo UI"/>
              </a:rPr>
              <a:t>鏡像の式は符号付きで確定してよいか</a:t>
            </a:r>
          </a:p>
        </p:txBody>
      </p:sp>
      <p:sp>
        <p:nvSpPr>
          <p:cNvPr id="5" name="Oval 4"/>
          <p:cNvSpPr/>
          <p:nvPr/>
        </p:nvSpPr>
        <p:spPr>
          <a:xfrm>
            <a:off x="6309360" y="1600200"/>
            <a:ext cx="548640" cy="548640"/>
          </a:xfrm>
          <a:prstGeom prst="ellipse">
            <a:avLst/>
          </a:prstGeom>
          <a:solidFill>
            <a:srgbClr val="B07D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700" b="1">
                <a:solidFill>
                  <a:srgbClr val="FFFFFF"/>
                </a:solidFill>
                <a:latin typeface="Meiryo UI"/>
                <a:ea typeface="Meiryo UI"/>
                <a:cs typeface="Meiryo UI"/>
              </a:rPr>
              <a:t>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40880" y="1554480"/>
            <a:ext cx="4572000" cy="6400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FFFFFF"/>
                </a:solidFill>
                <a:latin typeface="Meiryo UI"/>
                <a:ea typeface="Meiryo UI"/>
                <a:cs typeface="Meiryo UI"/>
              </a:rPr>
              <a:t>absorption.csv の出典／開口の上限／反射板の両面吸音</a:t>
            </a:r>
          </a:p>
        </p:txBody>
      </p:sp>
      <p:sp>
        <p:nvSpPr>
          <p:cNvPr id="7" name="Oval 6"/>
          <p:cNvSpPr/>
          <p:nvPr/>
        </p:nvSpPr>
        <p:spPr>
          <a:xfrm>
            <a:off x="822960" y="2697480"/>
            <a:ext cx="548640" cy="548640"/>
          </a:xfrm>
          <a:prstGeom prst="ellipse">
            <a:avLst/>
          </a:prstGeom>
          <a:solidFill>
            <a:srgbClr val="B07D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700" b="1">
                <a:solidFill>
                  <a:srgbClr val="FFFFFF"/>
                </a:solidFill>
                <a:latin typeface="Meiryo UI"/>
                <a:ea typeface="Meiryo UI"/>
                <a:cs typeface="Meiryo UI"/>
              </a:rPr>
              <a:t>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2651760"/>
            <a:ext cx="4572000" cy="6400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FFFFFF"/>
                </a:solidFill>
                <a:latin typeface="Meiryo UI"/>
                <a:ea typeface="Meiryo UI"/>
                <a:cs typeface="Meiryo UI"/>
              </a:rPr>
              <a:t>COMSOL 側の吸音率の入れ方・本数・モデルの版</a:t>
            </a:r>
          </a:p>
        </p:txBody>
      </p:sp>
      <p:sp>
        <p:nvSpPr>
          <p:cNvPr id="9" name="Oval 8"/>
          <p:cNvSpPr/>
          <p:nvPr/>
        </p:nvSpPr>
        <p:spPr>
          <a:xfrm>
            <a:off x="6309360" y="2697480"/>
            <a:ext cx="548640" cy="548640"/>
          </a:xfrm>
          <a:prstGeom prst="ellipse">
            <a:avLst/>
          </a:prstGeom>
          <a:solidFill>
            <a:srgbClr val="B07D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700" b="1">
                <a:solidFill>
                  <a:srgbClr val="FFFFFF"/>
                </a:solidFill>
                <a:latin typeface="Meiryo UI"/>
                <a:ea typeface="Meiryo UI"/>
                <a:cs typeface="Meiryo UI"/>
              </a:rPr>
              <a:t>④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40880" y="2651760"/>
            <a:ext cx="4572000" cy="6400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FFFFFF"/>
                </a:solidFill>
                <a:latin typeface="Meiryo UI"/>
                <a:ea typeface="Meiryo UI"/>
                <a:cs typeface="Meiryo UI"/>
              </a:rPr>
              <a:t>報告に使う残響時間（EDT・RTany・統計式）</a:t>
            </a:r>
          </a:p>
        </p:txBody>
      </p:sp>
      <p:sp>
        <p:nvSpPr>
          <p:cNvPr id="11" name="Oval 10"/>
          <p:cNvSpPr/>
          <p:nvPr/>
        </p:nvSpPr>
        <p:spPr>
          <a:xfrm>
            <a:off x="822960" y="3794760"/>
            <a:ext cx="548640" cy="548640"/>
          </a:xfrm>
          <a:prstGeom prst="ellipse">
            <a:avLst/>
          </a:prstGeom>
          <a:solidFill>
            <a:srgbClr val="B07D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700" b="1">
                <a:solidFill>
                  <a:srgbClr val="FFFFFF"/>
                </a:solidFill>
                <a:latin typeface="Meiryo UI"/>
                <a:ea typeface="Meiryo UI"/>
                <a:cs typeface="Meiryo UI"/>
              </a:rPr>
              <a:t>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3749040"/>
            <a:ext cx="4572000" cy="6400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FFFFFF"/>
                </a:solidFill>
                <a:latin typeface="Meiryo UI"/>
                <a:ea typeface="Meiryo UI"/>
                <a:cs typeface="Meiryo UI"/>
              </a:rPr>
              <a:t>STI に PWL・暗騒音を入れるか、値の出典</a:t>
            </a:r>
          </a:p>
        </p:txBody>
      </p:sp>
      <p:sp>
        <p:nvSpPr>
          <p:cNvPr id="13" name="Oval 12"/>
          <p:cNvSpPr/>
          <p:nvPr/>
        </p:nvSpPr>
        <p:spPr>
          <a:xfrm>
            <a:off x="6309360" y="3794760"/>
            <a:ext cx="548640" cy="548640"/>
          </a:xfrm>
          <a:prstGeom prst="ellipse">
            <a:avLst/>
          </a:prstGeom>
          <a:solidFill>
            <a:srgbClr val="B07D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700" b="1">
                <a:solidFill>
                  <a:srgbClr val="FFFFFF"/>
                </a:solidFill>
                <a:latin typeface="Meiryo UI"/>
                <a:ea typeface="Meiryo UI"/>
                <a:cs typeface="Meiryo UI"/>
              </a:rPr>
              <a:t>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40880" y="3749040"/>
            <a:ext cx="4572000" cy="6400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FFFFFF"/>
                </a:solidFill>
                <a:latin typeface="Meiryo UI"/>
                <a:ea typeface="Meiryo UI"/>
                <a:cs typeface="Meiryo UI"/>
              </a:rPr>
              <a:t>曲面の集約・指向性・INSERT・DWG 手順</a:t>
            </a:r>
          </a:p>
        </p:txBody>
      </p:sp>
      <p:sp>
        <p:nvSpPr>
          <p:cNvPr id="15" name="Oval 14"/>
          <p:cNvSpPr/>
          <p:nvPr/>
        </p:nvSpPr>
        <p:spPr>
          <a:xfrm>
            <a:off x="822960" y="4892040"/>
            <a:ext cx="548640" cy="548640"/>
          </a:xfrm>
          <a:prstGeom prst="ellipse">
            <a:avLst/>
          </a:prstGeom>
          <a:solidFill>
            <a:srgbClr val="B07D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700" b="1">
                <a:solidFill>
                  <a:srgbClr val="FFFFFF"/>
                </a:solidFill>
                <a:latin typeface="Meiryo UI"/>
                <a:ea typeface="Meiryo UI"/>
                <a:cs typeface="Meiryo UI"/>
              </a:rPr>
              <a:t>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54480" y="4846320"/>
            <a:ext cx="4572000" cy="6400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FFFFFF"/>
                </a:solidFill>
                <a:latin typeface="Meiryo UI"/>
                <a:ea typeface="Meiryo UI"/>
                <a:cs typeface="Meiryo UI"/>
              </a:rPr>
              <a:t>ブランチの承認・吸音材リスト・公開範囲</a:t>
            </a:r>
          </a:p>
        </p:txBody>
      </p:sp>
      <p:sp>
        <p:nvSpPr>
          <p:cNvPr id="17" name="Oval 16"/>
          <p:cNvSpPr/>
          <p:nvPr/>
        </p:nvSpPr>
        <p:spPr>
          <a:xfrm>
            <a:off x="6309360" y="4892040"/>
            <a:ext cx="548640" cy="548640"/>
          </a:xfrm>
          <a:prstGeom prst="ellipse">
            <a:avLst/>
          </a:prstGeom>
          <a:solidFill>
            <a:srgbClr val="B07D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700" b="1">
                <a:solidFill>
                  <a:srgbClr val="FFFFFF"/>
                </a:solidFill>
                <a:latin typeface="Meiryo UI"/>
                <a:ea typeface="Meiryo UI"/>
                <a:cs typeface="Meiryo UI"/>
              </a:rPr>
              <a:t>⑧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40880" y="4846320"/>
            <a:ext cx="4572000" cy="6400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FFFFFF"/>
                </a:solidFill>
                <a:latin typeface="Meiryo UI"/>
                <a:ea typeface="Meiryo UI"/>
                <a:cs typeface="Meiryo UI"/>
              </a:rPr>
              <a:t>GUI 統合の土台と面の確認画面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6126480"/>
            <a:ext cx="105156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C9DBD7"/>
                </a:solidFill>
                <a:latin typeface="Meiryo UI"/>
                <a:ea typeface="Meiryo UI"/>
                <a:cs typeface="Meiryo UI"/>
              </a:rPr>
              <a:t>決まった内容は TODO.md と CLAUDE.md に反映します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