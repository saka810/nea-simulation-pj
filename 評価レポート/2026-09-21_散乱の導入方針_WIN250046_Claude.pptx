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863840" y="-2011680"/>
            <a:ext cx="6766560" cy="6766560"/>
          </a:xfrm>
          <a:prstGeom prst="ellipse">
            <a:avLst/>
          </a:prstGeom>
          <a:solidFill>
            <a:srgbClr val="2431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35440" y="3108960"/>
            <a:ext cx="4206240" cy="4206240"/>
          </a:xfrm>
          <a:prstGeom prst="ellipse">
            <a:avLst/>
          </a:prstGeom>
          <a:solidFill>
            <a:srgbClr val="1F2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74519"/>
            <a:ext cx="7863840" cy="384048"/>
          </a:xfrm>
          <a:prstGeom prst="rect">
            <a:avLst/>
          </a:prstGeom>
          <a:noFill/>
        </p:spPr>
        <p:txBody>
          <a:bodyPr wrap="square" lIns="0" rIns="0" tIns="0" bIns="0" anchor="t">
            <a:spAutoFit/>
          </a:bodyPr>
          <a:lstStyle/>
          <a:p>
            <a:pPr algn="l">
              <a:lnSpc>
                <a:spcPct val="115000"/>
              </a:lnSpc>
              <a:spcAft>
                <a:spcPts val="0"/>
              </a:spcAft>
            </a:pPr>
            <a:r>
              <a:rPr sz="1400" b="1">
                <a:solidFill>
                  <a:srgbClr val="E0932F"/>
                </a:solidFill>
                <a:latin typeface="Meiryo"/>
              </a:rPr>
              <a:t>幾何音響シミュレーション（NEA PJ）</a:t>
            </a:r>
          </a:p>
        </p:txBody>
      </p:sp>
      <p:sp>
        <p:nvSpPr>
          <p:cNvPr id="6" name="TextBox 5"/>
          <p:cNvSpPr txBox="1"/>
          <p:nvPr/>
        </p:nvSpPr>
        <p:spPr>
          <a:xfrm>
            <a:off x="566928" y="2340864"/>
            <a:ext cx="8229600" cy="1792224"/>
          </a:xfrm>
          <a:prstGeom prst="rect">
            <a:avLst/>
          </a:prstGeom>
          <a:noFill/>
        </p:spPr>
        <p:txBody>
          <a:bodyPr wrap="square" lIns="0" rIns="0" tIns="0" bIns="0" anchor="t">
            <a:spAutoFit/>
          </a:bodyPr>
          <a:lstStyle/>
          <a:p>
            <a:pPr algn="l">
              <a:lnSpc>
                <a:spcPct val="112000"/>
              </a:lnSpc>
              <a:spcAft>
                <a:spcPts val="0"/>
              </a:spcAft>
            </a:pPr>
            <a:r>
              <a:rPr sz="4000" b="1">
                <a:solidFill>
                  <a:srgbClr val="FFFFFF"/>
                </a:solidFill>
                <a:latin typeface="Meiryo"/>
              </a:rPr>
              <a:t>散乱（拡散反射）の</a:t>
            </a:r>
          </a:p>
          <a:p>
            <a:pPr algn="l">
              <a:lnSpc>
                <a:spcPct val="112000"/>
              </a:lnSpc>
              <a:spcAft>
                <a:spcPts val="0"/>
              </a:spcAft>
            </a:pPr>
            <a:r>
              <a:rPr sz="4000" b="1">
                <a:solidFill>
                  <a:srgbClr val="FFFFFF"/>
                </a:solidFill>
                <a:latin typeface="Meiryo"/>
              </a:rPr>
              <a:t>導入方針</a:t>
            </a:r>
          </a:p>
        </p:txBody>
      </p:sp>
      <p:sp>
        <p:nvSpPr>
          <p:cNvPr id="7" name="TextBox 6"/>
          <p:cNvSpPr txBox="1"/>
          <p:nvPr/>
        </p:nvSpPr>
        <p:spPr>
          <a:xfrm>
            <a:off x="566928" y="4261104"/>
            <a:ext cx="8046720" cy="822960"/>
          </a:xfrm>
          <a:prstGeom prst="rect">
            <a:avLst/>
          </a:prstGeom>
          <a:noFill/>
        </p:spPr>
        <p:txBody>
          <a:bodyPr wrap="square" lIns="0" rIns="0" tIns="0" bIns="0" anchor="t">
            <a:spAutoFit/>
          </a:bodyPr>
          <a:lstStyle/>
          <a:p>
            <a:pPr algn="l">
              <a:lnSpc>
                <a:spcPct val="115000"/>
              </a:lnSpc>
              <a:spcAft>
                <a:spcPts val="0"/>
              </a:spcAft>
            </a:pPr>
            <a:r>
              <a:rPr sz="1500" b="0">
                <a:solidFill>
                  <a:srgbClr val="C6D4E2"/>
                </a:solidFill>
                <a:latin typeface="Meiryo"/>
              </a:rPr>
              <a:t>方式の比較（計算コスト・精度・設定の難しさ）と、散乱係数の決め方</a:t>
            </a:r>
          </a:p>
        </p:txBody>
      </p:sp>
      <p:sp>
        <p:nvSpPr>
          <p:cNvPr id="8" name="Rectangle 7"/>
          <p:cNvSpPr/>
          <p:nvPr/>
        </p:nvSpPr>
        <p:spPr>
          <a:xfrm>
            <a:off x="566928" y="5138928"/>
            <a:ext cx="1188720" cy="41148"/>
          </a:xfrm>
          <a:prstGeom prst="rect">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5440680"/>
            <a:ext cx="8046720" cy="731520"/>
          </a:xfrm>
          <a:prstGeom prst="rect">
            <a:avLst/>
          </a:prstGeom>
          <a:noFill/>
        </p:spPr>
        <p:txBody>
          <a:bodyPr wrap="square" lIns="0" rIns="0" tIns="0" bIns="0" anchor="t">
            <a:spAutoFit/>
          </a:bodyPr>
          <a:lstStyle/>
          <a:p>
            <a:pPr algn="l">
              <a:lnSpc>
                <a:spcPct val="130000"/>
              </a:lnSpc>
              <a:spcAft>
                <a:spcPts val="0"/>
              </a:spcAft>
            </a:pPr>
            <a:r>
              <a:rPr sz="1150" b="0">
                <a:solidFill>
                  <a:srgbClr val="9FB0C4"/>
                </a:solidFill>
                <a:latin typeface="Meiryo"/>
              </a:rPr>
              <a:t>2026-09-21 ／ WIN250046 ／ Claude</a:t>
            </a:r>
          </a:p>
          <a:p>
            <a:pPr algn="l">
              <a:lnSpc>
                <a:spcPct val="130000"/>
              </a:lnSpc>
              <a:spcAft>
                <a:spcPts val="0"/>
              </a:spcAft>
            </a:pPr>
            <a:r>
              <a:rPr sz="1150" b="0">
                <a:solidFill>
                  <a:srgbClr val="9FB0C4"/>
                </a:solidFill>
                <a:latin typeface="Meiryo"/>
              </a:rPr>
              <a:t>★この資料は検討用です。プログラムにはまだ何も入れていません。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なぜ散乱が要るのか — 階段教室で起きていること</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残響時間が読めない。EDT・C50・STI は使えるが、T20 / T30 だけが信用できない</a:t>
            </a:r>
          </a:p>
        </p:txBody>
      </p:sp>
      <p:sp>
        <p:nvSpPr>
          <p:cNvPr id="4" name="TextBox 3"/>
          <p:cNvSpPr txBox="1"/>
          <p:nvPr/>
        </p:nvSpPr>
        <p:spPr>
          <a:xfrm>
            <a:off x="566928" y="1600200"/>
            <a:ext cx="3383280" cy="932688"/>
          </a:xfrm>
          <a:prstGeom prst="rect">
            <a:avLst/>
          </a:prstGeom>
          <a:noFill/>
        </p:spPr>
        <p:txBody>
          <a:bodyPr wrap="square" lIns="0" rIns="0" tIns="0" bIns="0" anchor="t">
            <a:spAutoFit/>
          </a:bodyPr>
          <a:lstStyle/>
          <a:p>
            <a:pPr algn="ctr">
              <a:lnSpc>
                <a:spcPct val="115000"/>
              </a:lnSpc>
              <a:spcAft>
                <a:spcPts val="0"/>
              </a:spcAft>
            </a:pPr>
            <a:r>
              <a:rPr sz="4400" b="1">
                <a:solidFill>
                  <a:srgbClr val="E0932F"/>
                </a:solidFill>
                <a:latin typeface="Meiryo"/>
              </a:rPr>
              <a:t>3.35 倍</a:t>
            </a:r>
          </a:p>
        </p:txBody>
      </p:sp>
      <p:sp>
        <p:nvSpPr>
          <p:cNvPr id="5" name="TextBox 4"/>
          <p:cNvSpPr txBox="1"/>
          <p:nvPr/>
        </p:nvSpPr>
        <p:spPr>
          <a:xfrm>
            <a:off x="566928" y="2496312"/>
            <a:ext cx="3383280" cy="310896"/>
          </a:xfrm>
          <a:prstGeom prst="rect">
            <a:avLst/>
          </a:prstGeom>
          <a:noFill/>
        </p:spPr>
        <p:txBody>
          <a:bodyPr wrap="square" lIns="0" rIns="0" tIns="0" bIns="0" anchor="t">
            <a:spAutoFit/>
          </a:bodyPr>
          <a:lstStyle/>
          <a:p>
            <a:pPr algn="ctr">
              <a:lnSpc>
                <a:spcPct val="115000"/>
              </a:lnSpc>
              <a:spcAft>
                <a:spcPts val="0"/>
              </a:spcAft>
            </a:pPr>
            <a:r>
              <a:rPr sz="1250" b="1">
                <a:solidFill>
                  <a:srgbClr val="22262B"/>
                </a:solidFill>
                <a:latin typeface="Meiryo"/>
              </a:rPr>
              <a:t>T30 が理論値の</a:t>
            </a:r>
          </a:p>
        </p:txBody>
      </p:sp>
      <p:sp>
        <p:nvSpPr>
          <p:cNvPr id="6" name="TextBox 5"/>
          <p:cNvSpPr txBox="1"/>
          <p:nvPr/>
        </p:nvSpPr>
        <p:spPr>
          <a:xfrm>
            <a:off x="566928" y="2843784"/>
            <a:ext cx="3383280" cy="585216"/>
          </a:xfrm>
          <a:prstGeom prst="rect">
            <a:avLst/>
          </a:prstGeom>
          <a:noFill/>
        </p:spPr>
        <p:txBody>
          <a:bodyPr wrap="square" lIns="0" rIns="0" tIns="0" bIns="0" anchor="t">
            <a:spAutoFit/>
          </a:bodyPr>
          <a:lstStyle/>
          <a:p>
            <a:pPr algn="ctr">
              <a:lnSpc>
                <a:spcPct val="115000"/>
              </a:lnSpc>
              <a:spcAft>
                <a:spcPts val="0"/>
              </a:spcAft>
            </a:pPr>
            <a:r>
              <a:rPr sz="1050" b="0">
                <a:solidFill>
                  <a:srgbClr val="606A76"/>
                </a:solidFill>
                <a:latin typeface="Meiryo"/>
              </a:rPr>
              <a:t>吸音を床と天井に集中させた室での実測。</a:t>
            </a:r>
          </a:p>
          <a:p>
            <a:pPr algn="ctr">
              <a:lnSpc>
                <a:spcPct val="115000"/>
              </a:lnSpc>
              <a:spcAft>
                <a:spcPts val="0"/>
              </a:spcAft>
            </a:pPr>
            <a:r>
              <a:rPr sz="1050" b="0">
                <a:solidFill>
                  <a:srgbClr val="606A76"/>
                </a:solidFill>
                <a:latin typeface="Meiryo"/>
              </a:rPr>
              <a:t>一様に配ると 1.09 倍で収まる</a:t>
            </a:r>
          </a:p>
        </p:txBody>
      </p:sp>
      <p:sp>
        <p:nvSpPr>
          <p:cNvPr id="7" name="TextBox 6"/>
          <p:cNvSpPr txBox="1"/>
          <p:nvPr/>
        </p:nvSpPr>
        <p:spPr>
          <a:xfrm>
            <a:off x="4315968" y="1600200"/>
            <a:ext cx="3383280" cy="932688"/>
          </a:xfrm>
          <a:prstGeom prst="rect">
            <a:avLst/>
          </a:prstGeom>
          <a:noFill/>
        </p:spPr>
        <p:txBody>
          <a:bodyPr wrap="square" lIns="0" rIns="0" tIns="0" bIns="0" anchor="t">
            <a:spAutoFit/>
          </a:bodyPr>
          <a:lstStyle/>
          <a:p>
            <a:pPr algn="ctr">
              <a:lnSpc>
                <a:spcPct val="115000"/>
              </a:lnSpc>
              <a:spcAft>
                <a:spcPts val="0"/>
              </a:spcAft>
            </a:pPr>
            <a:r>
              <a:rPr sz="4400" b="1">
                <a:solidFill>
                  <a:srgbClr val="E0932F"/>
                </a:solidFill>
                <a:latin typeface="Meiryo"/>
              </a:rPr>
              <a:t>10〜25</a:t>
            </a:r>
          </a:p>
        </p:txBody>
      </p:sp>
      <p:sp>
        <p:nvSpPr>
          <p:cNvPr id="8" name="TextBox 7"/>
          <p:cNvSpPr txBox="1"/>
          <p:nvPr/>
        </p:nvSpPr>
        <p:spPr>
          <a:xfrm>
            <a:off x="4315968" y="2496312"/>
            <a:ext cx="3383280" cy="310896"/>
          </a:xfrm>
          <a:prstGeom prst="rect">
            <a:avLst/>
          </a:prstGeom>
          <a:noFill/>
        </p:spPr>
        <p:txBody>
          <a:bodyPr wrap="square" lIns="0" rIns="0" tIns="0" bIns="0" anchor="t">
            <a:spAutoFit/>
          </a:bodyPr>
          <a:lstStyle/>
          <a:p>
            <a:pPr algn="ctr">
              <a:lnSpc>
                <a:spcPct val="115000"/>
              </a:lnSpc>
              <a:spcAft>
                <a:spcPts val="0"/>
              </a:spcAft>
            </a:pPr>
            <a:r>
              <a:rPr sz="1250" b="1">
                <a:solidFill>
                  <a:srgbClr val="22262B"/>
                </a:solidFill>
                <a:latin typeface="Meiryo"/>
              </a:rPr>
              <a:t>非線形性 ξ</a:t>
            </a:r>
          </a:p>
        </p:txBody>
      </p:sp>
      <p:sp>
        <p:nvSpPr>
          <p:cNvPr id="9" name="TextBox 8"/>
          <p:cNvSpPr txBox="1"/>
          <p:nvPr/>
        </p:nvSpPr>
        <p:spPr>
          <a:xfrm>
            <a:off x="4315968" y="2843784"/>
            <a:ext cx="3383280" cy="585216"/>
          </a:xfrm>
          <a:prstGeom prst="rect">
            <a:avLst/>
          </a:prstGeom>
          <a:noFill/>
        </p:spPr>
        <p:txBody>
          <a:bodyPr wrap="square" lIns="0" rIns="0" tIns="0" bIns="0" anchor="t">
            <a:spAutoFit/>
          </a:bodyPr>
          <a:lstStyle/>
          <a:p>
            <a:pPr algn="ctr">
              <a:lnSpc>
                <a:spcPct val="115000"/>
              </a:lnSpc>
              <a:spcAft>
                <a:spcPts val="0"/>
              </a:spcAft>
            </a:pPr>
            <a:r>
              <a:rPr sz="1050" b="0">
                <a:solidFill>
                  <a:srgbClr val="606A76"/>
                </a:solidFill>
                <a:latin typeface="Meiryo"/>
              </a:rPr>
              <a:t>ISO 3382-2 の目安は ξ ≦ 10。</a:t>
            </a:r>
          </a:p>
          <a:p>
            <a:pPr algn="ctr">
              <a:lnSpc>
                <a:spcPct val="115000"/>
              </a:lnSpc>
              <a:spcAft>
                <a:spcPts val="0"/>
              </a:spcAft>
            </a:pPr>
            <a:r>
              <a:rPr sz="1050" b="0">
                <a:solidFill>
                  <a:srgbClr val="606A76"/>
                </a:solidFill>
                <a:latin typeface="Meiryo"/>
              </a:rPr>
              <a:t>125 Hz は受音点 3 点が 20 超</a:t>
            </a:r>
          </a:p>
        </p:txBody>
      </p:sp>
      <p:sp>
        <p:nvSpPr>
          <p:cNvPr id="10" name="TextBox 9"/>
          <p:cNvSpPr txBox="1"/>
          <p:nvPr/>
        </p:nvSpPr>
        <p:spPr>
          <a:xfrm>
            <a:off x="8183879" y="1600200"/>
            <a:ext cx="3429000" cy="932688"/>
          </a:xfrm>
          <a:prstGeom prst="rect">
            <a:avLst/>
          </a:prstGeom>
          <a:noFill/>
        </p:spPr>
        <p:txBody>
          <a:bodyPr wrap="square" lIns="0" rIns="0" tIns="0" bIns="0" anchor="t">
            <a:spAutoFit/>
          </a:bodyPr>
          <a:lstStyle/>
          <a:p>
            <a:pPr algn="ctr">
              <a:lnSpc>
                <a:spcPct val="115000"/>
              </a:lnSpc>
              <a:spcAft>
                <a:spcPts val="0"/>
              </a:spcAft>
            </a:pPr>
            <a:r>
              <a:rPr sz="4400" b="1">
                <a:solidFill>
                  <a:srgbClr val="E0932F"/>
                </a:solidFill>
                <a:latin typeface="Meiryo"/>
              </a:rPr>
              <a:t>10 % 超</a:t>
            </a:r>
          </a:p>
        </p:txBody>
      </p:sp>
      <p:sp>
        <p:nvSpPr>
          <p:cNvPr id="11" name="TextBox 10"/>
          <p:cNvSpPr txBox="1"/>
          <p:nvPr/>
        </p:nvSpPr>
        <p:spPr>
          <a:xfrm>
            <a:off x="8183879" y="2496312"/>
            <a:ext cx="3429000" cy="310896"/>
          </a:xfrm>
          <a:prstGeom prst="rect">
            <a:avLst/>
          </a:prstGeom>
          <a:noFill/>
        </p:spPr>
        <p:txBody>
          <a:bodyPr wrap="square" lIns="0" rIns="0" tIns="0" bIns="0" anchor="t">
            <a:spAutoFit/>
          </a:bodyPr>
          <a:lstStyle/>
          <a:p>
            <a:pPr algn="ctr">
              <a:lnSpc>
                <a:spcPct val="115000"/>
              </a:lnSpc>
              <a:spcAft>
                <a:spcPts val="0"/>
              </a:spcAft>
            </a:pPr>
            <a:r>
              <a:rPr sz="1250" b="1">
                <a:solidFill>
                  <a:srgbClr val="22262B"/>
                </a:solidFill>
                <a:latin typeface="Meiryo"/>
              </a:rPr>
              <a:t>曲率 C（125〜4 kHz）</a:t>
            </a:r>
          </a:p>
        </p:txBody>
      </p:sp>
      <p:sp>
        <p:nvSpPr>
          <p:cNvPr id="12" name="TextBox 11"/>
          <p:cNvSpPr txBox="1"/>
          <p:nvPr/>
        </p:nvSpPr>
        <p:spPr>
          <a:xfrm>
            <a:off x="8183879" y="2843784"/>
            <a:ext cx="3429000" cy="585216"/>
          </a:xfrm>
          <a:prstGeom prst="rect">
            <a:avLst/>
          </a:prstGeom>
          <a:noFill/>
        </p:spPr>
        <p:txBody>
          <a:bodyPr wrap="square" lIns="0" rIns="0" tIns="0" bIns="0" anchor="t">
            <a:spAutoFit/>
          </a:bodyPr>
          <a:lstStyle/>
          <a:p>
            <a:pPr algn="ctr">
              <a:lnSpc>
                <a:spcPct val="115000"/>
              </a:lnSpc>
              <a:spcAft>
                <a:spcPts val="0"/>
              </a:spcAft>
            </a:pPr>
            <a:r>
              <a:rPr sz="1050" b="0">
                <a:solidFill>
                  <a:srgbClr val="606A76"/>
                </a:solidFill>
                <a:latin typeface="Meiryo"/>
              </a:rPr>
              <a:t>減衰が二段階になり、</a:t>
            </a:r>
          </a:p>
          <a:p>
            <a:pPr algn="ctr">
              <a:lnSpc>
                <a:spcPct val="115000"/>
              </a:lnSpc>
              <a:spcAft>
                <a:spcPts val="0"/>
              </a:spcAft>
            </a:pPr>
            <a:r>
              <a:rPr sz="1050" b="0">
                <a:solidFill>
                  <a:srgbClr val="606A76"/>
                </a:solidFill>
                <a:latin typeface="Meiryo"/>
              </a:rPr>
              <a:t>30 dB を 1 本の直線で読めない</a:t>
            </a:r>
          </a:p>
        </p:txBody>
      </p:sp>
      <p:sp>
        <p:nvSpPr>
          <p:cNvPr id="13" name="Rounded Rectangle 12"/>
          <p:cNvSpPr/>
          <p:nvPr/>
        </p:nvSpPr>
        <p:spPr>
          <a:xfrm>
            <a:off x="566928" y="3950208"/>
            <a:ext cx="11057839" cy="1481328"/>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4133087"/>
            <a:ext cx="10509199" cy="1143000"/>
          </a:xfrm>
          <a:prstGeom prst="rect">
            <a:avLst/>
          </a:prstGeom>
          <a:noFill/>
        </p:spPr>
        <p:txBody>
          <a:bodyPr wrap="square" lIns="0" rIns="0" tIns="0" bIns="0" anchor="t">
            <a:spAutoFit/>
          </a:bodyPr>
          <a:lstStyle/>
          <a:p>
            <a:pPr algn="l">
              <a:lnSpc>
                <a:spcPct val="115000"/>
              </a:lnSpc>
              <a:spcAft>
                <a:spcPts val="500"/>
              </a:spcAft>
            </a:pPr>
            <a:r>
              <a:rPr sz="1500" b="1">
                <a:solidFill>
                  <a:srgbClr val="1B254B"/>
                </a:solidFill>
                <a:latin typeface="Meiryo"/>
              </a:rPr>
              <a:t>これはモデルの限界であって、室の性質ではない</a:t>
            </a:r>
          </a:p>
          <a:p>
            <a:pPr algn="l">
              <a:lnSpc>
                <a:spcPct val="130000"/>
              </a:lnSpc>
              <a:spcAft>
                <a:spcPts val="500"/>
              </a:spcAft>
            </a:pPr>
            <a:r>
              <a:rPr sz="1250" b="0">
                <a:solidFill>
                  <a:srgbClr val="22262B"/>
                </a:solidFill>
                <a:latin typeface="Meiryo"/>
              </a:rPr>
              <a:t>等価吸音面積をそろえて配置だけ変える実験で再現できた。実室の減衰はここまで曲がらない。全モジュールを調べたが、いまのプログラムに散乱係数も拡散反射も無く、反射は 100 % 鏡面である。</a:t>
            </a:r>
          </a:p>
        </p:txBody>
      </p:sp>
      <p:sp>
        <p:nvSpPr>
          <p:cNvPr id="15" name="TextBox 14"/>
          <p:cNvSpPr txBox="1"/>
          <p:nvPr/>
        </p:nvSpPr>
        <p:spPr>
          <a:xfrm>
            <a:off x="566928" y="5687568"/>
            <a:ext cx="11057839" cy="457200"/>
          </a:xfrm>
          <a:prstGeom prst="rect">
            <a:avLst/>
          </a:prstGeom>
          <a:noFill/>
        </p:spPr>
        <p:txBody>
          <a:bodyPr wrap="square" lIns="0" rIns="0" tIns="0" bIns="0" anchor="t">
            <a:spAutoFit/>
          </a:bodyPr>
          <a:lstStyle/>
          <a:p>
            <a:pPr algn="l">
              <a:lnSpc>
                <a:spcPct val="115000"/>
              </a:lnSpc>
              <a:spcAft>
                <a:spcPts val="0"/>
              </a:spcAft>
            </a:pPr>
            <a:r>
              <a:rPr sz="1150" b="0">
                <a:solidFill>
                  <a:srgbClr val="606A76"/>
                </a:solidFill>
                <a:latin typeface="Meiryo"/>
              </a:rPr>
              <a:t>市販ソフト（ODEON / CATT-Acoustic / RAVEN）が例外なく散乱係数を持っているのは、この問題を避けられないため。</a:t>
            </a:r>
          </a:p>
        </p:txBody>
      </p:sp>
      <p:sp>
        <p:nvSpPr>
          <p:cNvPr id="16" name="TextBox 15"/>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いまの作りと、散乱がそのままでは入らない理由</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★ここが検討の核心。どの方式を採るかは「この 3 段目をどう扱うか」で決まる</a:t>
            </a:r>
          </a:p>
        </p:txBody>
      </p:sp>
      <p:sp>
        <p:nvSpPr>
          <p:cNvPr id="4" name="Rounded Rectangle 3"/>
          <p:cNvSpPr/>
          <p:nvPr/>
        </p:nvSpPr>
        <p:spPr>
          <a:xfrm>
            <a:off x="566928" y="1572768"/>
            <a:ext cx="2670048" cy="1874519"/>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68096" y="1773936"/>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1</a:t>
            </a:r>
          </a:p>
        </p:txBody>
      </p:sp>
      <p:sp>
        <p:nvSpPr>
          <p:cNvPr id="6" name="TextBox 5"/>
          <p:cNvSpPr txBox="1"/>
          <p:nvPr/>
        </p:nvSpPr>
        <p:spPr>
          <a:xfrm>
            <a:off x="1298448" y="1819656"/>
            <a:ext cx="1783080" cy="292608"/>
          </a:xfrm>
          <a:prstGeom prst="rect">
            <a:avLst/>
          </a:prstGeom>
          <a:noFill/>
        </p:spPr>
        <p:txBody>
          <a:bodyPr wrap="square" lIns="0" rIns="0" tIns="0" bIns="0" anchor="t">
            <a:spAutoFit/>
          </a:bodyPr>
          <a:lstStyle/>
          <a:p>
            <a:pPr algn="l">
              <a:lnSpc>
                <a:spcPct val="115000"/>
              </a:lnSpc>
              <a:spcAft>
                <a:spcPts val="0"/>
              </a:spcAft>
            </a:pPr>
            <a:r>
              <a:rPr sz="1350" b="1">
                <a:solidFill>
                  <a:srgbClr val="1B254B"/>
                </a:solidFill>
                <a:latin typeface="Meiryo"/>
              </a:rPr>
              <a:t>音線法で探索</a:t>
            </a:r>
          </a:p>
        </p:txBody>
      </p:sp>
      <p:sp>
        <p:nvSpPr>
          <p:cNvPr id="7" name="TextBox 6"/>
          <p:cNvSpPr txBox="1"/>
          <p:nvPr/>
        </p:nvSpPr>
        <p:spPr>
          <a:xfrm>
            <a:off x="768096" y="2359152"/>
            <a:ext cx="2286000" cy="777240"/>
          </a:xfrm>
          <a:prstGeom prst="rect">
            <a:avLst/>
          </a:prstGeom>
          <a:noFill/>
        </p:spPr>
        <p:txBody>
          <a:bodyPr wrap="square" lIns="0" rIns="0" tIns="0" bIns="0" anchor="t">
            <a:spAutoFit/>
          </a:bodyPr>
          <a:lstStyle/>
          <a:p>
            <a:pPr algn="l">
              <a:lnSpc>
                <a:spcPct val="125000"/>
              </a:lnSpc>
              <a:spcAft>
                <a:spcPts val="0"/>
              </a:spcAft>
            </a:pPr>
            <a:r>
              <a:rPr sz="1100" b="0">
                <a:solidFill>
                  <a:srgbClr val="22262B"/>
                </a:solidFill>
                <a:latin typeface="Meiryo"/>
              </a:rPr>
              <a:t>どの壁をどの順に当たる経路が</a:t>
            </a:r>
          </a:p>
          <a:p>
            <a:pPr algn="l">
              <a:lnSpc>
                <a:spcPct val="125000"/>
              </a:lnSpc>
              <a:spcAft>
                <a:spcPts val="0"/>
              </a:spcAft>
            </a:pPr>
            <a:r>
              <a:rPr sz="1100" b="0">
                <a:solidFill>
                  <a:srgbClr val="22262B"/>
                </a:solidFill>
                <a:latin typeface="Meiryo"/>
              </a:rPr>
              <a:t>ありそうかを見つける</a:t>
            </a:r>
          </a:p>
        </p:txBody>
      </p:sp>
      <p:sp>
        <p:nvSpPr>
          <p:cNvPr id="8" name="TextBox 7"/>
          <p:cNvSpPr txBox="1"/>
          <p:nvPr/>
        </p:nvSpPr>
        <p:spPr>
          <a:xfrm>
            <a:off x="768096" y="3072384"/>
            <a:ext cx="2286000" cy="237744"/>
          </a:xfrm>
          <a:prstGeom prst="rect">
            <a:avLst/>
          </a:prstGeom>
          <a:noFill/>
        </p:spPr>
        <p:txBody>
          <a:bodyPr wrap="square" lIns="0" rIns="0" tIns="0" bIns="0" anchor="t">
            <a:spAutoFit/>
          </a:bodyPr>
          <a:lstStyle/>
          <a:p>
            <a:pPr algn="l">
              <a:lnSpc>
                <a:spcPct val="115000"/>
              </a:lnSpc>
              <a:spcAft>
                <a:spcPts val="0"/>
              </a:spcAft>
            </a:pPr>
            <a:r>
              <a:rPr sz="950" b="0">
                <a:solidFill>
                  <a:srgbClr val="606A76"/>
                </a:solidFill>
                <a:latin typeface="Consolas"/>
              </a:rPr>
              <a:t>loop_reflectionmesh</a:t>
            </a:r>
          </a:p>
        </p:txBody>
      </p:sp>
      <p:sp>
        <p:nvSpPr>
          <p:cNvPr id="9" name="Right Arrow 8"/>
          <p:cNvSpPr/>
          <p:nvPr/>
        </p:nvSpPr>
        <p:spPr>
          <a:xfrm>
            <a:off x="3273552" y="2340864"/>
            <a:ext cx="182880" cy="219456"/>
          </a:xfrm>
          <a:prstGeom prst="rightArrow">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56432" y="1572768"/>
            <a:ext cx="2670048" cy="1874519"/>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57600" y="1773936"/>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2</a:t>
            </a:r>
          </a:p>
        </p:txBody>
      </p:sp>
      <p:sp>
        <p:nvSpPr>
          <p:cNvPr id="12" name="TextBox 11"/>
          <p:cNvSpPr txBox="1"/>
          <p:nvPr/>
        </p:nvSpPr>
        <p:spPr>
          <a:xfrm>
            <a:off x="4187952" y="1819656"/>
            <a:ext cx="1783080" cy="292608"/>
          </a:xfrm>
          <a:prstGeom prst="rect">
            <a:avLst/>
          </a:prstGeom>
          <a:noFill/>
        </p:spPr>
        <p:txBody>
          <a:bodyPr wrap="square" lIns="0" rIns="0" tIns="0" bIns="0" anchor="t">
            <a:spAutoFit/>
          </a:bodyPr>
          <a:lstStyle/>
          <a:p>
            <a:pPr algn="l">
              <a:lnSpc>
                <a:spcPct val="115000"/>
              </a:lnSpc>
              <a:spcAft>
                <a:spcPts val="0"/>
              </a:spcAft>
            </a:pPr>
            <a:r>
              <a:rPr sz="1350" b="1">
                <a:solidFill>
                  <a:srgbClr val="1B254B"/>
                </a:solidFill>
                <a:latin typeface="Meiryo"/>
              </a:rPr>
              <a:t>重複を削除</a:t>
            </a:r>
          </a:p>
        </p:txBody>
      </p:sp>
      <p:sp>
        <p:nvSpPr>
          <p:cNvPr id="13" name="TextBox 12"/>
          <p:cNvSpPr txBox="1"/>
          <p:nvPr/>
        </p:nvSpPr>
        <p:spPr>
          <a:xfrm>
            <a:off x="3657600" y="2359152"/>
            <a:ext cx="2286000" cy="777240"/>
          </a:xfrm>
          <a:prstGeom prst="rect">
            <a:avLst/>
          </a:prstGeom>
          <a:noFill/>
        </p:spPr>
        <p:txBody>
          <a:bodyPr wrap="square" lIns="0" rIns="0" tIns="0" bIns="0" anchor="t">
            <a:spAutoFit/>
          </a:bodyPr>
          <a:lstStyle/>
          <a:p>
            <a:pPr algn="l">
              <a:lnSpc>
                <a:spcPct val="125000"/>
              </a:lnSpc>
              <a:spcAft>
                <a:spcPts val="0"/>
              </a:spcAft>
            </a:pPr>
            <a:r>
              <a:rPr sz="1100" b="0">
                <a:solidFill>
                  <a:srgbClr val="22262B"/>
                </a:solidFill>
                <a:latin typeface="Meiryo"/>
              </a:rPr>
              <a:t>同じ壁の並びの経路を</a:t>
            </a:r>
          </a:p>
          <a:p>
            <a:pPr algn="l">
              <a:lnSpc>
                <a:spcPct val="125000"/>
              </a:lnSpc>
              <a:spcAft>
                <a:spcPts val="0"/>
              </a:spcAft>
            </a:pPr>
            <a:r>
              <a:rPr sz="1100" b="0">
                <a:solidFill>
                  <a:srgbClr val="22262B"/>
                </a:solidFill>
                <a:latin typeface="Meiryo"/>
              </a:rPr>
              <a:t>1 本にまとめる</a:t>
            </a:r>
          </a:p>
        </p:txBody>
      </p:sp>
      <p:sp>
        <p:nvSpPr>
          <p:cNvPr id="14" name="TextBox 13"/>
          <p:cNvSpPr txBox="1"/>
          <p:nvPr/>
        </p:nvSpPr>
        <p:spPr>
          <a:xfrm>
            <a:off x="3657600" y="3072384"/>
            <a:ext cx="2286000" cy="237744"/>
          </a:xfrm>
          <a:prstGeom prst="rect">
            <a:avLst/>
          </a:prstGeom>
          <a:noFill/>
        </p:spPr>
        <p:txBody>
          <a:bodyPr wrap="square" lIns="0" rIns="0" tIns="0" bIns="0" anchor="t">
            <a:spAutoFit/>
          </a:bodyPr>
          <a:lstStyle/>
          <a:p>
            <a:pPr algn="l">
              <a:lnSpc>
                <a:spcPct val="115000"/>
              </a:lnSpc>
              <a:spcAft>
                <a:spcPts val="0"/>
              </a:spcAft>
            </a:pPr>
            <a:r>
              <a:rPr sz="950" b="0">
                <a:solidFill>
                  <a:srgbClr val="606A76"/>
                </a:solidFill>
                <a:latin typeface="Consolas"/>
              </a:rPr>
              <a:t>loop_deleteredundancy</a:t>
            </a:r>
          </a:p>
        </p:txBody>
      </p:sp>
      <p:sp>
        <p:nvSpPr>
          <p:cNvPr id="15" name="Right Arrow 14"/>
          <p:cNvSpPr/>
          <p:nvPr/>
        </p:nvSpPr>
        <p:spPr>
          <a:xfrm>
            <a:off x="6163056" y="2340864"/>
            <a:ext cx="182880" cy="219456"/>
          </a:xfrm>
          <a:prstGeom prst="rightArrow">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45936" y="1572768"/>
            <a:ext cx="2670048" cy="1874519"/>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547104" y="1773936"/>
            <a:ext cx="420624" cy="420624"/>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3</a:t>
            </a:r>
          </a:p>
        </p:txBody>
      </p:sp>
      <p:sp>
        <p:nvSpPr>
          <p:cNvPr id="18" name="TextBox 17"/>
          <p:cNvSpPr txBox="1"/>
          <p:nvPr/>
        </p:nvSpPr>
        <p:spPr>
          <a:xfrm>
            <a:off x="7077456" y="1819656"/>
            <a:ext cx="1783080" cy="292608"/>
          </a:xfrm>
          <a:prstGeom prst="rect">
            <a:avLst/>
          </a:prstGeom>
          <a:noFill/>
        </p:spPr>
        <p:txBody>
          <a:bodyPr wrap="square" lIns="0" rIns="0" tIns="0" bIns="0" anchor="t">
            <a:spAutoFit/>
          </a:bodyPr>
          <a:lstStyle/>
          <a:p>
            <a:pPr algn="l">
              <a:lnSpc>
                <a:spcPct val="115000"/>
              </a:lnSpc>
              <a:spcAft>
                <a:spcPts val="0"/>
              </a:spcAft>
            </a:pPr>
            <a:r>
              <a:rPr sz="1350" b="1">
                <a:solidFill>
                  <a:srgbClr val="1B254B"/>
                </a:solidFill>
                <a:latin typeface="Meiryo"/>
              </a:rPr>
              <a:t>虚音源で検算</a:t>
            </a:r>
          </a:p>
        </p:txBody>
      </p:sp>
      <p:sp>
        <p:nvSpPr>
          <p:cNvPr id="19" name="TextBox 18"/>
          <p:cNvSpPr txBox="1"/>
          <p:nvPr/>
        </p:nvSpPr>
        <p:spPr>
          <a:xfrm>
            <a:off x="6547104" y="2359152"/>
            <a:ext cx="2286000" cy="777240"/>
          </a:xfrm>
          <a:prstGeom prst="rect">
            <a:avLst/>
          </a:prstGeom>
          <a:noFill/>
        </p:spPr>
        <p:txBody>
          <a:bodyPr wrap="square" lIns="0" rIns="0" tIns="0" bIns="0" anchor="t">
            <a:spAutoFit/>
          </a:bodyPr>
          <a:lstStyle/>
          <a:p>
            <a:pPr algn="l">
              <a:lnSpc>
                <a:spcPct val="125000"/>
              </a:lnSpc>
              <a:spcAft>
                <a:spcPts val="0"/>
              </a:spcAft>
            </a:pPr>
            <a:r>
              <a:rPr sz="1100" b="0">
                <a:solidFill>
                  <a:srgbClr val="22262B"/>
                </a:solidFill>
                <a:latin typeface="Meiryo"/>
              </a:rPr>
              <a:t>鏡像を組み立てて経路を逆に辿り、</a:t>
            </a:r>
          </a:p>
          <a:p>
            <a:pPr algn="l">
              <a:lnSpc>
                <a:spcPct val="125000"/>
              </a:lnSpc>
              <a:spcAft>
                <a:spcPts val="0"/>
              </a:spcAft>
            </a:pPr>
            <a:r>
              <a:rPr sz="1100" b="0">
                <a:solidFill>
                  <a:srgbClr val="22262B"/>
                </a:solidFill>
                <a:latin typeface="Meiryo"/>
              </a:rPr>
              <a:t>厳密な時刻とエネルギーを出す</a:t>
            </a:r>
          </a:p>
        </p:txBody>
      </p:sp>
      <p:sp>
        <p:nvSpPr>
          <p:cNvPr id="20" name="TextBox 19"/>
          <p:cNvSpPr txBox="1"/>
          <p:nvPr/>
        </p:nvSpPr>
        <p:spPr>
          <a:xfrm>
            <a:off x="6547104" y="3072384"/>
            <a:ext cx="2286000" cy="237744"/>
          </a:xfrm>
          <a:prstGeom prst="rect">
            <a:avLst/>
          </a:prstGeom>
          <a:noFill/>
        </p:spPr>
        <p:txBody>
          <a:bodyPr wrap="square" lIns="0" rIns="0" tIns="0" bIns="0" anchor="t">
            <a:spAutoFit/>
          </a:bodyPr>
          <a:lstStyle/>
          <a:p>
            <a:pPr algn="l">
              <a:lnSpc>
                <a:spcPct val="115000"/>
              </a:lnSpc>
              <a:spcAft>
                <a:spcPts val="0"/>
              </a:spcAft>
            </a:pPr>
            <a:r>
              <a:rPr sz="950" b="0">
                <a:solidFill>
                  <a:srgbClr val="606A76"/>
                </a:solidFill>
                <a:latin typeface="Consolas"/>
              </a:rPr>
              <a:t>loop_noredundancy</a:t>
            </a:r>
          </a:p>
        </p:txBody>
      </p:sp>
      <p:sp>
        <p:nvSpPr>
          <p:cNvPr id="21" name="Right Arrow 20"/>
          <p:cNvSpPr/>
          <p:nvPr/>
        </p:nvSpPr>
        <p:spPr>
          <a:xfrm>
            <a:off x="9052560" y="2340864"/>
            <a:ext cx="182880" cy="219456"/>
          </a:xfrm>
          <a:prstGeom prst="rightArrow">
            <a:avLst/>
          </a:prstGeom>
          <a:solidFill>
            <a:srgbClr val="D8E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235440" y="1572768"/>
            <a:ext cx="2670048" cy="1874519"/>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436608" y="1773936"/>
            <a:ext cx="420624" cy="42062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4</a:t>
            </a:r>
          </a:p>
        </p:txBody>
      </p:sp>
      <p:sp>
        <p:nvSpPr>
          <p:cNvPr id="24" name="TextBox 23"/>
          <p:cNvSpPr txBox="1"/>
          <p:nvPr/>
        </p:nvSpPr>
        <p:spPr>
          <a:xfrm>
            <a:off x="9966960" y="1819656"/>
            <a:ext cx="1783080" cy="292608"/>
          </a:xfrm>
          <a:prstGeom prst="rect">
            <a:avLst/>
          </a:prstGeom>
          <a:noFill/>
        </p:spPr>
        <p:txBody>
          <a:bodyPr wrap="square" lIns="0" rIns="0" tIns="0" bIns="0" anchor="t">
            <a:spAutoFit/>
          </a:bodyPr>
          <a:lstStyle/>
          <a:p>
            <a:pPr algn="l">
              <a:lnSpc>
                <a:spcPct val="115000"/>
              </a:lnSpc>
              <a:spcAft>
                <a:spcPts val="0"/>
              </a:spcAft>
            </a:pPr>
            <a:r>
              <a:rPr sz="1350" b="1">
                <a:solidFill>
                  <a:srgbClr val="1B254B"/>
                </a:solidFill>
                <a:latin typeface="Meiryo"/>
              </a:rPr>
              <a:t>複素和で合成</a:t>
            </a:r>
          </a:p>
        </p:txBody>
      </p:sp>
      <p:sp>
        <p:nvSpPr>
          <p:cNvPr id="25" name="TextBox 24"/>
          <p:cNvSpPr txBox="1"/>
          <p:nvPr/>
        </p:nvSpPr>
        <p:spPr>
          <a:xfrm>
            <a:off x="9436608" y="2359152"/>
            <a:ext cx="2286000" cy="777240"/>
          </a:xfrm>
          <a:prstGeom prst="rect">
            <a:avLst/>
          </a:prstGeom>
          <a:noFill/>
        </p:spPr>
        <p:txBody>
          <a:bodyPr wrap="square" lIns="0" rIns="0" tIns="0" bIns="0" anchor="t">
            <a:spAutoFit/>
          </a:bodyPr>
          <a:lstStyle/>
          <a:p>
            <a:pPr algn="l">
              <a:lnSpc>
                <a:spcPct val="125000"/>
              </a:lnSpc>
              <a:spcAft>
                <a:spcPts val="0"/>
              </a:spcAft>
            </a:pPr>
            <a:r>
              <a:rPr sz="1100" b="0">
                <a:solidFill>
                  <a:srgbClr val="22262B"/>
                </a:solidFill>
                <a:latin typeface="Meiryo"/>
              </a:rPr>
              <a:t>虚音源からの波を位相ごと重ねて</a:t>
            </a:r>
          </a:p>
          <a:p>
            <a:pPr algn="l">
              <a:lnSpc>
                <a:spcPct val="125000"/>
              </a:lnSpc>
              <a:spcAft>
                <a:spcPts val="0"/>
              </a:spcAft>
            </a:pPr>
            <a:r>
              <a:rPr sz="1100" b="0">
                <a:solidFill>
                  <a:srgbClr val="22262B"/>
                </a:solidFill>
                <a:latin typeface="Meiryo"/>
              </a:rPr>
              <a:t>インパルス応答にする</a:t>
            </a:r>
          </a:p>
        </p:txBody>
      </p:sp>
      <p:sp>
        <p:nvSpPr>
          <p:cNvPr id="26" name="TextBox 25"/>
          <p:cNvSpPr txBox="1"/>
          <p:nvPr/>
        </p:nvSpPr>
        <p:spPr>
          <a:xfrm>
            <a:off x="9436608" y="3072384"/>
            <a:ext cx="2286000" cy="237744"/>
          </a:xfrm>
          <a:prstGeom prst="rect">
            <a:avLst/>
          </a:prstGeom>
          <a:noFill/>
        </p:spPr>
        <p:txBody>
          <a:bodyPr wrap="square" lIns="0" rIns="0" tIns="0" bIns="0" anchor="t">
            <a:spAutoFit/>
          </a:bodyPr>
          <a:lstStyle/>
          <a:p>
            <a:pPr algn="l">
              <a:lnSpc>
                <a:spcPct val="115000"/>
              </a:lnSpc>
              <a:spcAft>
                <a:spcPts val="0"/>
              </a:spcAft>
            </a:pPr>
            <a:r>
              <a:rPr sz="950" b="0">
                <a:solidFill>
                  <a:srgbClr val="606A76"/>
                </a:solidFill>
                <a:latin typeface="Consolas"/>
              </a:rPr>
              <a:t>impulse</a:t>
            </a:r>
          </a:p>
        </p:txBody>
      </p:sp>
      <p:sp>
        <p:nvSpPr>
          <p:cNvPr id="27" name="Rounded Rectangle 26"/>
          <p:cNvSpPr/>
          <p:nvPr/>
        </p:nvSpPr>
        <p:spPr>
          <a:xfrm>
            <a:off x="566928" y="3712463"/>
            <a:ext cx="11057839" cy="1481328"/>
          </a:xfrm>
          <a:prstGeom prst="roundRect">
            <a:avLst>
              <a:gd name="adj" fmla="val 4000"/>
            </a:avLst>
          </a:prstGeom>
          <a:solidFill>
            <a:srgbClr val="FAEEEE"/>
          </a:solidFill>
          <a:ln w="12700">
            <a:solidFill>
              <a:srgbClr val="A83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41247" y="3895344"/>
            <a:ext cx="10509199" cy="1188720"/>
          </a:xfrm>
          <a:prstGeom prst="rect">
            <a:avLst/>
          </a:prstGeom>
          <a:noFill/>
        </p:spPr>
        <p:txBody>
          <a:bodyPr wrap="square" lIns="0" rIns="0" tIns="0" bIns="0" anchor="t">
            <a:spAutoFit/>
          </a:bodyPr>
          <a:lstStyle/>
          <a:p>
            <a:pPr algn="l">
              <a:lnSpc>
                <a:spcPct val="115000"/>
              </a:lnSpc>
              <a:spcAft>
                <a:spcPts val="500"/>
              </a:spcAft>
            </a:pPr>
            <a:r>
              <a:rPr sz="1500" b="1">
                <a:solidFill>
                  <a:srgbClr val="A83232"/>
                </a:solidFill>
                <a:latin typeface="Meiryo"/>
              </a:rPr>
              <a:t>散乱した音線には虚音源が存在しない</a:t>
            </a:r>
          </a:p>
          <a:p>
            <a:pPr algn="l">
              <a:lnSpc>
                <a:spcPct val="130000"/>
              </a:lnSpc>
              <a:spcAft>
                <a:spcPts val="500"/>
              </a:spcAft>
            </a:pPr>
            <a:r>
              <a:rPr sz="1250" b="0">
                <a:solidFill>
                  <a:srgbClr val="22262B"/>
                </a:solidFill>
                <a:latin typeface="Meiryo"/>
              </a:rPr>
              <a:t>3 段目は「その壁に本当に当たるか」を鏡像で検算し、合わない経路をすべて却下する。拡散反射は鏡面の向きから外れるので、散乱を入れた音線は 1 本残らず却下される。つまり散乱の導入は、反射の式を 1 行変える話ではなく、計算の骨組みを変える話になる。</a:t>
            </a:r>
          </a:p>
        </p:txBody>
      </p:sp>
      <p:sp>
        <p:nvSpPr>
          <p:cNvPr id="29" name="TextBox 28"/>
          <p:cNvSpPr txBox="1"/>
          <p:nvPr/>
        </p:nvSpPr>
        <p:spPr>
          <a:xfrm>
            <a:off x="566928" y="5440680"/>
            <a:ext cx="11057839" cy="822960"/>
          </a:xfrm>
          <a:prstGeom prst="rect">
            <a:avLst/>
          </a:prstGeom>
          <a:noFill/>
        </p:spPr>
        <p:txBody>
          <a:bodyPr wrap="square" lIns="0" rIns="0" tIns="0" bIns="0" anchor="t">
            <a:spAutoFit/>
          </a:bodyPr>
          <a:lstStyle/>
          <a:p>
            <a:pPr algn="l">
              <a:lnSpc>
                <a:spcPct val="115000"/>
              </a:lnSpc>
              <a:spcAft>
                <a:spcPts val="300"/>
              </a:spcAft>
            </a:pPr>
            <a:r>
              <a:rPr sz="1200" b="1">
                <a:solidFill>
                  <a:srgbClr val="1B254B"/>
                </a:solidFill>
                <a:latin typeface="Meiryo"/>
              </a:rPr>
              <a:t>あわせて効いてくること：</a:t>
            </a:r>
          </a:p>
          <a:p>
            <a:pPr algn="l">
              <a:lnSpc>
                <a:spcPct val="125000"/>
              </a:lnSpc>
              <a:spcAft>
                <a:spcPts val="300"/>
              </a:spcAft>
            </a:pPr>
            <a:r>
              <a:rPr sz="1150" b="0">
                <a:solidFill>
                  <a:srgbClr val="22262B"/>
                </a:solidFill>
                <a:latin typeface="Meiryo"/>
              </a:rPr>
              <a:t>・インパルス応答は位相を持つ複素和（査読論文 式(2)）。散乱音には決まった位相が無いので、どこまでを複素和のまま扱うかを決める必要がある（「位相をどう扱うか」のページ）。</a:t>
            </a:r>
          </a:p>
        </p:txBody>
      </p:sp>
      <p:sp>
        <p:nvSpPr>
          <p:cNvPr id="30" name="TextBox 29"/>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用語の整理 — 「散乱係数 s」と「拡散係数 d」は別物</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ご指示の「拡散係数」は、シミュレーションで使う量としては散乱係数 s を指す</a:t>
            </a:r>
          </a:p>
        </p:txBody>
      </p:sp>
      <p:sp>
        <p:nvSpPr>
          <p:cNvPr id="4" name="Rounded Rectangle 3"/>
          <p:cNvSpPr/>
          <p:nvPr/>
        </p:nvSpPr>
        <p:spPr>
          <a:xfrm>
            <a:off x="566928" y="1572768"/>
            <a:ext cx="5440680" cy="2788920"/>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41247" y="1810512"/>
            <a:ext cx="457200" cy="457200"/>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s</a:t>
            </a:r>
          </a:p>
        </p:txBody>
      </p:sp>
      <p:sp>
        <p:nvSpPr>
          <p:cNvPr id="6" name="TextBox 5"/>
          <p:cNvSpPr txBox="1"/>
          <p:nvPr/>
        </p:nvSpPr>
        <p:spPr>
          <a:xfrm>
            <a:off x="1435607" y="1837943"/>
            <a:ext cx="4206240" cy="420624"/>
          </a:xfrm>
          <a:prstGeom prst="rect">
            <a:avLst/>
          </a:prstGeom>
          <a:noFill/>
        </p:spPr>
        <p:txBody>
          <a:bodyPr wrap="square" lIns="0" rIns="0" tIns="0" bIns="0" anchor="t">
            <a:spAutoFit/>
          </a:bodyPr>
          <a:lstStyle/>
          <a:p>
            <a:pPr algn="l">
              <a:lnSpc>
                <a:spcPct val="115000"/>
              </a:lnSpc>
              <a:spcAft>
                <a:spcPts val="0"/>
              </a:spcAft>
            </a:pPr>
            <a:r>
              <a:rPr sz="1700" b="1">
                <a:solidFill>
                  <a:srgbClr val="1B254B"/>
                </a:solidFill>
                <a:latin typeface="Meiryo"/>
              </a:rPr>
              <a:t>散乱係数 s</a:t>
            </a:r>
          </a:p>
        </p:txBody>
      </p:sp>
      <p:sp>
        <p:nvSpPr>
          <p:cNvPr id="7" name="TextBox 6"/>
          <p:cNvSpPr txBox="1"/>
          <p:nvPr/>
        </p:nvSpPr>
        <p:spPr>
          <a:xfrm>
            <a:off x="1435607" y="2212848"/>
            <a:ext cx="4480560" cy="274320"/>
          </a:xfrm>
          <a:prstGeom prst="rect">
            <a:avLst/>
          </a:prstGeom>
          <a:noFill/>
        </p:spPr>
        <p:txBody>
          <a:bodyPr wrap="square" lIns="0" rIns="0" tIns="0" bIns="0" anchor="t">
            <a:spAutoFit/>
          </a:bodyPr>
          <a:lstStyle/>
          <a:p>
            <a:pPr algn="l">
              <a:lnSpc>
                <a:spcPct val="115000"/>
              </a:lnSpc>
              <a:spcAft>
                <a:spcPts val="0"/>
              </a:spcAft>
            </a:pPr>
            <a:r>
              <a:rPr sz="1100" b="0">
                <a:solidFill>
                  <a:srgbClr val="606A76"/>
                </a:solidFill>
                <a:latin typeface="Meiryo"/>
              </a:rPr>
              <a:t>ISO 17497-1:2004（残響室法）</a:t>
            </a:r>
          </a:p>
        </p:txBody>
      </p:sp>
      <p:sp>
        <p:nvSpPr>
          <p:cNvPr id="8" name="TextBox 7"/>
          <p:cNvSpPr txBox="1"/>
          <p:nvPr/>
        </p:nvSpPr>
        <p:spPr>
          <a:xfrm>
            <a:off x="841247" y="2670048"/>
            <a:ext cx="4892040" cy="1600200"/>
          </a:xfrm>
          <a:prstGeom prst="rect">
            <a:avLst/>
          </a:prstGeom>
          <a:noFill/>
        </p:spPr>
        <p:txBody>
          <a:bodyPr wrap="square" lIns="0" rIns="0" tIns="0" bIns="0" anchor="t">
            <a:spAutoFit/>
          </a:bodyPr>
          <a:lstStyle/>
          <a:p>
            <a:pPr algn="l">
              <a:lnSpc>
                <a:spcPct val="122000"/>
              </a:lnSpc>
              <a:spcAft>
                <a:spcPts val="700"/>
              </a:spcAft>
            </a:pPr>
            <a:r>
              <a:rPr sz="1150" b="0">
                <a:solidFill>
                  <a:srgbClr val="22262B"/>
                </a:solidFill>
                <a:latin typeface="Meiryo"/>
              </a:rPr>
              <a:t>・鏡面方向から外れた音のエネルギーの割合。0〜1</a:t>
            </a:r>
          </a:p>
          <a:p>
            <a:pPr algn="l">
              <a:lnSpc>
                <a:spcPct val="122000"/>
              </a:lnSpc>
              <a:spcAft>
                <a:spcPts val="700"/>
              </a:spcAft>
            </a:pPr>
            <a:r>
              <a:rPr sz="1150" b="0">
                <a:solidFill>
                  <a:srgbClr val="22262B"/>
                </a:solidFill>
                <a:latin typeface="Meiryo"/>
              </a:rPr>
              <a:t>・「どちらへ散るか」は問わない。量だけを見る</a:t>
            </a:r>
          </a:p>
          <a:p>
            <a:pPr algn="l">
              <a:lnSpc>
                <a:spcPct val="122000"/>
              </a:lnSpc>
              <a:spcAft>
                <a:spcPts val="700"/>
              </a:spcAft>
            </a:pPr>
            <a:r>
              <a:rPr sz="1150" b="1">
                <a:solidFill>
                  <a:srgbClr val="1B254B"/>
                </a:solidFill>
                <a:latin typeface="Meiryo"/>
              </a:rPr>
              <a:t>・シミュレーションが使うのはこちら</a:t>
            </a:r>
          </a:p>
          <a:p>
            <a:pPr algn="l">
              <a:lnSpc>
                <a:spcPct val="122000"/>
              </a:lnSpc>
              <a:spcAft>
                <a:spcPts val="700"/>
              </a:spcAft>
            </a:pPr>
            <a:r>
              <a:rPr sz="1150" b="0">
                <a:solidFill>
                  <a:srgbClr val="22262B"/>
                </a:solidFill>
                <a:latin typeface="Meiryo"/>
              </a:rPr>
              <a:t>・試料を回転させながら測る（Vorländer &amp; Mommertz の方法）</a:t>
            </a:r>
          </a:p>
        </p:txBody>
      </p:sp>
      <p:sp>
        <p:nvSpPr>
          <p:cNvPr id="9" name="Rounded Rectangle 8"/>
          <p:cNvSpPr/>
          <p:nvPr/>
        </p:nvSpPr>
        <p:spPr>
          <a:xfrm>
            <a:off x="6327648" y="1572768"/>
            <a:ext cx="5294376" cy="278892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601968" y="1810512"/>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d</a:t>
            </a:r>
          </a:p>
        </p:txBody>
      </p:sp>
      <p:sp>
        <p:nvSpPr>
          <p:cNvPr id="11" name="TextBox 10"/>
          <p:cNvSpPr txBox="1"/>
          <p:nvPr/>
        </p:nvSpPr>
        <p:spPr>
          <a:xfrm>
            <a:off x="7196328" y="1837943"/>
            <a:ext cx="4114800" cy="420624"/>
          </a:xfrm>
          <a:prstGeom prst="rect">
            <a:avLst/>
          </a:prstGeom>
          <a:noFill/>
        </p:spPr>
        <p:txBody>
          <a:bodyPr wrap="square" lIns="0" rIns="0" tIns="0" bIns="0" anchor="t">
            <a:spAutoFit/>
          </a:bodyPr>
          <a:lstStyle/>
          <a:p>
            <a:pPr algn="l">
              <a:lnSpc>
                <a:spcPct val="115000"/>
              </a:lnSpc>
              <a:spcAft>
                <a:spcPts val="0"/>
              </a:spcAft>
            </a:pPr>
            <a:r>
              <a:rPr sz="1700" b="1">
                <a:solidFill>
                  <a:srgbClr val="1B254B"/>
                </a:solidFill>
                <a:latin typeface="Meiryo"/>
              </a:rPr>
              <a:t>拡散係数 d</a:t>
            </a:r>
          </a:p>
        </p:txBody>
      </p:sp>
      <p:sp>
        <p:nvSpPr>
          <p:cNvPr id="12" name="TextBox 11"/>
          <p:cNvSpPr txBox="1"/>
          <p:nvPr/>
        </p:nvSpPr>
        <p:spPr>
          <a:xfrm>
            <a:off x="7196328" y="2212848"/>
            <a:ext cx="4297680" cy="274320"/>
          </a:xfrm>
          <a:prstGeom prst="rect">
            <a:avLst/>
          </a:prstGeom>
          <a:noFill/>
        </p:spPr>
        <p:txBody>
          <a:bodyPr wrap="square" lIns="0" rIns="0" tIns="0" bIns="0" anchor="t">
            <a:spAutoFit/>
          </a:bodyPr>
          <a:lstStyle/>
          <a:p>
            <a:pPr algn="l">
              <a:lnSpc>
                <a:spcPct val="115000"/>
              </a:lnSpc>
              <a:spcAft>
                <a:spcPts val="0"/>
              </a:spcAft>
            </a:pPr>
            <a:r>
              <a:rPr sz="1100" b="0">
                <a:solidFill>
                  <a:srgbClr val="606A76"/>
                </a:solidFill>
                <a:latin typeface="Meiryo"/>
              </a:rPr>
              <a:t>ISO 17497-2:2012 ／ AES-4id</a:t>
            </a:r>
          </a:p>
        </p:txBody>
      </p:sp>
      <p:sp>
        <p:nvSpPr>
          <p:cNvPr id="13" name="TextBox 12"/>
          <p:cNvSpPr txBox="1"/>
          <p:nvPr/>
        </p:nvSpPr>
        <p:spPr>
          <a:xfrm>
            <a:off x="6601968" y="2670048"/>
            <a:ext cx="4745736" cy="1600200"/>
          </a:xfrm>
          <a:prstGeom prst="rect">
            <a:avLst/>
          </a:prstGeom>
          <a:noFill/>
        </p:spPr>
        <p:txBody>
          <a:bodyPr wrap="square" lIns="0" rIns="0" tIns="0" bIns="0" anchor="t">
            <a:spAutoFit/>
          </a:bodyPr>
          <a:lstStyle/>
          <a:p>
            <a:pPr algn="l">
              <a:lnSpc>
                <a:spcPct val="122000"/>
              </a:lnSpc>
              <a:spcAft>
                <a:spcPts val="700"/>
              </a:spcAft>
            </a:pPr>
            <a:r>
              <a:rPr sz="1150" b="0">
                <a:solidFill>
                  <a:srgbClr val="22262B"/>
                </a:solidFill>
                <a:latin typeface="Meiryo"/>
              </a:rPr>
              <a:t>・反射音が「どれだけ均一に散るか」の指向性の指標</a:t>
            </a:r>
          </a:p>
          <a:p>
            <a:pPr algn="l">
              <a:lnSpc>
                <a:spcPct val="122000"/>
              </a:lnSpc>
              <a:spcAft>
                <a:spcPts val="700"/>
              </a:spcAft>
            </a:pPr>
            <a:r>
              <a:rPr sz="1150" b="0">
                <a:solidFill>
                  <a:srgbClr val="22262B"/>
                </a:solidFill>
                <a:latin typeface="Meiryo"/>
              </a:rPr>
              <a:t>・拡散体（QRD など）の性能比較・製品選定に使う</a:t>
            </a:r>
          </a:p>
          <a:p>
            <a:pPr algn="l">
              <a:lnSpc>
                <a:spcPct val="122000"/>
              </a:lnSpc>
              <a:spcAft>
                <a:spcPts val="700"/>
              </a:spcAft>
            </a:pPr>
            <a:r>
              <a:rPr sz="1150" b="1">
                <a:solidFill>
                  <a:srgbClr val="A83232"/>
                </a:solidFill>
                <a:latin typeface="Meiryo"/>
              </a:rPr>
              <a:t>・室のシミュレーションには使わない</a:t>
            </a:r>
          </a:p>
          <a:p>
            <a:pPr algn="l">
              <a:lnSpc>
                <a:spcPct val="122000"/>
              </a:lnSpc>
              <a:spcAft>
                <a:spcPts val="700"/>
              </a:spcAft>
            </a:pPr>
            <a:r>
              <a:rPr sz="1150" b="0">
                <a:solidFill>
                  <a:srgbClr val="22262B"/>
                </a:solidFill>
                <a:latin typeface="Meiryo"/>
              </a:rPr>
              <a:t>・d が高くても s が高いとは限らない（別の量）</a:t>
            </a:r>
          </a:p>
        </p:txBody>
      </p:sp>
      <p:sp>
        <p:nvSpPr>
          <p:cNvPr id="14" name="Rounded Rectangle 13"/>
          <p:cNvSpPr/>
          <p:nvPr/>
        </p:nvSpPr>
        <p:spPr>
          <a:xfrm>
            <a:off x="566928" y="4590288"/>
            <a:ext cx="11057839" cy="1298448"/>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41247" y="4773168"/>
            <a:ext cx="10509199" cy="960120"/>
          </a:xfrm>
          <a:prstGeom prst="rect">
            <a:avLst/>
          </a:prstGeom>
          <a:noFill/>
        </p:spPr>
        <p:txBody>
          <a:bodyPr wrap="square" lIns="0" rIns="0" tIns="0" bIns="0" anchor="t">
            <a:spAutoFit/>
          </a:bodyPr>
          <a:lstStyle/>
          <a:p>
            <a:pPr algn="l">
              <a:lnSpc>
                <a:spcPct val="115000"/>
              </a:lnSpc>
              <a:spcAft>
                <a:spcPts val="500"/>
              </a:spcAft>
            </a:pPr>
            <a:r>
              <a:rPr sz="1300" b="1">
                <a:solidFill>
                  <a:srgbClr val="1B254B"/>
                </a:solidFill>
                <a:latin typeface="Meiryo"/>
              </a:rPr>
              <a:t>この資料では以後すべて「散乱係数 s」で書く。</a:t>
            </a:r>
          </a:p>
          <a:p>
            <a:pPr algn="l">
              <a:lnSpc>
                <a:spcPct val="130000"/>
              </a:lnSpc>
              <a:spcAft>
                <a:spcPts val="500"/>
              </a:spcAft>
            </a:pPr>
            <a:r>
              <a:rPr sz="1200" b="0">
                <a:solidFill>
                  <a:srgbClr val="22262B"/>
                </a:solidFill>
                <a:latin typeface="Meiryo"/>
              </a:rPr>
              <a:t>なお s は吸音率 α とは独立の量で、掛かる順番が決まっている。面に当たったエネルギーはまず α で吸われ、残った (1−α) のうち s の割合が拡散、(1−s) の割合が鏡面に向かう。</a:t>
            </a:r>
          </a:p>
        </p:txBody>
      </p:sp>
      <p:sp>
        <p:nvSpPr>
          <p:cNvPr id="16" name="TextBox 15"/>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導入のしかたは 5 通り</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A〜C は音線法の中で解く。D は別の解法。E は係数を使わずモデルで表す</a:t>
            </a:r>
          </a:p>
        </p:txBody>
      </p:sp>
      <p:sp>
        <p:nvSpPr>
          <p:cNvPr id="4" name="Rounded Rectangle 3"/>
          <p:cNvSpPr/>
          <p:nvPr/>
        </p:nvSpPr>
        <p:spPr>
          <a:xfrm>
            <a:off x="566928" y="1627632"/>
            <a:ext cx="2148840" cy="242316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435607" y="1828800"/>
            <a:ext cx="438912" cy="43891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A</a:t>
            </a:r>
          </a:p>
        </p:txBody>
      </p:sp>
      <p:sp>
        <p:nvSpPr>
          <p:cNvPr id="6" name="TextBox 5"/>
          <p:cNvSpPr txBox="1"/>
          <p:nvPr/>
        </p:nvSpPr>
        <p:spPr>
          <a:xfrm>
            <a:off x="713232" y="2432304"/>
            <a:ext cx="1856231" cy="566928"/>
          </a:xfrm>
          <a:prstGeom prst="rect">
            <a:avLst/>
          </a:prstGeom>
          <a:noFill/>
        </p:spPr>
        <p:txBody>
          <a:bodyPr wrap="square" lIns="0" rIns="0" tIns="0" bIns="0" anchor="t">
            <a:spAutoFit/>
          </a:bodyPr>
          <a:lstStyle/>
          <a:p>
            <a:pPr algn="ctr">
              <a:lnSpc>
                <a:spcPct val="115000"/>
              </a:lnSpc>
              <a:spcAft>
                <a:spcPts val="0"/>
              </a:spcAft>
            </a:pPr>
            <a:r>
              <a:rPr sz="1250" b="1">
                <a:solidFill>
                  <a:srgbClr val="1B254B"/>
                </a:solidFill>
                <a:latin typeface="Meiryo"/>
              </a:rPr>
              <a:t>ベクトル法（VBS）</a:t>
            </a:r>
          </a:p>
        </p:txBody>
      </p:sp>
      <p:sp>
        <p:nvSpPr>
          <p:cNvPr id="7" name="TextBox 6"/>
          <p:cNvSpPr txBox="1"/>
          <p:nvPr/>
        </p:nvSpPr>
        <p:spPr>
          <a:xfrm>
            <a:off x="713232" y="3127248"/>
            <a:ext cx="1856231" cy="777240"/>
          </a:xfrm>
          <a:prstGeom prst="rect">
            <a:avLst/>
          </a:prstGeom>
          <a:noFill/>
        </p:spPr>
        <p:txBody>
          <a:bodyPr wrap="square" lIns="0" rIns="0" tIns="0" bIns="0" anchor="t">
            <a:spAutoFit/>
          </a:bodyPr>
          <a:lstStyle/>
          <a:p>
            <a:pPr algn="ctr">
              <a:lnSpc>
                <a:spcPct val="125000"/>
              </a:lnSpc>
              <a:spcAft>
                <a:spcPts val="0"/>
              </a:spcAft>
            </a:pPr>
            <a:r>
              <a:rPr sz="1050" b="0">
                <a:solidFill>
                  <a:srgbClr val="22262B"/>
                </a:solidFill>
                <a:latin typeface="Meiryo"/>
              </a:rPr>
              <a:t>反射の向きを s に応じて散らす。</a:t>
            </a:r>
          </a:p>
          <a:p>
            <a:pPr algn="ctr">
              <a:lnSpc>
                <a:spcPct val="125000"/>
              </a:lnSpc>
              <a:spcAft>
                <a:spcPts val="0"/>
              </a:spcAft>
            </a:pPr>
            <a:r>
              <a:rPr sz="1050" b="0">
                <a:solidFill>
                  <a:srgbClr val="22262B"/>
                </a:solidFill>
                <a:latin typeface="Meiryo"/>
              </a:rPr>
              <a:t>音線は 1 本のまま</a:t>
            </a:r>
          </a:p>
        </p:txBody>
      </p:sp>
      <p:sp>
        <p:nvSpPr>
          <p:cNvPr id="8" name="Rounded Rectangle 7"/>
          <p:cNvSpPr/>
          <p:nvPr/>
        </p:nvSpPr>
        <p:spPr>
          <a:xfrm>
            <a:off x="2807208" y="1627632"/>
            <a:ext cx="2148840" cy="2423160"/>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675888" y="1828800"/>
            <a:ext cx="438912" cy="438912"/>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B</a:t>
            </a:r>
          </a:p>
        </p:txBody>
      </p:sp>
      <p:sp>
        <p:nvSpPr>
          <p:cNvPr id="10" name="TextBox 9"/>
          <p:cNvSpPr txBox="1"/>
          <p:nvPr/>
        </p:nvSpPr>
        <p:spPr>
          <a:xfrm>
            <a:off x="2953512" y="2432304"/>
            <a:ext cx="1856231" cy="566928"/>
          </a:xfrm>
          <a:prstGeom prst="rect">
            <a:avLst/>
          </a:prstGeom>
          <a:noFill/>
        </p:spPr>
        <p:txBody>
          <a:bodyPr wrap="square" lIns="0" rIns="0" tIns="0" bIns="0" anchor="t">
            <a:spAutoFit/>
          </a:bodyPr>
          <a:lstStyle/>
          <a:p>
            <a:pPr algn="ctr">
              <a:lnSpc>
                <a:spcPct val="115000"/>
              </a:lnSpc>
              <a:spcAft>
                <a:spcPts val="0"/>
              </a:spcAft>
            </a:pPr>
            <a:r>
              <a:rPr sz="1250" b="1">
                <a:solidFill>
                  <a:srgbClr val="1B254B"/>
                </a:solidFill>
                <a:latin typeface="Meiryo"/>
              </a:rPr>
              <a:t>確率的散乱</a:t>
            </a:r>
          </a:p>
          <a:p>
            <a:pPr algn="ctr">
              <a:lnSpc>
                <a:spcPct val="115000"/>
              </a:lnSpc>
              <a:spcAft>
                <a:spcPts val="0"/>
              </a:spcAft>
            </a:pPr>
            <a:r>
              <a:rPr sz="1250" b="1">
                <a:solidFill>
                  <a:srgbClr val="1B254B"/>
                </a:solidFill>
                <a:latin typeface="Meiryo"/>
              </a:rPr>
              <a:t>（モンテカルロ）</a:t>
            </a:r>
          </a:p>
        </p:txBody>
      </p:sp>
      <p:sp>
        <p:nvSpPr>
          <p:cNvPr id="11" name="TextBox 10"/>
          <p:cNvSpPr txBox="1"/>
          <p:nvPr/>
        </p:nvSpPr>
        <p:spPr>
          <a:xfrm>
            <a:off x="2953512" y="3127248"/>
            <a:ext cx="1856231" cy="777240"/>
          </a:xfrm>
          <a:prstGeom prst="rect">
            <a:avLst/>
          </a:prstGeom>
          <a:noFill/>
        </p:spPr>
        <p:txBody>
          <a:bodyPr wrap="square" lIns="0" rIns="0" tIns="0" bIns="0" anchor="t">
            <a:spAutoFit/>
          </a:bodyPr>
          <a:lstStyle/>
          <a:p>
            <a:pPr algn="ctr">
              <a:lnSpc>
                <a:spcPct val="125000"/>
              </a:lnSpc>
              <a:spcAft>
                <a:spcPts val="0"/>
              </a:spcAft>
            </a:pPr>
            <a:r>
              <a:rPr sz="1050" b="0">
                <a:solidFill>
                  <a:srgbClr val="22262B"/>
                </a:solidFill>
                <a:latin typeface="Meiryo"/>
              </a:rPr>
              <a:t>反射ごとに鏡面か拡散かを</a:t>
            </a:r>
          </a:p>
          <a:p>
            <a:pPr algn="ctr">
              <a:lnSpc>
                <a:spcPct val="125000"/>
              </a:lnSpc>
              <a:spcAft>
                <a:spcPts val="0"/>
              </a:spcAft>
            </a:pPr>
            <a:r>
              <a:rPr sz="1050" b="0">
                <a:solidFill>
                  <a:srgbClr val="22262B"/>
                </a:solidFill>
                <a:latin typeface="Meiryo"/>
              </a:rPr>
              <a:t>くじで決める（Lambert）</a:t>
            </a:r>
          </a:p>
        </p:txBody>
      </p:sp>
      <p:sp>
        <p:nvSpPr>
          <p:cNvPr id="12" name="Rounded Rectangle 11"/>
          <p:cNvSpPr/>
          <p:nvPr/>
        </p:nvSpPr>
        <p:spPr>
          <a:xfrm>
            <a:off x="5047488" y="1627632"/>
            <a:ext cx="2148840" cy="2423160"/>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916168" y="1828800"/>
            <a:ext cx="438912" cy="438912"/>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C</a:t>
            </a:r>
          </a:p>
        </p:txBody>
      </p:sp>
      <p:sp>
        <p:nvSpPr>
          <p:cNvPr id="14" name="TextBox 13"/>
          <p:cNvSpPr txBox="1"/>
          <p:nvPr/>
        </p:nvSpPr>
        <p:spPr>
          <a:xfrm>
            <a:off x="5193792" y="2432304"/>
            <a:ext cx="1856231" cy="566928"/>
          </a:xfrm>
          <a:prstGeom prst="rect">
            <a:avLst/>
          </a:prstGeom>
          <a:noFill/>
        </p:spPr>
        <p:txBody>
          <a:bodyPr wrap="square" lIns="0" rIns="0" tIns="0" bIns="0" anchor="t">
            <a:spAutoFit/>
          </a:bodyPr>
          <a:lstStyle/>
          <a:p>
            <a:pPr algn="ctr">
              <a:lnSpc>
                <a:spcPct val="115000"/>
              </a:lnSpc>
              <a:spcAft>
                <a:spcPts val="0"/>
              </a:spcAft>
            </a:pPr>
            <a:r>
              <a:rPr sz="1250" b="1">
                <a:solidFill>
                  <a:srgbClr val="1B254B"/>
                </a:solidFill>
                <a:latin typeface="Meiryo"/>
              </a:rPr>
              <a:t>2 次音源</a:t>
            </a:r>
          </a:p>
          <a:p>
            <a:pPr algn="ctr">
              <a:lnSpc>
                <a:spcPct val="115000"/>
              </a:lnSpc>
              <a:spcAft>
                <a:spcPts val="0"/>
              </a:spcAft>
            </a:pPr>
            <a:r>
              <a:rPr sz="1250" b="1">
                <a:solidFill>
                  <a:srgbClr val="1B254B"/>
                </a:solidFill>
                <a:latin typeface="Meiryo"/>
              </a:rPr>
              <a:t>（diffuse rain）</a:t>
            </a:r>
          </a:p>
        </p:txBody>
      </p:sp>
      <p:sp>
        <p:nvSpPr>
          <p:cNvPr id="15" name="TextBox 14"/>
          <p:cNvSpPr txBox="1"/>
          <p:nvPr/>
        </p:nvSpPr>
        <p:spPr>
          <a:xfrm>
            <a:off x="5193792" y="3127248"/>
            <a:ext cx="1856231" cy="777240"/>
          </a:xfrm>
          <a:prstGeom prst="rect">
            <a:avLst/>
          </a:prstGeom>
          <a:noFill/>
        </p:spPr>
        <p:txBody>
          <a:bodyPr wrap="square" lIns="0" rIns="0" tIns="0" bIns="0" anchor="t">
            <a:spAutoFit/>
          </a:bodyPr>
          <a:lstStyle/>
          <a:p>
            <a:pPr algn="ctr">
              <a:lnSpc>
                <a:spcPct val="125000"/>
              </a:lnSpc>
              <a:spcAft>
                <a:spcPts val="0"/>
              </a:spcAft>
            </a:pPr>
            <a:r>
              <a:rPr sz="1050" b="0">
                <a:solidFill>
                  <a:srgbClr val="22262B"/>
                </a:solidFill>
                <a:latin typeface="Meiryo"/>
              </a:rPr>
              <a:t>当たった面から受音点へ</a:t>
            </a:r>
          </a:p>
          <a:p>
            <a:pPr algn="ctr">
              <a:lnSpc>
                <a:spcPct val="125000"/>
              </a:lnSpc>
              <a:spcAft>
                <a:spcPts val="0"/>
              </a:spcAft>
            </a:pPr>
            <a:r>
              <a:rPr sz="1050" b="0">
                <a:solidFill>
                  <a:srgbClr val="22262B"/>
                </a:solidFill>
                <a:latin typeface="Meiryo"/>
              </a:rPr>
              <a:t>直接エネルギーを送る</a:t>
            </a:r>
          </a:p>
        </p:txBody>
      </p:sp>
      <p:sp>
        <p:nvSpPr>
          <p:cNvPr id="16" name="Rounded Rectangle 15"/>
          <p:cNvSpPr/>
          <p:nvPr/>
        </p:nvSpPr>
        <p:spPr>
          <a:xfrm>
            <a:off x="7287768" y="1627632"/>
            <a:ext cx="2148840" cy="242316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156448" y="1828800"/>
            <a:ext cx="438912" cy="43891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D</a:t>
            </a:r>
          </a:p>
        </p:txBody>
      </p:sp>
      <p:sp>
        <p:nvSpPr>
          <p:cNvPr id="18" name="TextBox 17"/>
          <p:cNvSpPr txBox="1"/>
          <p:nvPr/>
        </p:nvSpPr>
        <p:spPr>
          <a:xfrm>
            <a:off x="7434072" y="2432304"/>
            <a:ext cx="1856231" cy="566928"/>
          </a:xfrm>
          <a:prstGeom prst="rect">
            <a:avLst/>
          </a:prstGeom>
          <a:noFill/>
        </p:spPr>
        <p:txBody>
          <a:bodyPr wrap="square" lIns="0" rIns="0" tIns="0" bIns="0" anchor="t">
            <a:spAutoFit/>
          </a:bodyPr>
          <a:lstStyle/>
          <a:p>
            <a:pPr algn="ctr">
              <a:lnSpc>
                <a:spcPct val="115000"/>
              </a:lnSpc>
              <a:spcAft>
                <a:spcPts val="0"/>
              </a:spcAft>
            </a:pPr>
            <a:r>
              <a:rPr sz="1250" b="1">
                <a:solidFill>
                  <a:srgbClr val="1B254B"/>
                </a:solidFill>
                <a:latin typeface="Meiryo"/>
              </a:rPr>
              <a:t>放射伝達</a:t>
            </a:r>
          </a:p>
          <a:p>
            <a:pPr algn="ctr">
              <a:lnSpc>
                <a:spcPct val="115000"/>
              </a:lnSpc>
              <a:spcAft>
                <a:spcPts val="0"/>
              </a:spcAft>
            </a:pPr>
            <a:r>
              <a:rPr sz="1250" b="1">
                <a:solidFill>
                  <a:srgbClr val="1B254B"/>
                </a:solidFill>
                <a:latin typeface="Meiryo"/>
              </a:rPr>
              <a:t>（radiosity / ART）</a:t>
            </a:r>
          </a:p>
        </p:txBody>
      </p:sp>
      <p:sp>
        <p:nvSpPr>
          <p:cNvPr id="19" name="TextBox 18"/>
          <p:cNvSpPr txBox="1"/>
          <p:nvPr/>
        </p:nvSpPr>
        <p:spPr>
          <a:xfrm>
            <a:off x="7434072" y="3127248"/>
            <a:ext cx="1856231" cy="777240"/>
          </a:xfrm>
          <a:prstGeom prst="rect">
            <a:avLst/>
          </a:prstGeom>
          <a:noFill/>
        </p:spPr>
        <p:txBody>
          <a:bodyPr wrap="square" lIns="0" rIns="0" tIns="0" bIns="0" anchor="t">
            <a:spAutoFit/>
          </a:bodyPr>
          <a:lstStyle/>
          <a:p>
            <a:pPr algn="ctr">
              <a:lnSpc>
                <a:spcPct val="125000"/>
              </a:lnSpc>
              <a:spcAft>
                <a:spcPts val="0"/>
              </a:spcAft>
            </a:pPr>
            <a:r>
              <a:rPr sz="1050" b="0">
                <a:solidFill>
                  <a:srgbClr val="22262B"/>
                </a:solidFill>
                <a:latin typeface="Meiryo"/>
              </a:rPr>
              <a:t>面と面のエネルギー交換を</a:t>
            </a:r>
          </a:p>
          <a:p>
            <a:pPr algn="ctr">
              <a:lnSpc>
                <a:spcPct val="125000"/>
              </a:lnSpc>
              <a:spcAft>
                <a:spcPts val="0"/>
              </a:spcAft>
            </a:pPr>
            <a:r>
              <a:rPr sz="1050" b="0">
                <a:solidFill>
                  <a:srgbClr val="22262B"/>
                </a:solidFill>
                <a:latin typeface="Meiryo"/>
              </a:rPr>
              <a:t>先に解く。音線を使わない</a:t>
            </a:r>
          </a:p>
        </p:txBody>
      </p:sp>
      <p:sp>
        <p:nvSpPr>
          <p:cNvPr id="20" name="Rounded Rectangle 19"/>
          <p:cNvSpPr/>
          <p:nvPr/>
        </p:nvSpPr>
        <p:spPr>
          <a:xfrm>
            <a:off x="9528048" y="1627632"/>
            <a:ext cx="2148840" cy="242316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0396728" y="1828800"/>
            <a:ext cx="438912" cy="43891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E</a:t>
            </a:r>
          </a:p>
        </p:txBody>
      </p:sp>
      <p:sp>
        <p:nvSpPr>
          <p:cNvPr id="22" name="TextBox 21"/>
          <p:cNvSpPr txBox="1"/>
          <p:nvPr/>
        </p:nvSpPr>
        <p:spPr>
          <a:xfrm>
            <a:off x="9674352" y="2432304"/>
            <a:ext cx="1856231" cy="566928"/>
          </a:xfrm>
          <a:prstGeom prst="rect">
            <a:avLst/>
          </a:prstGeom>
          <a:noFill/>
        </p:spPr>
        <p:txBody>
          <a:bodyPr wrap="square" lIns="0" rIns="0" tIns="0" bIns="0" anchor="t">
            <a:spAutoFit/>
          </a:bodyPr>
          <a:lstStyle/>
          <a:p>
            <a:pPr algn="ctr">
              <a:lnSpc>
                <a:spcPct val="115000"/>
              </a:lnSpc>
              <a:spcAft>
                <a:spcPts val="0"/>
              </a:spcAft>
            </a:pPr>
            <a:r>
              <a:rPr sz="1250" b="1">
                <a:solidFill>
                  <a:srgbClr val="1B254B"/>
                </a:solidFill>
                <a:latin typeface="Meiryo"/>
              </a:rPr>
              <a:t>幾何でつくる</a:t>
            </a:r>
          </a:p>
        </p:txBody>
      </p:sp>
      <p:sp>
        <p:nvSpPr>
          <p:cNvPr id="23" name="TextBox 22"/>
          <p:cNvSpPr txBox="1"/>
          <p:nvPr/>
        </p:nvSpPr>
        <p:spPr>
          <a:xfrm>
            <a:off x="9674352" y="3127248"/>
            <a:ext cx="1856231" cy="777240"/>
          </a:xfrm>
          <a:prstGeom prst="rect">
            <a:avLst/>
          </a:prstGeom>
          <a:noFill/>
        </p:spPr>
        <p:txBody>
          <a:bodyPr wrap="square" lIns="0" rIns="0" tIns="0" bIns="0" anchor="t">
            <a:spAutoFit/>
          </a:bodyPr>
          <a:lstStyle/>
          <a:p>
            <a:pPr algn="ctr">
              <a:lnSpc>
                <a:spcPct val="125000"/>
              </a:lnSpc>
              <a:spcAft>
                <a:spcPts val="0"/>
              </a:spcAft>
            </a:pPr>
            <a:r>
              <a:rPr sz="1050" b="0">
                <a:solidFill>
                  <a:srgbClr val="22262B"/>
                </a:solidFill>
                <a:latin typeface="Meiryo"/>
              </a:rPr>
              <a:t>係数を使わず、凹凸を</a:t>
            </a:r>
          </a:p>
          <a:p>
            <a:pPr algn="ctr">
              <a:lnSpc>
                <a:spcPct val="125000"/>
              </a:lnSpc>
              <a:spcAft>
                <a:spcPts val="0"/>
              </a:spcAft>
            </a:pPr>
            <a:r>
              <a:rPr sz="1050" b="0">
                <a:solidFill>
                  <a:srgbClr val="22262B"/>
                </a:solidFill>
                <a:latin typeface="Meiryo"/>
              </a:rPr>
              <a:t>モデルの形で表す</a:t>
            </a:r>
          </a:p>
        </p:txBody>
      </p:sp>
      <p:sp>
        <p:nvSpPr>
          <p:cNvPr id="24" name="TextBox 23"/>
          <p:cNvSpPr txBox="1"/>
          <p:nvPr/>
        </p:nvSpPr>
        <p:spPr>
          <a:xfrm>
            <a:off x="566928" y="4315968"/>
            <a:ext cx="11057839" cy="310896"/>
          </a:xfrm>
          <a:prstGeom prst="rect">
            <a:avLst/>
          </a:prstGeom>
          <a:noFill/>
        </p:spPr>
        <p:txBody>
          <a:bodyPr wrap="square" lIns="0" rIns="0" tIns="0" bIns="0" anchor="t">
            <a:spAutoFit/>
          </a:bodyPr>
          <a:lstStyle/>
          <a:p>
            <a:pPr algn="l">
              <a:lnSpc>
                <a:spcPct val="115000"/>
              </a:lnSpc>
              <a:spcAft>
                <a:spcPts val="0"/>
              </a:spcAft>
            </a:pPr>
            <a:r>
              <a:rPr sz="1400" b="1">
                <a:solidFill>
                  <a:srgbClr val="1B254B"/>
                </a:solidFill>
                <a:latin typeface="Meiryo"/>
              </a:rPr>
              <a:t>このプログラムに当てはめると</a:t>
            </a:r>
          </a:p>
        </p:txBody>
      </p:sp>
      <p:sp>
        <p:nvSpPr>
          <p:cNvPr id="25" name="TextBox 24"/>
          <p:cNvSpPr txBox="1"/>
          <p:nvPr/>
        </p:nvSpPr>
        <p:spPr>
          <a:xfrm>
            <a:off x="566928" y="4700016"/>
            <a:ext cx="11064240" cy="1417320"/>
          </a:xfrm>
          <a:prstGeom prst="rect">
            <a:avLst/>
          </a:prstGeom>
          <a:noFill/>
        </p:spPr>
        <p:txBody>
          <a:bodyPr wrap="square" lIns="0" rIns="0" tIns="0" bIns="0" anchor="t">
            <a:spAutoFit/>
          </a:bodyPr>
          <a:lstStyle/>
          <a:p>
            <a:pPr algn="l">
              <a:lnSpc>
                <a:spcPct val="122000"/>
              </a:lnSpc>
              <a:spcAft>
                <a:spcPts val="700"/>
              </a:spcAft>
            </a:pPr>
            <a:r>
              <a:rPr sz="1200" b="0">
                <a:solidFill>
                  <a:srgbClr val="22262B"/>
                </a:solidFill>
                <a:latin typeface="Meiryo"/>
              </a:rPr>
              <a:t>・B と C は組み合わせて使うのが定石。ODEON・CATT・RAVEN はいずれもこの形をとっている</a:t>
            </a:r>
          </a:p>
          <a:p>
            <a:pPr algn="l">
              <a:lnSpc>
                <a:spcPct val="122000"/>
              </a:lnSpc>
              <a:spcAft>
                <a:spcPts val="700"/>
              </a:spcAft>
            </a:pPr>
            <a:r>
              <a:rPr sz="1200" b="0">
                <a:solidFill>
                  <a:srgbClr val="22262B"/>
                </a:solidFill>
                <a:latin typeface="Meiryo"/>
              </a:rPr>
              <a:t>・A は実装がいちばん軽いが、後期残響の精度が伸びない（散乱が「向きのゆらぎ」に留まる）</a:t>
            </a:r>
          </a:p>
          <a:p>
            <a:pPr algn="l">
              <a:lnSpc>
                <a:spcPct val="122000"/>
              </a:lnSpc>
              <a:spcAft>
                <a:spcPts val="700"/>
              </a:spcAft>
            </a:pPr>
            <a:r>
              <a:rPr sz="1200" b="0">
                <a:solidFill>
                  <a:srgbClr val="22262B"/>
                </a:solidFill>
                <a:latin typeface="Meiryo"/>
              </a:rPr>
              <a:t>・D は精度が高く受音点をいくつ置いても安いが、既存の音線法とは別系統になり、位相が扱えない</a:t>
            </a:r>
          </a:p>
          <a:p>
            <a:pPr algn="l">
              <a:lnSpc>
                <a:spcPct val="122000"/>
              </a:lnSpc>
              <a:spcAft>
                <a:spcPts val="700"/>
              </a:spcAft>
            </a:pPr>
            <a:r>
              <a:rPr sz="1200" b="0">
                <a:solidFill>
                  <a:srgbClr val="22262B"/>
                </a:solidFill>
                <a:latin typeface="Meiryo"/>
              </a:rPr>
              <a:t>・E は係数を決めなくてよい代わりに、面が増えて計算が重くなり、低域の回折は依然として解けない</a:t>
            </a:r>
          </a:p>
        </p:txBody>
      </p:sp>
      <p:sp>
        <p:nvSpPr>
          <p:cNvPr id="26" name="TextBox 25"/>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方式 A — ベクトル法（VBS）</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反射の向きを散乱係数に応じて散らす。音線は 1 本のまま</a:t>
            </a:r>
          </a:p>
        </p:txBody>
      </p:sp>
      <p:sp>
        <p:nvSpPr>
          <p:cNvPr id="4" name="Oval 3"/>
          <p:cNvSpPr/>
          <p:nvPr/>
        </p:nvSpPr>
        <p:spPr>
          <a:xfrm>
            <a:off x="11247120" y="402336"/>
            <a:ext cx="512064" cy="512064"/>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A</a:t>
            </a:r>
          </a:p>
        </p:txBody>
      </p:sp>
      <p:sp>
        <p:nvSpPr>
          <p:cNvPr id="5" name="Rounded Rectangle 4"/>
          <p:cNvSpPr/>
          <p:nvPr/>
        </p:nvSpPr>
        <p:spPr>
          <a:xfrm>
            <a:off x="566928" y="1517904"/>
            <a:ext cx="5486400" cy="201168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700784"/>
            <a:ext cx="4983480" cy="292608"/>
          </a:xfrm>
          <a:prstGeom prst="rect">
            <a:avLst/>
          </a:prstGeom>
          <a:noFill/>
        </p:spPr>
        <p:txBody>
          <a:bodyPr wrap="square" lIns="0" rIns="0" tIns="0" bIns="0" anchor="t">
            <a:spAutoFit/>
          </a:bodyPr>
          <a:lstStyle/>
          <a:p>
            <a:pPr algn="l">
              <a:lnSpc>
                <a:spcPct val="115000"/>
              </a:lnSpc>
              <a:spcAft>
                <a:spcPts val="0"/>
              </a:spcAft>
            </a:pPr>
            <a:r>
              <a:rPr sz="1350" b="1">
                <a:solidFill>
                  <a:srgbClr val="065A82"/>
                </a:solidFill>
                <a:latin typeface="Meiryo"/>
              </a:rPr>
              <a:t>やること</a:t>
            </a:r>
          </a:p>
        </p:txBody>
      </p:sp>
      <p:sp>
        <p:nvSpPr>
          <p:cNvPr id="7" name="TextBox 6"/>
          <p:cNvSpPr txBox="1"/>
          <p:nvPr/>
        </p:nvSpPr>
        <p:spPr>
          <a:xfrm>
            <a:off x="822960" y="2066543"/>
            <a:ext cx="49834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鏡面反射の向きと、面の法線まわりの Lambert 分布の向きを、s : (1−s) で混ぜて1 本の反射方向を決める。音線の本数は増えない。</a:t>
            </a:r>
          </a:p>
          <a:p>
            <a:pPr algn="l">
              <a:lnSpc>
                <a:spcPct val="130000"/>
              </a:lnSpc>
              <a:spcAft>
                <a:spcPts val="400"/>
              </a:spcAft>
            </a:pPr>
            <a:r>
              <a:rPr sz="1150" b="0">
                <a:solidFill>
                  <a:srgbClr val="22262B"/>
                </a:solidFill>
                <a:latin typeface="Meiryo"/>
              </a:rPr>
              <a:t>反射のたびに向きが少しずつ散るので、後期になるほど拡散した音場に近づく。</a:t>
            </a:r>
          </a:p>
        </p:txBody>
      </p:sp>
      <p:sp>
        <p:nvSpPr>
          <p:cNvPr id="8" name="Rounded Rectangle 7"/>
          <p:cNvSpPr/>
          <p:nvPr/>
        </p:nvSpPr>
        <p:spPr>
          <a:xfrm>
            <a:off x="6373368" y="1517904"/>
            <a:ext cx="5248656" cy="2011680"/>
          </a:xfrm>
          <a:prstGeom prst="roundRect">
            <a:avLst>
              <a:gd name="adj" fmla="val 4000"/>
            </a:avLst>
          </a:prstGeom>
          <a:solidFill>
            <a:srgbClr val="FAEEEE"/>
          </a:solidFill>
          <a:ln w="12700">
            <a:solidFill>
              <a:srgbClr val="A83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29400" y="1700784"/>
            <a:ext cx="4754880" cy="292608"/>
          </a:xfrm>
          <a:prstGeom prst="rect">
            <a:avLst/>
          </a:prstGeom>
          <a:noFill/>
        </p:spPr>
        <p:txBody>
          <a:bodyPr wrap="square" lIns="0" rIns="0" tIns="0" bIns="0" anchor="t">
            <a:spAutoFit/>
          </a:bodyPr>
          <a:lstStyle/>
          <a:p>
            <a:pPr algn="l">
              <a:lnSpc>
                <a:spcPct val="115000"/>
              </a:lnSpc>
              <a:spcAft>
                <a:spcPts val="0"/>
              </a:spcAft>
            </a:pPr>
            <a:r>
              <a:rPr sz="1350" b="1">
                <a:solidFill>
                  <a:srgbClr val="A83232"/>
                </a:solidFill>
                <a:latin typeface="Meiryo"/>
              </a:rPr>
              <a:t>このプログラムで起きること</a:t>
            </a:r>
          </a:p>
        </p:txBody>
      </p:sp>
      <p:sp>
        <p:nvSpPr>
          <p:cNvPr id="10" name="TextBox 9"/>
          <p:cNvSpPr txBox="1"/>
          <p:nvPr/>
        </p:nvSpPr>
        <p:spPr>
          <a:xfrm>
            <a:off x="6629400" y="2066543"/>
            <a:ext cx="47548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向きが鏡面から外れた時点で、虚音源バックトレースが経路を却下する。結果として 3 段目を外し、受音球に入った音線のエネルギーをそのまま数える「素の音線法」に戻すことになる。到達時刻の厳密さと、逆二乗則の検算が失われる。</a:t>
            </a:r>
          </a:p>
        </p:txBody>
      </p:sp>
      <p:sp>
        <p:nvSpPr>
          <p:cNvPr id="11" name="Rectangle 10"/>
          <p:cNvSpPr/>
          <p:nvPr/>
        </p:nvSpPr>
        <p:spPr>
          <a:xfrm>
            <a:off x="566928" y="3785615"/>
            <a:ext cx="2303716"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観点</a:t>
            </a:r>
          </a:p>
        </p:txBody>
      </p:sp>
      <p:sp>
        <p:nvSpPr>
          <p:cNvPr id="12" name="Rectangle 11"/>
          <p:cNvSpPr/>
          <p:nvPr/>
        </p:nvSpPr>
        <p:spPr>
          <a:xfrm>
            <a:off x="2870644" y="3785615"/>
            <a:ext cx="2211567"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評価</a:t>
            </a:r>
          </a:p>
        </p:txBody>
      </p:sp>
      <p:sp>
        <p:nvSpPr>
          <p:cNvPr id="13" name="Rectangle 12"/>
          <p:cNvSpPr/>
          <p:nvPr/>
        </p:nvSpPr>
        <p:spPr>
          <a:xfrm>
            <a:off x="5082212" y="3785615"/>
            <a:ext cx="6542554"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理由</a:t>
            </a:r>
          </a:p>
        </p:txBody>
      </p:sp>
      <p:sp>
        <p:nvSpPr>
          <p:cNvPr id="14" name="Rectangle 13"/>
          <p:cNvSpPr/>
          <p:nvPr/>
        </p:nvSpPr>
        <p:spPr>
          <a:xfrm>
            <a:off x="566928" y="4151376"/>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計算コスト</a:t>
            </a:r>
          </a:p>
        </p:txBody>
      </p:sp>
      <p:sp>
        <p:nvSpPr>
          <p:cNvPr id="15" name="Rectangle 14"/>
          <p:cNvSpPr/>
          <p:nvPr/>
        </p:nvSpPr>
        <p:spPr>
          <a:xfrm>
            <a:off x="2870644" y="4151376"/>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変わらない</a:t>
            </a:r>
          </a:p>
        </p:txBody>
      </p:sp>
      <p:sp>
        <p:nvSpPr>
          <p:cNvPr id="16" name="Rectangle 15"/>
          <p:cNvSpPr/>
          <p:nvPr/>
        </p:nvSpPr>
        <p:spPr>
          <a:xfrm>
            <a:off x="5082212" y="4151376"/>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音線の本数も反射回数も増えない</a:t>
            </a:r>
          </a:p>
        </p:txBody>
      </p:sp>
      <p:sp>
        <p:nvSpPr>
          <p:cNvPr id="17" name="Rectangle 16"/>
          <p:cNvSpPr/>
          <p:nvPr/>
        </p:nvSpPr>
        <p:spPr>
          <a:xfrm>
            <a:off x="566928" y="4535424"/>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計算精度</a:t>
            </a:r>
          </a:p>
        </p:txBody>
      </p:sp>
      <p:sp>
        <p:nvSpPr>
          <p:cNvPr id="18" name="Rectangle 17"/>
          <p:cNvSpPr/>
          <p:nvPr/>
        </p:nvSpPr>
        <p:spPr>
          <a:xfrm>
            <a:off x="2870644" y="4535424"/>
            <a:ext cx="2211567"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後期が伸びない</a:t>
            </a:r>
          </a:p>
        </p:txBody>
      </p:sp>
      <p:sp>
        <p:nvSpPr>
          <p:cNvPr id="19" name="Rectangle 18"/>
          <p:cNvSpPr/>
          <p:nvPr/>
        </p:nvSpPr>
        <p:spPr>
          <a:xfrm>
            <a:off x="5082212" y="4535424"/>
            <a:ext cx="6542554"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散乱が向きのゆらぎに留まり、エネルギーが拡散しきらない</a:t>
            </a:r>
          </a:p>
        </p:txBody>
      </p:sp>
      <p:sp>
        <p:nvSpPr>
          <p:cNvPr id="20" name="Rectangle 19"/>
          <p:cNvSpPr/>
          <p:nvPr/>
        </p:nvSpPr>
        <p:spPr>
          <a:xfrm>
            <a:off x="566928" y="4919472"/>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s の設定</a:t>
            </a:r>
          </a:p>
        </p:txBody>
      </p:sp>
      <p:sp>
        <p:nvSpPr>
          <p:cNvPr id="21" name="Rectangle 20"/>
          <p:cNvSpPr/>
          <p:nvPr/>
        </p:nvSpPr>
        <p:spPr>
          <a:xfrm>
            <a:off x="2870644" y="4919472"/>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面ごとに 1 つ</a:t>
            </a:r>
          </a:p>
        </p:txBody>
      </p:sp>
      <p:sp>
        <p:nvSpPr>
          <p:cNvPr id="22" name="Rectangle 21"/>
          <p:cNvSpPr/>
          <p:nvPr/>
        </p:nvSpPr>
        <p:spPr>
          <a:xfrm>
            <a:off x="5082212" y="4919472"/>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他方式と同じ。値の意味も同じ</a:t>
            </a:r>
          </a:p>
        </p:txBody>
      </p:sp>
      <p:sp>
        <p:nvSpPr>
          <p:cNvPr id="23" name="Rectangle 22"/>
          <p:cNvSpPr/>
          <p:nvPr/>
        </p:nvSpPr>
        <p:spPr>
          <a:xfrm>
            <a:off x="566928" y="5303520"/>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モデル化</a:t>
            </a:r>
          </a:p>
        </p:txBody>
      </p:sp>
      <p:sp>
        <p:nvSpPr>
          <p:cNvPr id="24" name="Rectangle 23"/>
          <p:cNvSpPr/>
          <p:nvPr/>
        </p:nvSpPr>
        <p:spPr>
          <a:xfrm>
            <a:off x="2870644" y="5303520"/>
            <a:ext cx="2211567"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変更なし</a:t>
            </a:r>
          </a:p>
        </p:txBody>
      </p:sp>
      <p:sp>
        <p:nvSpPr>
          <p:cNvPr id="25" name="Rectangle 24"/>
          <p:cNvSpPr/>
          <p:nvPr/>
        </p:nvSpPr>
        <p:spPr>
          <a:xfrm>
            <a:off x="5082212" y="5303520"/>
            <a:ext cx="6542554"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いまの DXF のまま</a:t>
            </a:r>
          </a:p>
        </p:txBody>
      </p:sp>
      <p:sp>
        <p:nvSpPr>
          <p:cNvPr id="26" name="Rectangle 25"/>
          <p:cNvSpPr/>
          <p:nvPr/>
        </p:nvSpPr>
        <p:spPr>
          <a:xfrm>
            <a:off x="566928" y="5687568"/>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既存コードへの影響</a:t>
            </a:r>
          </a:p>
        </p:txBody>
      </p:sp>
      <p:sp>
        <p:nvSpPr>
          <p:cNvPr id="27" name="Rectangle 26"/>
          <p:cNvSpPr/>
          <p:nvPr/>
        </p:nvSpPr>
        <p:spPr>
          <a:xfrm>
            <a:off x="2870644" y="5687568"/>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A83232"/>
                </a:solidFill>
                <a:latin typeface="Meiryo"/>
              </a:rPr>
              <a:t>× 骨組みが変わる</a:t>
            </a:r>
          </a:p>
        </p:txBody>
      </p:sp>
      <p:sp>
        <p:nvSpPr>
          <p:cNvPr id="28" name="Rectangle 27"/>
          <p:cNvSpPr/>
          <p:nvPr/>
        </p:nvSpPr>
        <p:spPr>
          <a:xfrm>
            <a:off x="5082212" y="5687568"/>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虚音源バックトレースを外すことになる</a:t>
            </a:r>
          </a:p>
        </p:txBody>
      </p:sp>
      <p:sp>
        <p:nvSpPr>
          <p:cNvPr id="29" name="TextBox 28"/>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方式 B — 確率的散乱（モンテカルロ）</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反射のたびに「鏡面か拡散か」をくじで決める。市販ソフトの標準的なやり方</a:t>
            </a:r>
          </a:p>
        </p:txBody>
      </p:sp>
      <p:sp>
        <p:nvSpPr>
          <p:cNvPr id="4" name="Oval 3"/>
          <p:cNvSpPr/>
          <p:nvPr/>
        </p:nvSpPr>
        <p:spPr>
          <a:xfrm>
            <a:off x="11247120" y="402336"/>
            <a:ext cx="512064" cy="512064"/>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B</a:t>
            </a:r>
          </a:p>
        </p:txBody>
      </p:sp>
      <p:sp>
        <p:nvSpPr>
          <p:cNvPr id="5" name="Rounded Rectangle 4"/>
          <p:cNvSpPr/>
          <p:nvPr/>
        </p:nvSpPr>
        <p:spPr>
          <a:xfrm>
            <a:off x="566928" y="1517904"/>
            <a:ext cx="5486400" cy="2011680"/>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700784"/>
            <a:ext cx="4983480" cy="292608"/>
          </a:xfrm>
          <a:prstGeom prst="rect">
            <a:avLst/>
          </a:prstGeom>
          <a:noFill/>
        </p:spPr>
        <p:txBody>
          <a:bodyPr wrap="square" lIns="0" rIns="0" tIns="0" bIns="0" anchor="t">
            <a:spAutoFit/>
          </a:bodyPr>
          <a:lstStyle/>
          <a:p>
            <a:pPr algn="l">
              <a:lnSpc>
                <a:spcPct val="115000"/>
              </a:lnSpc>
              <a:spcAft>
                <a:spcPts val="0"/>
              </a:spcAft>
            </a:pPr>
            <a:r>
              <a:rPr sz="1350" b="1">
                <a:solidFill>
                  <a:srgbClr val="1B254B"/>
                </a:solidFill>
                <a:latin typeface="Meiryo"/>
              </a:rPr>
              <a:t>やること</a:t>
            </a:r>
          </a:p>
        </p:txBody>
      </p:sp>
      <p:sp>
        <p:nvSpPr>
          <p:cNvPr id="7" name="TextBox 6"/>
          <p:cNvSpPr txBox="1"/>
          <p:nvPr/>
        </p:nvSpPr>
        <p:spPr>
          <a:xfrm>
            <a:off x="822960" y="2066543"/>
            <a:ext cx="49834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面に当たるたびに 0〜1 の乱数を引き、s 未満なら Lambert 分布で拡散、そうでなければ従来どおり鏡面。エネルギーは分けず、向きだけを切り替える。</a:t>
            </a:r>
          </a:p>
          <a:p>
            <a:pPr algn="l">
              <a:lnSpc>
                <a:spcPct val="130000"/>
              </a:lnSpc>
              <a:spcAft>
                <a:spcPts val="400"/>
              </a:spcAft>
            </a:pPr>
            <a:r>
              <a:rPr sz="1150" b="0">
                <a:solidFill>
                  <a:srgbClr val="22262B"/>
                </a:solidFill>
                <a:latin typeface="Meiryo"/>
              </a:rPr>
              <a:t>音線 1 本あたりの手間は変わらず、本数を増やすほど真値に近づく。</a:t>
            </a:r>
          </a:p>
        </p:txBody>
      </p:sp>
      <p:sp>
        <p:nvSpPr>
          <p:cNvPr id="8" name="Rounded Rectangle 7"/>
          <p:cNvSpPr/>
          <p:nvPr/>
        </p:nvSpPr>
        <p:spPr>
          <a:xfrm>
            <a:off x="6373368" y="1517904"/>
            <a:ext cx="5248656" cy="201168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29400" y="1700784"/>
            <a:ext cx="4754880" cy="292608"/>
          </a:xfrm>
          <a:prstGeom prst="rect">
            <a:avLst/>
          </a:prstGeom>
          <a:noFill/>
        </p:spPr>
        <p:txBody>
          <a:bodyPr wrap="square" lIns="0" rIns="0" tIns="0" bIns="0" anchor="t">
            <a:spAutoFit/>
          </a:bodyPr>
          <a:lstStyle/>
          <a:p>
            <a:pPr algn="l">
              <a:lnSpc>
                <a:spcPct val="115000"/>
              </a:lnSpc>
              <a:spcAft>
                <a:spcPts val="0"/>
              </a:spcAft>
            </a:pPr>
            <a:r>
              <a:rPr sz="1350" b="1">
                <a:solidFill>
                  <a:srgbClr val="065A82"/>
                </a:solidFill>
                <a:latin typeface="Meiryo"/>
              </a:rPr>
              <a:t>このプログラムで起きること</a:t>
            </a:r>
          </a:p>
        </p:txBody>
      </p:sp>
      <p:sp>
        <p:nvSpPr>
          <p:cNvPr id="10" name="TextBox 9"/>
          <p:cNvSpPr txBox="1"/>
          <p:nvPr/>
        </p:nvSpPr>
        <p:spPr>
          <a:xfrm>
            <a:off x="6629400" y="2066543"/>
            <a:ext cx="47548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A と同じく虚音源では検算できない。ただし「鏡面のまま来た経路」と「一度でも拡散した経路」を分けて持てば、前者は今までどおり虚音源で厳密に、後者はエネルギーだけで扱う、という住み分けができる。</a:t>
            </a:r>
          </a:p>
        </p:txBody>
      </p:sp>
      <p:sp>
        <p:nvSpPr>
          <p:cNvPr id="11" name="Rectangle 10"/>
          <p:cNvSpPr/>
          <p:nvPr/>
        </p:nvSpPr>
        <p:spPr>
          <a:xfrm>
            <a:off x="566928" y="3785615"/>
            <a:ext cx="2303716"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観点</a:t>
            </a:r>
          </a:p>
        </p:txBody>
      </p:sp>
      <p:sp>
        <p:nvSpPr>
          <p:cNvPr id="12" name="Rectangle 11"/>
          <p:cNvSpPr/>
          <p:nvPr/>
        </p:nvSpPr>
        <p:spPr>
          <a:xfrm>
            <a:off x="2870644" y="3785615"/>
            <a:ext cx="2211567"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評価</a:t>
            </a:r>
          </a:p>
        </p:txBody>
      </p:sp>
      <p:sp>
        <p:nvSpPr>
          <p:cNvPr id="13" name="Rectangle 12"/>
          <p:cNvSpPr/>
          <p:nvPr/>
        </p:nvSpPr>
        <p:spPr>
          <a:xfrm>
            <a:off x="5082212" y="3785615"/>
            <a:ext cx="6542554"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理由</a:t>
            </a:r>
          </a:p>
        </p:txBody>
      </p:sp>
      <p:sp>
        <p:nvSpPr>
          <p:cNvPr id="14" name="Rectangle 13"/>
          <p:cNvSpPr/>
          <p:nvPr/>
        </p:nvSpPr>
        <p:spPr>
          <a:xfrm>
            <a:off x="566928" y="4151376"/>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計算コスト</a:t>
            </a:r>
          </a:p>
        </p:txBody>
      </p:sp>
      <p:sp>
        <p:nvSpPr>
          <p:cNvPr id="15" name="Rectangle 14"/>
          <p:cNvSpPr/>
          <p:nvPr/>
        </p:nvSpPr>
        <p:spPr>
          <a:xfrm>
            <a:off x="2870644" y="4151376"/>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本数が要る</a:t>
            </a:r>
          </a:p>
        </p:txBody>
      </p:sp>
      <p:sp>
        <p:nvSpPr>
          <p:cNvPr id="16" name="Rectangle 15"/>
          <p:cNvSpPr/>
          <p:nvPr/>
        </p:nvSpPr>
        <p:spPr>
          <a:xfrm>
            <a:off x="5082212" y="4151376"/>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ばらつきを抑えるのに音線を数倍にする必要がある</a:t>
            </a:r>
          </a:p>
        </p:txBody>
      </p:sp>
      <p:sp>
        <p:nvSpPr>
          <p:cNvPr id="17" name="Rectangle 16"/>
          <p:cNvSpPr/>
          <p:nvPr/>
        </p:nvSpPr>
        <p:spPr>
          <a:xfrm>
            <a:off x="566928" y="4535424"/>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計算精度</a:t>
            </a:r>
          </a:p>
        </p:txBody>
      </p:sp>
      <p:sp>
        <p:nvSpPr>
          <p:cNvPr id="18" name="Rectangle 17"/>
          <p:cNvSpPr/>
          <p:nvPr/>
        </p:nvSpPr>
        <p:spPr>
          <a:xfrm>
            <a:off x="2870644" y="4535424"/>
            <a:ext cx="2211567"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後期まで合う</a:t>
            </a:r>
          </a:p>
        </p:txBody>
      </p:sp>
      <p:sp>
        <p:nvSpPr>
          <p:cNvPr id="19" name="Rectangle 18"/>
          <p:cNvSpPr/>
          <p:nvPr/>
        </p:nvSpPr>
        <p:spPr>
          <a:xfrm>
            <a:off x="5082212" y="4535424"/>
            <a:ext cx="6542554"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エネルギーが正しく拡散し、減衰が直線に近づく</a:t>
            </a:r>
          </a:p>
        </p:txBody>
      </p:sp>
      <p:sp>
        <p:nvSpPr>
          <p:cNvPr id="20" name="Rectangle 19"/>
          <p:cNvSpPr/>
          <p:nvPr/>
        </p:nvSpPr>
        <p:spPr>
          <a:xfrm>
            <a:off x="566928" y="4919472"/>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s の設定</a:t>
            </a:r>
          </a:p>
        </p:txBody>
      </p:sp>
      <p:sp>
        <p:nvSpPr>
          <p:cNvPr id="21" name="Rectangle 20"/>
          <p:cNvSpPr/>
          <p:nvPr/>
        </p:nvSpPr>
        <p:spPr>
          <a:xfrm>
            <a:off x="2870644" y="4919472"/>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面ごとに 1 つ</a:t>
            </a:r>
          </a:p>
        </p:txBody>
      </p:sp>
      <p:sp>
        <p:nvSpPr>
          <p:cNvPr id="22" name="Rectangle 21"/>
          <p:cNvSpPr/>
          <p:nvPr/>
        </p:nvSpPr>
        <p:spPr>
          <a:xfrm>
            <a:off x="5082212" y="4919472"/>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意味が明快（散る割合そのもの）</a:t>
            </a:r>
          </a:p>
        </p:txBody>
      </p:sp>
      <p:sp>
        <p:nvSpPr>
          <p:cNvPr id="23" name="Rectangle 22"/>
          <p:cNvSpPr/>
          <p:nvPr/>
        </p:nvSpPr>
        <p:spPr>
          <a:xfrm>
            <a:off x="566928" y="5303520"/>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モデル化</a:t>
            </a:r>
          </a:p>
        </p:txBody>
      </p:sp>
      <p:sp>
        <p:nvSpPr>
          <p:cNvPr id="24" name="Rectangle 23"/>
          <p:cNvSpPr/>
          <p:nvPr/>
        </p:nvSpPr>
        <p:spPr>
          <a:xfrm>
            <a:off x="2870644" y="5303520"/>
            <a:ext cx="2211567"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変更なし</a:t>
            </a:r>
          </a:p>
        </p:txBody>
      </p:sp>
      <p:sp>
        <p:nvSpPr>
          <p:cNvPr id="25" name="Rectangle 24"/>
          <p:cNvSpPr/>
          <p:nvPr/>
        </p:nvSpPr>
        <p:spPr>
          <a:xfrm>
            <a:off x="5082212" y="5303520"/>
            <a:ext cx="6542554"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いまの DXF のまま</a:t>
            </a:r>
          </a:p>
        </p:txBody>
      </p:sp>
      <p:sp>
        <p:nvSpPr>
          <p:cNvPr id="26" name="Rectangle 25"/>
          <p:cNvSpPr/>
          <p:nvPr/>
        </p:nvSpPr>
        <p:spPr>
          <a:xfrm>
            <a:off x="566928" y="5687568"/>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既存コードへの影響</a:t>
            </a:r>
          </a:p>
        </p:txBody>
      </p:sp>
      <p:sp>
        <p:nvSpPr>
          <p:cNvPr id="27" name="Rectangle 26"/>
          <p:cNvSpPr/>
          <p:nvPr/>
        </p:nvSpPr>
        <p:spPr>
          <a:xfrm>
            <a:off x="2870644" y="5687568"/>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追加で済む</a:t>
            </a:r>
          </a:p>
        </p:txBody>
      </p:sp>
      <p:sp>
        <p:nvSpPr>
          <p:cNvPr id="28" name="Rectangle 27"/>
          <p:cNvSpPr/>
          <p:nvPr/>
        </p:nvSpPr>
        <p:spPr>
          <a:xfrm>
            <a:off x="5082212" y="5687568"/>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鏡面経路は今のまま残せる（住み分け）</a:t>
            </a:r>
          </a:p>
        </p:txBody>
      </p:sp>
      <p:sp>
        <p:nvSpPr>
          <p:cNvPr id="29" name="TextBox 28"/>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方式 C — 2 次音源（diffuse rain）</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音線が面に当たるたび、その点から受音点へ直接エネルギーを送る</a:t>
            </a:r>
          </a:p>
        </p:txBody>
      </p:sp>
      <p:sp>
        <p:nvSpPr>
          <p:cNvPr id="4" name="Oval 3"/>
          <p:cNvSpPr/>
          <p:nvPr/>
        </p:nvSpPr>
        <p:spPr>
          <a:xfrm>
            <a:off x="11247120" y="402336"/>
            <a:ext cx="512064" cy="512064"/>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C</a:t>
            </a:r>
          </a:p>
        </p:txBody>
      </p:sp>
      <p:sp>
        <p:nvSpPr>
          <p:cNvPr id="5" name="Rounded Rectangle 4"/>
          <p:cNvSpPr/>
          <p:nvPr/>
        </p:nvSpPr>
        <p:spPr>
          <a:xfrm>
            <a:off x="566928" y="1517904"/>
            <a:ext cx="5486400" cy="2011680"/>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700784"/>
            <a:ext cx="4983480" cy="292608"/>
          </a:xfrm>
          <a:prstGeom prst="rect">
            <a:avLst/>
          </a:prstGeom>
          <a:noFill/>
        </p:spPr>
        <p:txBody>
          <a:bodyPr wrap="square" lIns="0" rIns="0" tIns="0" bIns="0" anchor="t">
            <a:spAutoFit/>
          </a:bodyPr>
          <a:lstStyle/>
          <a:p>
            <a:pPr algn="l">
              <a:lnSpc>
                <a:spcPct val="115000"/>
              </a:lnSpc>
              <a:spcAft>
                <a:spcPts val="0"/>
              </a:spcAft>
            </a:pPr>
            <a:r>
              <a:rPr sz="1350" b="1">
                <a:solidFill>
                  <a:srgbClr val="1B254B"/>
                </a:solidFill>
                <a:latin typeface="Meiryo"/>
              </a:rPr>
              <a:t>やること</a:t>
            </a:r>
          </a:p>
        </p:txBody>
      </p:sp>
      <p:sp>
        <p:nvSpPr>
          <p:cNvPr id="7" name="TextBox 6"/>
          <p:cNvSpPr txBox="1"/>
          <p:nvPr/>
        </p:nvSpPr>
        <p:spPr>
          <a:xfrm>
            <a:off x="822960" y="2066543"/>
            <a:ext cx="49834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当たった面を小さな 2 次音源とみなし、受音点が見えていればs・Lambert・距離減衰を掛けたエネルギーを直接足す。</a:t>
            </a:r>
          </a:p>
          <a:p>
            <a:pPr algn="l">
              <a:lnSpc>
                <a:spcPct val="130000"/>
              </a:lnSpc>
              <a:spcAft>
                <a:spcPts val="400"/>
              </a:spcAft>
            </a:pPr>
            <a:r>
              <a:rPr sz="1150" b="0">
                <a:solidFill>
                  <a:srgbClr val="22262B"/>
                </a:solidFill>
                <a:latin typeface="Meiryo"/>
              </a:rPr>
              <a:t>受音球に当たるのを待たないので、同じ音線数でもばらつきが桁違いに小さい。</a:t>
            </a:r>
          </a:p>
        </p:txBody>
      </p:sp>
      <p:sp>
        <p:nvSpPr>
          <p:cNvPr id="8" name="Rounded Rectangle 7"/>
          <p:cNvSpPr/>
          <p:nvPr/>
        </p:nvSpPr>
        <p:spPr>
          <a:xfrm>
            <a:off x="6373368" y="1517904"/>
            <a:ext cx="5248656" cy="201168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29400" y="1700784"/>
            <a:ext cx="4754880" cy="292608"/>
          </a:xfrm>
          <a:prstGeom prst="rect">
            <a:avLst/>
          </a:prstGeom>
          <a:noFill/>
        </p:spPr>
        <p:txBody>
          <a:bodyPr wrap="square" lIns="0" rIns="0" tIns="0" bIns="0" anchor="t">
            <a:spAutoFit/>
          </a:bodyPr>
          <a:lstStyle/>
          <a:p>
            <a:pPr algn="l">
              <a:lnSpc>
                <a:spcPct val="115000"/>
              </a:lnSpc>
              <a:spcAft>
                <a:spcPts val="0"/>
              </a:spcAft>
            </a:pPr>
            <a:r>
              <a:rPr sz="1350" b="1">
                <a:solidFill>
                  <a:srgbClr val="065A82"/>
                </a:solidFill>
                <a:latin typeface="Meiryo"/>
              </a:rPr>
              <a:t>このプログラムで起きること</a:t>
            </a:r>
          </a:p>
        </p:txBody>
      </p:sp>
      <p:sp>
        <p:nvSpPr>
          <p:cNvPr id="10" name="TextBox 9"/>
          <p:cNvSpPr txBox="1"/>
          <p:nvPr/>
        </p:nvSpPr>
        <p:spPr>
          <a:xfrm>
            <a:off x="6629400" y="2066543"/>
            <a:ext cx="47548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受音点ごとに可視判定が要るので、受音点が多いほど重くなる。ただし追跡そのものは受音点に依らない（F-6 と同じ理屈）ので、1 回の追跡で全受音点ぶんをまとめて足せる。B と組にして使うのが普通。</a:t>
            </a:r>
          </a:p>
        </p:txBody>
      </p:sp>
      <p:sp>
        <p:nvSpPr>
          <p:cNvPr id="11" name="Rectangle 10"/>
          <p:cNvSpPr/>
          <p:nvPr/>
        </p:nvSpPr>
        <p:spPr>
          <a:xfrm>
            <a:off x="566928" y="3785615"/>
            <a:ext cx="2303716"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観点</a:t>
            </a:r>
          </a:p>
        </p:txBody>
      </p:sp>
      <p:sp>
        <p:nvSpPr>
          <p:cNvPr id="12" name="Rectangle 11"/>
          <p:cNvSpPr/>
          <p:nvPr/>
        </p:nvSpPr>
        <p:spPr>
          <a:xfrm>
            <a:off x="2870644" y="3785615"/>
            <a:ext cx="2211567"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評価</a:t>
            </a:r>
          </a:p>
        </p:txBody>
      </p:sp>
      <p:sp>
        <p:nvSpPr>
          <p:cNvPr id="13" name="Rectangle 12"/>
          <p:cNvSpPr/>
          <p:nvPr/>
        </p:nvSpPr>
        <p:spPr>
          <a:xfrm>
            <a:off x="5082212" y="3785615"/>
            <a:ext cx="6542554"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理由</a:t>
            </a:r>
          </a:p>
        </p:txBody>
      </p:sp>
      <p:sp>
        <p:nvSpPr>
          <p:cNvPr id="14" name="Rectangle 13"/>
          <p:cNvSpPr/>
          <p:nvPr/>
        </p:nvSpPr>
        <p:spPr>
          <a:xfrm>
            <a:off x="566928" y="4151376"/>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計算コスト</a:t>
            </a:r>
          </a:p>
        </p:txBody>
      </p:sp>
      <p:sp>
        <p:nvSpPr>
          <p:cNvPr id="15" name="Rectangle 14"/>
          <p:cNvSpPr/>
          <p:nvPr/>
        </p:nvSpPr>
        <p:spPr>
          <a:xfrm>
            <a:off x="2870644" y="4151376"/>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可視判定ぶん</a:t>
            </a:r>
          </a:p>
        </p:txBody>
      </p:sp>
      <p:sp>
        <p:nvSpPr>
          <p:cNvPr id="16" name="Rectangle 15"/>
          <p:cNvSpPr/>
          <p:nvPr/>
        </p:nvSpPr>
        <p:spPr>
          <a:xfrm>
            <a:off x="5082212" y="4151376"/>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反射のたびに受音点へ 1 本ずつ線を飛ばす</a:t>
            </a:r>
          </a:p>
        </p:txBody>
      </p:sp>
      <p:sp>
        <p:nvSpPr>
          <p:cNvPr id="17" name="Rectangle 16"/>
          <p:cNvSpPr/>
          <p:nvPr/>
        </p:nvSpPr>
        <p:spPr>
          <a:xfrm>
            <a:off x="566928" y="4535424"/>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計算精度</a:t>
            </a:r>
          </a:p>
        </p:txBody>
      </p:sp>
      <p:sp>
        <p:nvSpPr>
          <p:cNvPr id="18" name="Rectangle 17"/>
          <p:cNvSpPr/>
          <p:nvPr/>
        </p:nvSpPr>
        <p:spPr>
          <a:xfrm>
            <a:off x="2870644" y="4535424"/>
            <a:ext cx="2211567"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ばらつきが小さい</a:t>
            </a:r>
          </a:p>
        </p:txBody>
      </p:sp>
      <p:sp>
        <p:nvSpPr>
          <p:cNvPr id="19" name="Rectangle 18"/>
          <p:cNvSpPr/>
          <p:nvPr/>
        </p:nvSpPr>
        <p:spPr>
          <a:xfrm>
            <a:off x="5082212" y="4535424"/>
            <a:ext cx="6542554"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受音球の当たり外れに頼らないので少ない音線で収束する</a:t>
            </a:r>
          </a:p>
        </p:txBody>
      </p:sp>
      <p:sp>
        <p:nvSpPr>
          <p:cNvPr id="20" name="Rectangle 19"/>
          <p:cNvSpPr/>
          <p:nvPr/>
        </p:nvSpPr>
        <p:spPr>
          <a:xfrm>
            <a:off x="566928" y="4919472"/>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s の設定</a:t>
            </a:r>
          </a:p>
        </p:txBody>
      </p:sp>
      <p:sp>
        <p:nvSpPr>
          <p:cNvPr id="21" name="Rectangle 20"/>
          <p:cNvSpPr/>
          <p:nvPr/>
        </p:nvSpPr>
        <p:spPr>
          <a:xfrm>
            <a:off x="2870644" y="4919472"/>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面ごとに 1 つ</a:t>
            </a:r>
          </a:p>
        </p:txBody>
      </p:sp>
      <p:sp>
        <p:nvSpPr>
          <p:cNvPr id="22" name="Rectangle 21"/>
          <p:cNvSpPr/>
          <p:nvPr/>
        </p:nvSpPr>
        <p:spPr>
          <a:xfrm>
            <a:off x="5082212" y="4919472"/>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B と同じ値をそのまま使える</a:t>
            </a:r>
          </a:p>
        </p:txBody>
      </p:sp>
      <p:sp>
        <p:nvSpPr>
          <p:cNvPr id="23" name="Rectangle 22"/>
          <p:cNvSpPr/>
          <p:nvPr/>
        </p:nvSpPr>
        <p:spPr>
          <a:xfrm>
            <a:off x="566928" y="5303520"/>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モデル化</a:t>
            </a:r>
          </a:p>
        </p:txBody>
      </p:sp>
      <p:sp>
        <p:nvSpPr>
          <p:cNvPr id="24" name="Rectangle 23"/>
          <p:cNvSpPr/>
          <p:nvPr/>
        </p:nvSpPr>
        <p:spPr>
          <a:xfrm>
            <a:off x="2870644" y="5303520"/>
            <a:ext cx="2211567"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変更なし</a:t>
            </a:r>
          </a:p>
        </p:txBody>
      </p:sp>
      <p:sp>
        <p:nvSpPr>
          <p:cNvPr id="25" name="Rectangle 24"/>
          <p:cNvSpPr/>
          <p:nvPr/>
        </p:nvSpPr>
        <p:spPr>
          <a:xfrm>
            <a:off x="5082212" y="5303520"/>
            <a:ext cx="6542554"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いまの DXF のまま</a:t>
            </a:r>
          </a:p>
        </p:txBody>
      </p:sp>
      <p:sp>
        <p:nvSpPr>
          <p:cNvPr id="26" name="Rectangle 25"/>
          <p:cNvSpPr/>
          <p:nvPr/>
        </p:nvSpPr>
        <p:spPr>
          <a:xfrm>
            <a:off x="566928" y="5687568"/>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既存コードへの影響</a:t>
            </a:r>
          </a:p>
        </p:txBody>
      </p:sp>
      <p:sp>
        <p:nvSpPr>
          <p:cNvPr id="27" name="Rectangle 26"/>
          <p:cNvSpPr/>
          <p:nvPr/>
        </p:nvSpPr>
        <p:spPr>
          <a:xfrm>
            <a:off x="2870644" y="5687568"/>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追加で済む</a:t>
            </a:r>
          </a:p>
        </p:txBody>
      </p:sp>
      <p:sp>
        <p:nvSpPr>
          <p:cNvPr id="28" name="Rectangle 27"/>
          <p:cNvSpPr/>
          <p:nvPr/>
        </p:nvSpPr>
        <p:spPr>
          <a:xfrm>
            <a:off x="5082212" y="5687568"/>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追跡ループに足し込みを 1 つ入れる形</a:t>
            </a:r>
          </a:p>
        </p:txBody>
      </p:sp>
      <p:sp>
        <p:nvSpPr>
          <p:cNvPr id="29" name="TextBox 28"/>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方式 D — 放射伝達（radiosity / ART）</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面と面のエネルギー交換を先に解く。音線を使わない別系統の解法</a:t>
            </a:r>
          </a:p>
        </p:txBody>
      </p:sp>
      <p:sp>
        <p:nvSpPr>
          <p:cNvPr id="4" name="Oval 3"/>
          <p:cNvSpPr/>
          <p:nvPr/>
        </p:nvSpPr>
        <p:spPr>
          <a:xfrm>
            <a:off x="11247120" y="402336"/>
            <a:ext cx="512064" cy="51206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D</a:t>
            </a:r>
          </a:p>
        </p:txBody>
      </p:sp>
      <p:sp>
        <p:nvSpPr>
          <p:cNvPr id="5" name="Rounded Rectangle 4"/>
          <p:cNvSpPr/>
          <p:nvPr/>
        </p:nvSpPr>
        <p:spPr>
          <a:xfrm>
            <a:off x="566928" y="1517904"/>
            <a:ext cx="5486400" cy="201168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700784"/>
            <a:ext cx="4983480" cy="292608"/>
          </a:xfrm>
          <a:prstGeom prst="rect">
            <a:avLst/>
          </a:prstGeom>
          <a:noFill/>
        </p:spPr>
        <p:txBody>
          <a:bodyPr wrap="square" lIns="0" rIns="0" tIns="0" bIns="0" anchor="t">
            <a:spAutoFit/>
          </a:bodyPr>
          <a:lstStyle/>
          <a:p>
            <a:pPr algn="l">
              <a:lnSpc>
                <a:spcPct val="115000"/>
              </a:lnSpc>
              <a:spcAft>
                <a:spcPts val="0"/>
              </a:spcAft>
            </a:pPr>
            <a:r>
              <a:rPr sz="1350" b="1">
                <a:solidFill>
                  <a:srgbClr val="1C7293"/>
                </a:solidFill>
                <a:latin typeface="Meiryo"/>
              </a:rPr>
              <a:t>やること</a:t>
            </a:r>
          </a:p>
        </p:txBody>
      </p:sp>
      <p:sp>
        <p:nvSpPr>
          <p:cNvPr id="7" name="TextBox 6"/>
          <p:cNvSpPr txBox="1"/>
          <p:nvPr/>
        </p:nvSpPr>
        <p:spPr>
          <a:xfrm>
            <a:off x="822960" y="2066543"/>
            <a:ext cx="49834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面を細かく分け、面どうしがどれだけ見えているか（形態係数）を先に計算しておき、エネルギーを時間を追って回す。完全拡散を前提にした古典的な解法で、鏡面成分は別に足す必要がある。</a:t>
            </a:r>
          </a:p>
        </p:txBody>
      </p:sp>
      <p:sp>
        <p:nvSpPr>
          <p:cNvPr id="8" name="Rounded Rectangle 7"/>
          <p:cNvSpPr/>
          <p:nvPr/>
        </p:nvSpPr>
        <p:spPr>
          <a:xfrm>
            <a:off x="6373368" y="1517904"/>
            <a:ext cx="5248656" cy="201168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29400" y="1700784"/>
            <a:ext cx="4754880" cy="292608"/>
          </a:xfrm>
          <a:prstGeom prst="rect">
            <a:avLst/>
          </a:prstGeom>
          <a:noFill/>
        </p:spPr>
        <p:txBody>
          <a:bodyPr wrap="square" lIns="0" rIns="0" tIns="0" bIns="0" anchor="t">
            <a:spAutoFit/>
          </a:bodyPr>
          <a:lstStyle/>
          <a:p>
            <a:pPr algn="l">
              <a:lnSpc>
                <a:spcPct val="115000"/>
              </a:lnSpc>
              <a:spcAft>
                <a:spcPts val="0"/>
              </a:spcAft>
            </a:pPr>
            <a:r>
              <a:rPr sz="1350" b="1">
                <a:solidFill>
                  <a:srgbClr val="065A82"/>
                </a:solidFill>
                <a:latin typeface="Meiryo"/>
              </a:rPr>
              <a:t>このプログラムで起きること</a:t>
            </a:r>
          </a:p>
        </p:txBody>
      </p:sp>
      <p:sp>
        <p:nvSpPr>
          <p:cNvPr id="10" name="TextBox 9"/>
          <p:cNvSpPr txBox="1"/>
          <p:nvPr/>
        </p:nvSpPr>
        <p:spPr>
          <a:xfrm>
            <a:off x="6629400" y="2066543"/>
            <a:ext cx="47548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いまの音線法・虚音源法とはほぼ別のプログラムになる。一方で受音点をいくつ置いても追加コストがほぼ無いので、音圧分布を面で見たい用途とは相性がよい。</a:t>
            </a:r>
          </a:p>
        </p:txBody>
      </p:sp>
      <p:sp>
        <p:nvSpPr>
          <p:cNvPr id="11" name="Rectangle 10"/>
          <p:cNvSpPr/>
          <p:nvPr/>
        </p:nvSpPr>
        <p:spPr>
          <a:xfrm>
            <a:off x="566928" y="3785615"/>
            <a:ext cx="2303716"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観点</a:t>
            </a:r>
          </a:p>
        </p:txBody>
      </p:sp>
      <p:sp>
        <p:nvSpPr>
          <p:cNvPr id="12" name="Rectangle 11"/>
          <p:cNvSpPr/>
          <p:nvPr/>
        </p:nvSpPr>
        <p:spPr>
          <a:xfrm>
            <a:off x="2870644" y="3785615"/>
            <a:ext cx="2488013"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評価</a:t>
            </a:r>
          </a:p>
        </p:txBody>
      </p:sp>
      <p:sp>
        <p:nvSpPr>
          <p:cNvPr id="13" name="Rectangle 12"/>
          <p:cNvSpPr/>
          <p:nvPr/>
        </p:nvSpPr>
        <p:spPr>
          <a:xfrm>
            <a:off x="5358658" y="3785615"/>
            <a:ext cx="6266108"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理由</a:t>
            </a:r>
          </a:p>
        </p:txBody>
      </p:sp>
      <p:sp>
        <p:nvSpPr>
          <p:cNvPr id="14" name="Rectangle 13"/>
          <p:cNvSpPr/>
          <p:nvPr/>
        </p:nvSpPr>
        <p:spPr>
          <a:xfrm>
            <a:off x="566928" y="4151376"/>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計算コスト</a:t>
            </a:r>
          </a:p>
        </p:txBody>
      </p:sp>
      <p:sp>
        <p:nvSpPr>
          <p:cNvPr id="15" name="Rectangle 14"/>
          <p:cNvSpPr/>
          <p:nvPr/>
        </p:nvSpPr>
        <p:spPr>
          <a:xfrm>
            <a:off x="2870644" y="4151376"/>
            <a:ext cx="2488013"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前処理が重い</a:t>
            </a:r>
          </a:p>
        </p:txBody>
      </p:sp>
      <p:sp>
        <p:nvSpPr>
          <p:cNvPr id="16" name="Rectangle 15"/>
          <p:cNvSpPr/>
          <p:nvPr/>
        </p:nvSpPr>
        <p:spPr>
          <a:xfrm>
            <a:off x="5358658" y="4151376"/>
            <a:ext cx="6266108"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形態係数は面数の 2 乗。ただし 1 度作れば使い回せる</a:t>
            </a:r>
          </a:p>
        </p:txBody>
      </p:sp>
      <p:sp>
        <p:nvSpPr>
          <p:cNvPr id="17" name="Rectangle 16"/>
          <p:cNvSpPr/>
          <p:nvPr/>
        </p:nvSpPr>
        <p:spPr>
          <a:xfrm>
            <a:off x="566928" y="4535424"/>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計算精度</a:t>
            </a:r>
          </a:p>
        </p:txBody>
      </p:sp>
      <p:sp>
        <p:nvSpPr>
          <p:cNvPr id="18" name="Rectangle 17"/>
          <p:cNvSpPr/>
          <p:nvPr/>
        </p:nvSpPr>
        <p:spPr>
          <a:xfrm>
            <a:off x="2870644" y="4535424"/>
            <a:ext cx="2488013"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拡散が強い室で良い</a:t>
            </a:r>
          </a:p>
        </p:txBody>
      </p:sp>
      <p:sp>
        <p:nvSpPr>
          <p:cNvPr id="19" name="Rectangle 18"/>
          <p:cNvSpPr/>
          <p:nvPr/>
        </p:nvSpPr>
        <p:spPr>
          <a:xfrm>
            <a:off x="5358658" y="4535424"/>
            <a:ext cx="6266108"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散乱が小さい室・鏡面が効く室では単独では合わない</a:t>
            </a:r>
          </a:p>
        </p:txBody>
      </p:sp>
      <p:sp>
        <p:nvSpPr>
          <p:cNvPr id="20" name="Rectangle 19"/>
          <p:cNvSpPr/>
          <p:nvPr/>
        </p:nvSpPr>
        <p:spPr>
          <a:xfrm>
            <a:off x="566928" y="4919472"/>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s の設定</a:t>
            </a:r>
          </a:p>
        </p:txBody>
      </p:sp>
      <p:sp>
        <p:nvSpPr>
          <p:cNvPr id="21" name="Rectangle 20"/>
          <p:cNvSpPr/>
          <p:nvPr/>
        </p:nvSpPr>
        <p:spPr>
          <a:xfrm>
            <a:off x="2870644" y="4919472"/>
            <a:ext cx="2488013"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面の分割にも依る</a:t>
            </a:r>
          </a:p>
        </p:txBody>
      </p:sp>
      <p:sp>
        <p:nvSpPr>
          <p:cNvPr id="22" name="Rectangle 21"/>
          <p:cNvSpPr/>
          <p:nvPr/>
        </p:nvSpPr>
        <p:spPr>
          <a:xfrm>
            <a:off x="5358658" y="4919472"/>
            <a:ext cx="6266108"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完全拡散が前提なので、s を部分的に反映する工夫が要る</a:t>
            </a:r>
          </a:p>
        </p:txBody>
      </p:sp>
      <p:sp>
        <p:nvSpPr>
          <p:cNvPr id="23" name="Rectangle 22"/>
          <p:cNvSpPr/>
          <p:nvPr/>
        </p:nvSpPr>
        <p:spPr>
          <a:xfrm>
            <a:off x="566928" y="5303520"/>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モデル化</a:t>
            </a:r>
          </a:p>
        </p:txBody>
      </p:sp>
      <p:sp>
        <p:nvSpPr>
          <p:cNvPr id="24" name="Rectangle 23"/>
          <p:cNvSpPr/>
          <p:nvPr/>
        </p:nvSpPr>
        <p:spPr>
          <a:xfrm>
            <a:off x="2870644" y="5303520"/>
            <a:ext cx="2488013"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面を細かく割る</a:t>
            </a:r>
          </a:p>
        </p:txBody>
      </p:sp>
      <p:sp>
        <p:nvSpPr>
          <p:cNvPr id="25" name="Rectangle 24"/>
          <p:cNvSpPr/>
          <p:nvPr/>
        </p:nvSpPr>
        <p:spPr>
          <a:xfrm>
            <a:off x="5358658" y="5303520"/>
            <a:ext cx="6266108"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パッチ分割の粗さが精度を左右する</a:t>
            </a:r>
          </a:p>
        </p:txBody>
      </p:sp>
      <p:sp>
        <p:nvSpPr>
          <p:cNvPr id="26" name="Rectangle 25"/>
          <p:cNvSpPr/>
          <p:nvPr/>
        </p:nvSpPr>
        <p:spPr>
          <a:xfrm>
            <a:off x="566928" y="5687568"/>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既存コードへの影響</a:t>
            </a:r>
          </a:p>
        </p:txBody>
      </p:sp>
      <p:sp>
        <p:nvSpPr>
          <p:cNvPr id="27" name="Rectangle 26"/>
          <p:cNvSpPr/>
          <p:nvPr/>
        </p:nvSpPr>
        <p:spPr>
          <a:xfrm>
            <a:off x="2870644" y="5687568"/>
            <a:ext cx="2488013"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A83232"/>
                </a:solidFill>
                <a:latin typeface="Meiryo"/>
              </a:rPr>
              <a:t>× 別系統</a:t>
            </a:r>
          </a:p>
        </p:txBody>
      </p:sp>
      <p:sp>
        <p:nvSpPr>
          <p:cNvPr id="28" name="Rectangle 27"/>
          <p:cNvSpPr/>
          <p:nvPr/>
        </p:nvSpPr>
        <p:spPr>
          <a:xfrm>
            <a:off x="5358658" y="5687568"/>
            <a:ext cx="6266108"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音線法とは別に作ることになる</a:t>
            </a:r>
          </a:p>
        </p:txBody>
      </p:sp>
      <p:sp>
        <p:nvSpPr>
          <p:cNvPr id="29" name="TextBox 28"/>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方式 E — 幾何でつくる（係数を使わない）</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凹凸をモデルの形そのもので表す。階段教室の反射板・段床はすでにこの形</a:t>
            </a:r>
          </a:p>
        </p:txBody>
      </p:sp>
      <p:sp>
        <p:nvSpPr>
          <p:cNvPr id="4" name="Oval 3"/>
          <p:cNvSpPr/>
          <p:nvPr/>
        </p:nvSpPr>
        <p:spPr>
          <a:xfrm>
            <a:off x="11247120" y="402336"/>
            <a:ext cx="512064" cy="51206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E</a:t>
            </a:r>
          </a:p>
        </p:txBody>
      </p:sp>
      <p:sp>
        <p:nvSpPr>
          <p:cNvPr id="5" name="Rounded Rectangle 4"/>
          <p:cNvSpPr/>
          <p:nvPr/>
        </p:nvSpPr>
        <p:spPr>
          <a:xfrm>
            <a:off x="566928" y="1517904"/>
            <a:ext cx="5486400" cy="201168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700784"/>
            <a:ext cx="4983480" cy="292608"/>
          </a:xfrm>
          <a:prstGeom prst="rect">
            <a:avLst/>
          </a:prstGeom>
          <a:noFill/>
        </p:spPr>
        <p:txBody>
          <a:bodyPr wrap="square" lIns="0" rIns="0" tIns="0" bIns="0" anchor="t">
            <a:spAutoFit/>
          </a:bodyPr>
          <a:lstStyle/>
          <a:p>
            <a:pPr algn="l">
              <a:lnSpc>
                <a:spcPct val="115000"/>
              </a:lnSpc>
              <a:spcAft>
                <a:spcPts val="0"/>
              </a:spcAft>
            </a:pPr>
            <a:r>
              <a:rPr sz="1350" b="1">
                <a:solidFill>
                  <a:srgbClr val="1C7293"/>
                </a:solidFill>
                <a:latin typeface="Meiryo"/>
              </a:rPr>
              <a:t>やること</a:t>
            </a:r>
          </a:p>
        </p:txBody>
      </p:sp>
      <p:sp>
        <p:nvSpPr>
          <p:cNvPr id="7" name="TextBox 6"/>
          <p:cNvSpPr txBox="1"/>
          <p:nvPr/>
        </p:nvSpPr>
        <p:spPr>
          <a:xfrm>
            <a:off x="822960" y="2066543"/>
            <a:ext cx="49834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散乱係数を与えず、リブ・段・什器などを面として作図する。音線は形のとおりに散るので、係数の妥当性を悩まなくてよい。</a:t>
            </a:r>
          </a:p>
          <a:p>
            <a:pPr algn="l">
              <a:lnSpc>
                <a:spcPct val="130000"/>
              </a:lnSpc>
              <a:spcAft>
                <a:spcPts val="400"/>
              </a:spcAft>
            </a:pPr>
            <a:r>
              <a:rPr sz="1150" b="0">
                <a:solidFill>
                  <a:srgbClr val="22262B"/>
                </a:solidFill>
                <a:latin typeface="Meiryo"/>
              </a:rPr>
              <a:t>階段教室の反射板（7 枚・ピッチ 2.0 m）と段床はすでにこの形になっている。</a:t>
            </a:r>
          </a:p>
        </p:txBody>
      </p:sp>
      <p:sp>
        <p:nvSpPr>
          <p:cNvPr id="8" name="Rounded Rectangle 7"/>
          <p:cNvSpPr/>
          <p:nvPr/>
        </p:nvSpPr>
        <p:spPr>
          <a:xfrm>
            <a:off x="6373368" y="1517904"/>
            <a:ext cx="5248656" cy="2011680"/>
          </a:xfrm>
          <a:prstGeom prst="roundRect">
            <a:avLst>
              <a:gd name="adj" fmla="val 4000"/>
            </a:avLst>
          </a:prstGeom>
          <a:solidFill>
            <a:srgbClr val="FAEEEE"/>
          </a:solidFill>
          <a:ln w="12700">
            <a:solidFill>
              <a:srgbClr val="A83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629400" y="1700784"/>
            <a:ext cx="4754880" cy="292608"/>
          </a:xfrm>
          <a:prstGeom prst="rect">
            <a:avLst/>
          </a:prstGeom>
          <a:noFill/>
        </p:spPr>
        <p:txBody>
          <a:bodyPr wrap="square" lIns="0" rIns="0" tIns="0" bIns="0" anchor="t">
            <a:spAutoFit/>
          </a:bodyPr>
          <a:lstStyle/>
          <a:p>
            <a:pPr algn="l">
              <a:lnSpc>
                <a:spcPct val="115000"/>
              </a:lnSpc>
              <a:spcAft>
                <a:spcPts val="0"/>
              </a:spcAft>
            </a:pPr>
            <a:r>
              <a:rPr sz="1350" b="1">
                <a:solidFill>
                  <a:srgbClr val="A83232"/>
                </a:solidFill>
                <a:latin typeface="Meiryo"/>
              </a:rPr>
              <a:t>この方式だけでは足りない理由</a:t>
            </a:r>
          </a:p>
        </p:txBody>
      </p:sp>
      <p:sp>
        <p:nvSpPr>
          <p:cNvPr id="10" name="TextBox 9"/>
          <p:cNvSpPr txBox="1"/>
          <p:nvPr/>
        </p:nvSpPr>
        <p:spPr>
          <a:xfrm>
            <a:off x="6629400" y="2066543"/>
            <a:ext cx="4754880" cy="1325880"/>
          </a:xfrm>
          <a:prstGeom prst="rect">
            <a:avLst/>
          </a:prstGeom>
          <a:noFill/>
        </p:spPr>
        <p:txBody>
          <a:bodyPr wrap="square" lIns="0" rIns="0" tIns="0" bIns="0" anchor="t">
            <a:spAutoFit/>
          </a:bodyPr>
          <a:lstStyle/>
          <a:p>
            <a:pPr algn="l">
              <a:lnSpc>
                <a:spcPct val="130000"/>
              </a:lnSpc>
              <a:spcAft>
                <a:spcPts val="400"/>
              </a:spcAft>
            </a:pPr>
            <a:r>
              <a:rPr sz="1150" b="0">
                <a:solidFill>
                  <a:srgbClr val="22262B"/>
                </a:solidFill>
                <a:latin typeface="Meiryo"/>
              </a:rPr>
              <a:t>幾何音響は回折を解かない。波長が凹凸と同じ大きさになる低・中域では、実際は縁で回り込むのに、計算では鏡のように跳ね返る。作図を細かくしても、この誤差は小さくならない。</a:t>
            </a:r>
          </a:p>
        </p:txBody>
      </p:sp>
      <p:sp>
        <p:nvSpPr>
          <p:cNvPr id="11" name="Rectangle 10"/>
          <p:cNvSpPr/>
          <p:nvPr/>
        </p:nvSpPr>
        <p:spPr>
          <a:xfrm>
            <a:off x="566928" y="3785615"/>
            <a:ext cx="2303716"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観点</a:t>
            </a:r>
          </a:p>
        </p:txBody>
      </p:sp>
      <p:sp>
        <p:nvSpPr>
          <p:cNvPr id="12" name="Rectangle 11"/>
          <p:cNvSpPr/>
          <p:nvPr/>
        </p:nvSpPr>
        <p:spPr>
          <a:xfrm>
            <a:off x="2870644" y="3785615"/>
            <a:ext cx="2211567"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評価</a:t>
            </a:r>
          </a:p>
        </p:txBody>
      </p:sp>
      <p:sp>
        <p:nvSpPr>
          <p:cNvPr id="13" name="Rectangle 12"/>
          <p:cNvSpPr/>
          <p:nvPr/>
        </p:nvSpPr>
        <p:spPr>
          <a:xfrm>
            <a:off x="5082212" y="3785615"/>
            <a:ext cx="6542554" cy="365760"/>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理由</a:t>
            </a:r>
          </a:p>
        </p:txBody>
      </p:sp>
      <p:sp>
        <p:nvSpPr>
          <p:cNvPr id="14" name="Rectangle 13"/>
          <p:cNvSpPr/>
          <p:nvPr/>
        </p:nvSpPr>
        <p:spPr>
          <a:xfrm>
            <a:off x="566928" y="4151376"/>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計算コスト</a:t>
            </a:r>
          </a:p>
        </p:txBody>
      </p:sp>
      <p:sp>
        <p:nvSpPr>
          <p:cNvPr id="15" name="Rectangle 14"/>
          <p:cNvSpPr/>
          <p:nvPr/>
        </p:nvSpPr>
        <p:spPr>
          <a:xfrm>
            <a:off x="2870644" y="4151376"/>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A83232"/>
                </a:solidFill>
                <a:latin typeface="Meiryo"/>
              </a:rPr>
              <a:t>× 面数が増える</a:t>
            </a:r>
          </a:p>
        </p:txBody>
      </p:sp>
      <p:sp>
        <p:nvSpPr>
          <p:cNvPr id="16" name="Rectangle 15"/>
          <p:cNvSpPr/>
          <p:nvPr/>
        </p:nvSpPr>
        <p:spPr>
          <a:xfrm>
            <a:off x="5082212" y="4151376"/>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面数に比例して交差判定が重くなる</a:t>
            </a:r>
          </a:p>
        </p:txBody>
      </p:sp>
      <p:sp>
        <p:nvSpPr>
          <p:cNvPr id="17" name="Rectangle 16"/>
          <p:cNvSpPr/>
          <p:nvPr/>
        </p:nvSpPr>
        <p:spPr>
          <a:xfrm>
            <a:off x="566928" y="4535424"/>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計算精度</a:t>
            </a:r>
          </a:p>
        </p:txBody>
      </p:sp>
      <p:sp>
        <p:nvSpPr>
          <p:cNvPr id="18" name="Rectangle 17"/>
          <p:cNvSpPr/>
          <p:nvPr/>
        </p:nvSpPr>
        <p:spPr>
          <a:xfrm>
            <a:off x="2870644" y="4535424"/>
            <a:ext cx="2211567"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E0932F"/>
                </a:solidFill>
                <a:latin typeface="Meiryo"/>
              </a:rPr>
              <a:t>△ 低域が合わない</a:t>
            </a:r>
          </a:p>
        </p:txBody>
      </p:sp>
      <p:sp>
        <p:nvSpPr>
          <p:cNvPr id="19" name="Rectangle 18"/>
          <p:cNvSpPr/>
          <p:nvPr/>
        </p:nvSpPr>
        <p:spPr>
          <a:xfrm>
            <a:off x="5082212" y="4535424"/>
            <a:ext cx="6542554"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回折を解かないので、波長が凹凸に近い帯域で外れる</a:t>
            </a:r>
          </a:p>
        </p:txBody>
      </p:sp>
      <p:sp>
        <p:nvSpPr>
          <p:cNvPr id="20" name="Rectangle 19"/>
          <p:cNvSpPr/>
          <p:nvPr/>
        </p:nvSpPr>
        <p:spPr>
          <a:xfrm>
            <a:off x="566928" y="4919472"/>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s の設定</a:t>
            </a:r>
          </a:p>
        </p:txBody>
      </p:sp>
      <p:sp>
        <p:nvSpPr>
          <p:cNvPr id="21" name="Rectangle 20"/>
          <p:cNvSpPr/>
          <p:nvPr/>
        </p:nvSpPr>
        <p:spPr>
          <a:xfrm>
            <a:off x="2870644" y="4919472"/>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不要</a:t>
            </a:r>
          </a:p>
        </p:txBody>
      </p:sp>
      <p:sp>
        <p:nvSpPr>
          <p:cNvPr id="22" name="Rectangle 21"/>
          <p:cNvSpPr/>
          <p:nvPr/>
        </p:nvSpPr>
        <p:spPr>
          <a:xfrm>
            <a:off x="5082212" y="4919472"/>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決めるべき係数が無い</a:t>
            </a:r>
          </a:p>
        </p:txBody>
      </p:sp>
      <p:sp>
        <p:nvSpPr>
          <p:cNvPr id="23" name="Rectangle 22"/>
          <p:cNvSpPr/>
          <p:nvPr/>
        </p:nvSpPr>
        <p:spPr>
          <a:xfrm>
            <a:off x="566928" y="5303520"/>
            <a:ext cx="2303716"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モデル化</a:t>
            </a:r>
          </a:p>
        </p:txBody>
      </p:sp>
      <p:sp>
        <p:nvSpPr>
          <p:cNvPr id="24" name="Rectangle 23"/>
          <p:cNvSpPr/>
          <p:nvPr/>
        </p:nvSpPr>
        <p:spPr>
          <a:xfrm>
            <a:off x="2870644" y="5303520"/>
            <a:ext cx="2211567"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A83232"/>
                </a:solidFill>
                <a:latin typeface="Meiryo"/>
              </a:rPr>
              <a:t>× 作図の手間</a:t>
            </a:r>
          </a:p>
        </p:txBody>
      </p:sp>
      <p:sp>
        <p:nvSpPr>
          <p:cNvPr id="25" name="Rectangle 24"/>
          <p:cNvSpPr/>
          <p:nvPr/>
        </p:nvSpPr>
        <p:spPr>
          <a:xfrm>
            <a:off x="5082212" y="5303520"/>
            <a:ext cx="6542554" cy="38404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什器・リブまで作図してもらう必要がある</a:t>
            </a:r>
          </a:p>
        </p:txBody>
      </p:sp>
      <p:sp>
        <p:nvSpPr>
          <p:cNvPr id="26" name="Rectangle 25"/>
          <p:cNvSpPr/>
          <p:nvPr/>
        </p:nvSpPr>
        <p:spPr>
          <a:xfrm>
            <a:off x="566928" y="5687568"/>
            <a:ext cx="2303716"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既存コードへの影響</a:t>
            </a:r>
          </a:p>
        </p:txBody>
      </p:sp>
      <p:sp>
        <p:nvSpPr>
          <p:cNvPr id="27" name="Rectangle 26"/>
          <p:cNvSpPr/>
          <p:nvPr/>
        </p:nvSpPr>
        <p:spPr>
          <a:xfrm>
            <a:off x="2870644" y="5687568"/>
            <a:ext cx="2211567"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C6E49"/>
                </a:solidFill>
                <a:latin typeface="Meiryo"/>
              </a:rPr>
              <a:t>◎ 変更なし</a:t>
            </a:r>
          </a:p>
        </p:txBody>
      </p:sp>
      <p:sp>
        <p:nvSpPr>
          <p:cNvPr id="28" name="Rectangle 27"/>
          <p:cNvSpPr/>
          <p:nvPr/>
        </p:nvSpPr>
        <p:spPr>
          <a:xfrm>
            <a:off x="5082212" y="5687568"/>
            <a:ext cx="6542554" cy="38404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いまのプログラムのまま使える</a:t>
            </a:r>
          </a:p>
        </p:txBody>
      </p:sp>
      <p:sp>
        <p:nvSpPr>
          <p:cNvPr id="29" name="TextBox 28"/>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方式の比較（一覧）</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 良い ／ ○ 実用になる ／ △ 条件つき ／ × 難しい</a:t>
            </a:r>
          </a:p>
        </p:txBody>
      </p:sp>
      <p:sp>
        <p:nvSpPr>
          <p:cNvPr id="4" name="Rectangle 3"/>
          <p:cNvSpPr/>
          <p:nvPr/>
        </p:nvSpPr>
        <p:spPr>
          <a:xfrm>
            <a:off x="566928" y="1572768"/>
            <a:ext cx="2275275" cy="420624"/>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
            </a:r>
          </a:p>
        </p:txBody>
      </p:sp>
      <p:sp>
        <p:nvSpPr>
          <p:cNvPr id="5" name="Rectangle 4"/>
          <p:cNvSpPr/>
          <p:nvPr/>
        </p:nvSpPr>
        <p:spPr>
          <a:xfrm>
            <a:off x="2842203" y="1572768"/>
            <a:ext cx="1683703" cy="420624"/>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A ベクトル法</a:t>
            </a:r>
          </a:p>
        </p:txBody>
      </p:sp>
      <p:sp>
        <p:nvSpPr>
          <p:cNvPr id="6" name="Rectangle 5"/>
          <p:cNvSpPr/>
          <p:nvPr/>
        </p:nvSpPr>
        <p:spPr>
          <a:xfrm>
            <a:off x="4525907" y="1572768"/>
            <a:ext cx="1956736" cy="420624"/>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B 確率的散乱</a:t>
            </a:r>
          </a:p>
        </p:txBody>
      </p:sp>
      <p:sp>
        <p:nvSpPr>
          <p:cNvPr id="7" name="Rectangle 6"/>
          <p:cNvSpPr/>
          <p:nvPr/>
        </p:nvSpPr>
        <p:spPr>
          <a:xfrm>
            <a:off x="6482644" y="1572768"/>
            <a:ext cx="1683703" cy="420624"/>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C 2 次音源</a:t>
            </a:r>
          </a:p>
        </p:txBody>
      </p:sp>
      <p:sp>
        <p:nvSpPr>
          <p:cNvPr id="8" name="Rectangle 7"/>
          <p:cNvSpPr/>
          <p:nvPr/>
        </p:nvSpPr>
        <p:spPr>
          <a:xfrm>
            <a:off x="8166348" y="1572768"/>
            <a:ext cx="1683703" cy="420624"/>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D 放射伝達</a:t>
            </a:r>
          </a:p>
        </p:txBody>
      </p:sp>
      <p:sp>
        <p:nvSpPr>
          <p:cNvPr id="9" name="Rectangle 8"/>
          <p:cNvSpPr/>
          <p:nvPr/>
        </p:nvSpPr>
        <p:spPr>
          <a:xfrm>
            <a:off x="9850052" y="1572768"/>
            <a:ext cx="1774714" cy="420624"/>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E 幾何でつくる</a:t>
            </a:r>
          </a:p>
        </p:txBody>
      </p:sp>
      <p:sp>
        <p:nvSpPr>
          <p:cNvPr id="10" name="Rectangle 9"/>
          <p:cNvSpPr/>
          <p:nvPr/>
        </p:nvSpPr>
        <p:spPr>
          <a:xfrm>
            <a:off x="566928" y="1993392"/>
            <a:ext cx="2275275"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計算コスト</a:t>
            </a:r>
          </a:p>
        </p:txBody>
      </p:sp>
      <p:sp>
        <p:nvSpPr>
          <p:cNvPr id="11" name="Rectangle 10"/>
          <p:cNvSpPr/>
          <p:nvPr/>
        </p:nvSpPr>
        <p:spPr>
          <a:xfrm>
            <a:off x="2842203" y="1993392"/>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 変わらない</a:t>
            </a:r>
          </a:p>
        </p:txBody>
      </p:sp>
      <p:sp>
        <p:nvSpPr>
          <p:cNvPr id="12" name="Rectangle 11"/>
          <p:cNvSpPr/>
          <p:nvPr/>
        </p:nvSpPr>
        <p:spPr>
          <a:xfrm>
            <a:off x="4525907" y="1993392"/>
            <a:ext cx="1956736"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 音線を増やす</a:t>
            </a:r>
          </a:p>
        </p:txBody>
      </p:sp>
      <p:sp>
        <p:nvSpPr>
          <p:cNvPr id="13" name="Rectangle 12"/>
          <p:cNvSpPr/>
          <p:nvPr/>
        </p:nvSpPr>
        <p:spPr>
          <a:xfrm>
            <a:off x="6482644" y="1993392"/>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 可視判定ぶん</a:t>
            </a:r>
          </a:p>
        </p:txBody>
      </p:sp>
      <p:sp>
        <p:nvSpPr>
          <p:cNvPr id="14" name="Rectangle 13"/>
          <p:cNvSpPr/>
          <p:nvPr/>
        </p:nvSpPr>
        <p:spPr>
          <a:xfrm>
            <a:off x="8166348" y="1993392"/>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 前処理が重い</a:t>
            </a:r>
          </a:p>
        </p:txBody>
      </p:sp>
      <p:sp>
        <p:nvSpPr>
          <p:cNvPr id="15" name="Rectangle 14"/>
          <p:cNvSpPr/>
          <p:nvPr/>
        </p:nvSpPr>
        <p:spPr>
          <a:xfrm>
            <a:off x="9850052" y="1993392"/>
            <a:ext cx="1774714"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A83232"/>
                </a:solidFill>
                <a:latin typeface="Meiryo"/>
              </a:rPr>
              <a:t>× 面数が増える</a:t>
            </a:r>
          </a:p>
        </p:txBody>
      </p:sp>
      <p:sp>
        <p:nvSpPr>
          <p:cNvPr id="16" name="Rectangle 15"/>
          <p:cNvSpPr/>
          <p:nvPr/>
        </p:nvSpPr>
        <p:spPr>
          <a:xfrm>
            <a:off x="566928" y="2432304"/>
            <a:ext cx="2275275"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計算精度（後期残響）</a:t>
            </a:r>
          </a:p>
        </p:txBody>
      </p:sp>
      <p:sp>
        <p:nvSpPr>
          <p:cNvPr id="17" name="Rectangle 16"/>
          <p:cNvSpPr/>
          <p:nvPr/>
        </p:nvSpPr>
        <p:spPr>
          <a:xfrm>
            <a:off x="2842203" y="2432304"/>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a:t>
            </a:r>
          </a:p>
        </p:txBody>
      </p:sp>
      <p:sp>
        <p:nvSpPr>
          <p:cNvPr id="18" name="Rectangle 17"/>
          <p:cNvSpPr/>
          <p:nvPr/>
        </p:nvSpPr>
        <p:spPr>
          <a:xfrm>
            <a:off x="4525907" y="2432304"/>
            <a:ext cx="1956736"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a:t>
            </a:r>
          </a:p>
        </p:txBody>
      </p:sp>
      <p:sp>
        <p:nvSpPr>
          <p:cNvPr id="19" name="Rectangle 18"/>
          <p:cNvSpPr/>
          <p:nvPr/>
        </p:nvSpPr>
        <p:spPr>
          <a:xfrm>
            <a:off x="6482644" y="2432304"/>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a:t>
            </a:r>
          </a:p>
        </p:txBody>
      </p:sp>
      <p:sp>
        <p:nvSpPr>
          <p:cNvPr id="20" name="Rectangle 19"/>
          <p:cNvSpPr/>
          <p:nvPr/>
        </p:nvSpPr>
        <p:spPr>
          <a:xfrm>
            <a:off x="8166348" y="2432304"/>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a:t>
            </a:r>
          </a:p>
        </p:txBody>
      </p:sp>
      <p:sp>
        <p:nvSpPr>
          <p:cNvPr id="21" name="Rectangle 20"/>
          <p:cNvSpPr/>
          <p:nvPr/>
        </p:nvSpPr>
        <p:spPr>
          <a:xfrm>
            <a:off x="9850052" y="2432304"/>
            <a:ext cx="1774714"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 低域が弱い</a:t>
            </a:r>
          </a:p>
        </p:txBody>
      </p:sp>
      <p:sp>
        <p:nvSpPr>
          <p:cNvPr id="22" name="Rectangle 21"/>
          <p:cNvSpPr/>
          <p:nvPr/>
        </p:nvSpPr>
        <p:spPr>
          <a:xfrm>
            <a:off x="566928" y="2871216"/>
            <a:ext cx="2275275"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s の設定の難しさ</a:t>
            </a:r>
          </a:p>
        </p:txBody>
      </p:sp>
      <p:sp>
        <p:nvSpPr>
          <p:cNvPr id="23" name="Rectangle 22"/>
          <p:cNvSpPr/>
          <p:nvPr/>
        </p:nvSpPr>
        <p:spPr>
          <a:xfrm>
            <a:off x="2842203" y="2871216"/>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a:t>
            </a:r>
          </a:p>
        </p:txBody>
      </p:sp>
      <p:sp>
        <p:nvSpPr>
          <p:cNvPr id="24" name="Rectangle 23"/>
          <p:cNvSpPr/>
          <p:nvPr/>
        </p:nvSpPr>
        <p:spPr>
          <a:xfrm>
            <a:off x="4525907" y="2871216"/>
            <a:ext cx="1956736"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a:t>
            </a:r>
          </a:p>
        </p:txBody>
      </p:sp>
      <p:sp>
        <p:nvSpPr>
          <p:cNvPr id="25" name="Rectangle 24"/>
          <p:cNvSpPr/>
          <p:nvPr/>
        </p:nvSpPr>
        <p:spPr>
          <a:xfrm>
            <a:off x="6482644" y="2871216"/>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a:t>
            </a:r>
          </a:p>
        </p:txBody>
      </p:sp>
      <p:sp>
        <p:nvSpPr>
          <p:cNvPr id="26" name="Rectangle 25"/>
          <p:cNvSpPr/>
          <p:nvPr/>
        </p:nvSpPr>
        <p:spPr>
          <a:xfrm>
            <a:off x="8166348" y="2871216"/>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a:t>
            </a:r>
          </a:p>
        </p:txBody>
      </p:sp>
      <p:sp>
        <p:nvSpPr>
          <p:cNvPr id="27" name="Rectangle 26"/>
          <p:cNvSpPr/>
          <p:nvPr/>
        </p:nvSpPr>
        <p:spPr>
          <a:xfrm>
            <a:off x="9850052" y="2871216"/>
            <a:ext cx="1774714"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 不要</a:t>
            </a:r>
          </a:p>
        </p:txBody>
      </p:sp>
      <p:sp>
        <p:nvSpPr>
          <p:cNvPr id="28" name="Rectangle 27"/>
          <p:cNvSpPr/>
          <p:nvPr/>
        </p:nvSpPr>
        <p:spPr>
          <a:xfrm>
            <a:off x="566928" y="3310128"/>
            <a:ext cx="2275275"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モデル化の手間</a:t>
            </a:r>
          </a:p>
        </p:txBody>
      </p:sp>
      <p:sp>
        <p:nvSpPr>
          <p:cNvPr id="29" name="Rectangle 28"/>
          <p:cNvSpPr/>
          <p:nvPr/>
        </p:nvSpPr>
        <p:spPr>
          <a:xfrm>
            <a:off x="2842203" y="3310128"/>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 なし</a:t>
            </a:r>
          </a:p>
        </p:txBody>
      </p:sp>
      <p:sp>
        <p:nvSpPr>
          <p:cNvPr id="30" name="Rectangle 29"/>
          <p:cNvSpPr/>
          <p:nvPr/>
        </p:nvSpPr>
        <p:spPr>
          <a:xfrm>
            <a:off x="4525907" y="3310128"/>
            <a:ext cx="1956736"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 なし</a:t>
            </a:r>
          </a:p>
        </p:txBody>
      </p:sp>
      <p:sp>
        <p:nvSpPr>
          <p:cNvPr id="31" name="Rectangle 30"/>
          <p:cNvSpPr/>
          <p:nvPr/>
        </p:nvSpPr>
        <p:spPr>
          <a:xfrm>
            <a:off x="6482644" y="3310128"/>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 なし</a:t>
            </a:r>
          </a:p>
        </p:txBody>
      </p:sp>
      <p:sp>
        <p:nvSpPr>
          <p:cNvPr id="32" name="Rectangle 31"/>
          <p:cNvSpPr/>
          <p:nvPr/>
        </p:nvSpPr>
        <p:spPr>
          <a:xfrm>
            <a:off x="8166348" y="3310128"/>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 面を割る</a:t>
            </a:r>
          </a:p>
        </p:txBody>
      </p:sp>
      <p:sp>
        <p:nvSpPr>
          <p:cNvPr id="33" name="Rectangle 32"/>
          <p:cNvSpPr/>
          <p:nvPr/>
        </p:nvSpPr>
        <p:spPr>
          <a:xfrm>
            <a:off x="9850052" y="3310128"/>
            <a:ext cx="1774714"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A83232"/>
                </a:solidFill>
                <a:latin typeface="Meiryo"/>
              </a:rPr>
              <a:t>× 作図が要る</a:t>
            </a:r>
          </a:p>
        </p:txBody>
      </p:sp>
      <p:sp>
        <p:nvSpPr>
          <p:cNvPr id="34" name="Rectangle 33"/>
          <p:cNvSpPr/>
          <p:nvPr/>
        </p:nvSpPr>
        <p:spPr>
          <a:xfrm>
            <a:off x="566928" y="3749039"/>
            <a:ext cx="2275275"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既存コードへの影響</a:t>
            </a:r>
          </a:p>
        </p:txBody>
      </p:sp>
      <p:sp>
        <p:nvSpPr>
          <p:cNvPr id="35" name="Rectangle 34"/>
          <p:cNvSpPr/>
          <p:nvPr/>
        </p:nvSpPr>
        <p:spPr>
          <a:xfrm>
            <a:off x="2842203" y="3749039"/>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A83232"/>
                </a:solidFill>
                <a:latin typeface="Meiryo"/>
              </a:rPr>
              <a:t>× 骨組み</a:t>
            </a:r>
          </a:p>
        </p:txBody>
      </p:sp>
      <p:sp>
        <p:nvSpPr>
          <p:cNvPr id="36" name="Rectangle 35"/>
          <p:cNvSpPr/>
          <p:nvPr/>
        </p:nvSpPr>
        <p:spPr>
          <a:xfrm>
            <a:off x="4525907" y="3749039"/>
            <a:ext cx="1956736"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 追加</a:t>
            </a:r>
          </a:p>
        </p:txBody>
      </p:sp>
      <p:sp>
        <p:nvSpPr>
          <p:cNvPr id="37" name="Rectangle 36"/>
          <p:cNvSpPr/>
          <p:nvPr/>
        </p:nvSpPr>
        <p:spPr>
          <a:xfrm>
            <a:off x="6482644" y="3749039"/>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 追加</a:t>
            </a:r>
          </a:p>
        </p:txBody>
      </p:sp>
      <p:sp>
        <p:nvSpPr>
          <p:cNvPr id="38" name="Rectangle 37"/>
          <p:cNvSpPr/>
          <p:nvPr/>
        </p:nvSpPr>
        <p:spPr>
          <a:xfrm>
            <a:off x="8166348" y="3749039"/>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A83232"/>
                </a:solidFill>
                <a:latin typeface="Meiryo"/>
              </a:rPr>
              <a:t>× 別系統</a:t>
            </a:r>
          </a:p>
        </p:txBody>
      </p:sp>
      <p:sp>
        <p:nvSpPr>
          <p:cNvPr id="39" name="Rectangle 38"/>
          <p:cNvSpPr/>
          <p:nvPr/>
        </p:nvSpPr>
        <p:spPr>
          <a:xfrm>
            <a:off x="9850052" y="3749039"/>
            <a:ext cx="1774714"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 なし</a:t>
            </a:r>
          </a:p>
        </p:txBody>
      </p:sp>
      <p:sp>
        <p:nvSpPr>
          <p:cNvPr id="40" name="Rectangle 39"/>
          <p:cNvSpPr/>
          <p:nvPr/>
        </p:nvSpPr>
        <p:spPr>
          <a:xfrm>
            <a:off x="566928" y="4187952"/>
            <a:ext cx="2275275"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位相（複素和）の維持</a:t>
            </a:r>
          </a:p>
        </p:txBody>
      </p:sp>
      <p:sp>
        <p:nvSpPr>
          <p:cNvPr id="41" name="Rectangle 40"/>
          <p:cNvSpPr/>
          <p:nvPr/>
        </p:nvSpPr>
        <p:spPr>
          <a:xfrm>
            <a:off x="2842203" y="4187952"/>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A83232"/>
                </a:solidFill>
                <a:latin typeface="Meiryo"/>
              </a:rPr>
              <a:t>×</a:t>
            </a:r>
          </a:p>
        </p:txBody>
      </p:sp>
      <p:sp>
        <p:nvSpPr>
          <p:cNvPr id="42" name="Rectangle 41"/>
          <p:cNvSpPr/>
          <p:nvPr/>
        </p:nvSpPr>
        <p:spPr>
          <a:xfrm>
            <a:off x="4525907" y="4187952"/>
            <a:ext cx="1956736"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 住み分け可</a:t>
            </a:r>
          </a:p>
        </p:txBody>
      </p:sp>
      <p:sp>
        <p:nvSpPr>
          <p:cNvPr id="43" name="Rectangle 42"/>
          <p:cNvSpPr/>
          <p:nvPr/>
        </p:nvSpPr>
        <p:spPr>
          <a:xfrm>
            <a:off x="6482644" y="4187952"/>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E0932F"/>
                </a:solidFill>
                <a:latin typeface="Meiryo"/>
              </a:rPr>
              <a:t>△ 住み分け可</a:t>
            </a:r>
          </a:p>
        </p:txBody>
      </p:sp>
      <p:sp>
        <p:nvSpPr>
          <p:cNvPr id="44" name="Rectangle 43"/>
          <p:cNvSpPr/>
          <p:nvPr/>
        </p:nvSpPr>
        <p:spPr>
          <a:xfrm>
            <a:off x="8166348" y="4187952"/>
            <a:ext cx="1683703"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A83232"/>
                </a:solidFill>
                <a:latin typeface="Meiryo"/>
              </a:rPr>
              <a:t>×</a:t>
            </a:r>
          </a:p>
        </p:txBody>
      </p:sp>
      <p:sp>
        <p:nvSpPr>
          <p:cNvPr id="45" name="Rectangle 44"/>
          <p:cNvSpPr/>
          <p:nvPr/>
        </p:nvSpPr>
        <p:spPr>
          <a:xfrm>
            <a:off x="9850052" y="4187952"/>
            <a:ext cx="1774714" cy="438912"/>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C6E49"/>
                </a:solidFill>
                <a:latin typeface="Meiryo"/>
              </a:rPr>
              <a:t>◎ そのまま</a:t>
            </a:r>
          </a:p>
        </p:txBody>
      </p:sp>
      <p:sp>
        <p:nvSpPr>
          <p:cNvPr id="46" name="Rectangle 45"/>
          <p:cNvSpPr/>
          <p:nvPr/>
        </p:nvSpPr>
        <p:spPr>
          <a:xfrm>
            <a:off x="566928" y="4626864"/>
            <a:ext cx="2275275"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市販ソフトでの採用</a:t>
            </a:r>
          </a:p>
        </p:txBody>
      </p:sp>
      <p:sp>
        <p:nvSpPr>
          <p:cNvPr id="47" name="Rectangle 46"/>
          <p:cNvSpPr/>
          <p:nvPr/>
        </p:nvSpPr>
        <p:spPr>
          <a:xfrm>
            <a:off x="2842203" y="4626864"/>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ODEON</a:t>
            </a:r>
          </a:p>
        </p:txBody>
      </p:sp>
      <p:sp>
        <p:nvSpPr>
          <p:cNvPr id="48" name="Rectangle 47"/>
          <p:cNvSpPr/>
          <p:nvPr/>
        </p:nvSpPr>
        <p:spPr>
          <a:xfrm>
            <a:off x="4525907" y="4626864"/>
            <a:ext cx="1956736"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ODEON / CATT / RAVEN</a:t>
            </a:r>
          </a:p>
        </p:txBody>
      </p:sp>
      <p:sp>
        <p:nvSpPr>
          <p:cNvPr id="49" name="Rectangle 48"/>
          <p:cNvSpPr/>
          <p:nvPr/>
        </p:nvSpPr>
        <p:spPr>
          <a:xfrm>
            <a:off x="6482644" y="4626864"/>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ODEON / CATT</a:t>
            </a:r>
          </a:p>
        </p:txBody>
      </p:sp>
      <p:sp>
        <p:nvSpPr>
          <p:cNvPr id="50" name="Rectangle 49"/>
          <p:cNvSpPr/>
          <p:nvPr/>
        </p:nvSpPr>
        <p:spPr>
          <a:xfrm>
            <a:off x="8166348" y="4626864"/>
            <a:ext cx="1683703"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研究・一部製品</a:t>
            </a:r>
          </a:p>
        </p:txBody>
      </p:sp>
      <p:sp>
        <p:nvSpPr>
          <p:cNvPr id="51" name="Rectangle 50"/>
          <p:cNvSpPr/>
          <p:nvPr/>
        </p:nvSpPr>
        <p:spPr>
          <a:xfrm>
            <a:off x="9850052" y="4626864"/>
            <a:ext cx="1774714" cy="438912"/>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共通の前処理</a:t>
            </a:r>
          </a:p>
        </p:txBody>
      </p:sp>
      <p:sp>
        <p:nvSpPr>
          <p:cNvPr id="52" name="TextBox 51"/>
          <p:cNvSpPr txBox="1"/>
          <p:nvPr/>
        </p:nvSpPr>
        <p:spPr>
          <a:xfrm>
            <a:off x="566928" y="5431536"/>
            <a:ext cx="11057839" cy="868680"/>
          </a:xfrm>
          <a:prstGeom prst="rect">
            <a:avLst/>
          </a:prstGeom>
          <a:noFill/>
        </p:spPr>
        <p:txBody>
          <a:bodyPr wrap="square" lIns="0" rIns="0" tIns="0" bIns="0" anchor="t">
            <a:spAutoFit/>
          </a:bodyPr>
          <a:lstStyle/>
          <a:p>
            <a:pPr algn="l">
              <a:lnSpc>
                <a:spcPct val="115000"/>
              </a:lnSpc>
              <a:spcAft>
                <a:spcPts val="300"/>
              </a:spcAft>
            </a:pPr>
            <a:r>
              <a:rPr sz="1250" b="1">
                <a:solidFill>
                  <a:srgbClr val="1B254B"/>
                </a:solidFill>
                <a:latin typeface="Meiryo"/>
              </a:rPr>
              <a:t>読み方</a:t>
            </a:r>
          </a:p>
          <a:p>
            <a:pPr algn="l">
              <a:lnSpc>
                <a:spcPct val="130000"/>
              </a:lnSpc>
              <a:spcAft>
                <a:spcPts val="300"/>
              </a:spcAft>
            </a:pPr>
            <a:r>
              <a:rPr sz="1150" b="0">
                <a:solidFill>
                  <a:srgbClr val="22262B"/>
                </a:solidFill>
                <a:latin typeface="Meiryo"/>
              </a:rPr>
              <a:t>後期残響を直すのが目的なので、精度の行で ◎ が付く B と C が本命。どちらも単独より組み合わせたほうが素直で、市販ソフトもそうしている。E は係数を決めなくてよい利点があるので、B・C と併用して「作図した凹凸には小さい s」という使い分けになる。</a:t>
            </a:r>
          </a:p>
        </p:txBody>
      </p:sp>
      <p:sp>
        <p:nvSpPr>
          <p:cNvPr id="53" name="TextBox 52"/>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他のソフトはどうしているか</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★内部仕様は版で変わる。公開資料・論文から読み取れる範囲の整理</a:t>
            </a:r>
          </a:p>
        </p:txBody>
      </p:sp>
      <p:sp>
        <p:nvSpPr>
          <p:cNvPr id="4" name="Rectangle 3"/>
          <p:cNvSpPr/>
          <p:nvPr/>
        </p:nvSpPr>
        <p:spPr>
          <a:xfrm>
            <a:off x="566928" y="1572768"/>
            <a:ext cx="1471575"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ソフト</a:t>
            </a:r>
          </a:p>
        </p:txBody>
      </p:sp>
      <p:sp>
        <p:nvSpPr>
          <p:cNvPr id="5" name="Rectangle 4"/>
          <p:cNvSpPr/>
          <p:nvPr/>
        </p:nvSpPr>
        <p:spPr>
          <a:xfrm>
            <a:off x="2038503" y="1572768"/>
            <a:ext cx="1807935"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早期反射</a:t>
            </a:r>
          </a:p>
        </p:txBody>
      </p:sp>
      <p:sp>
        <p:nvSpPr>
          <p:cNvPr id="6" name="Rectangle 5"/>
          <p:cNvSpPr/>
          <p:nvPr/>
        </p:nvSpPr>
        <p:spPr>
          <a:xfrm>
            <a:off x="3846439" y="1572768"/>
            <a:ext cx="1807935"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後期残響</a:t>
            </a:r>
          </a:p>
        </p:txBody>
      </p:sp>
      <p:sp>
        <p:nvSpPr>
          <p:cNvPr id="7" name="Rectangle 6"/>
          <p:cNvSpPr/>
          <p:nvPr/>
        </p:nvSpPr>
        <p:spPr>
          <a:xfrm>
            <a:off x="5654374" y="1572768"/>
            <a:ext cx="2102250"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散乱の入れ方</a:t>
            </a:r>
          </a:p>
        </p:txBody>
      </p:sp>
      <p:sp>
        <p:nvSpPr>
          <p:cNvPr id="8" name="Rectangle 7"/>
          <p:cNvSpPr/>
          <p:nvPr/>
        </p:nvSpPr>
        <p:spPr>
          <a:xfrm>
            <a:off x="7756625" y="1572768"/>
            <a:ext cx="1765890"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回折</a:t>
            </a:r>
          </a:p>
        </p:txBody>
      </p:sp>
      <p:sp>
        <p:nvSpPr>
          <p:cNvPr id="9" name="Rectangle 8"/>
          <p:cNvSpPr/>
          <p:nvPr/>
        </p:nvSpPr>
        <p:spPr>
          <a:xfrm>
            <a:off x="9522516" y="1572768"/>
            <a:ext cx="2102250"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散乱係数の入力</a:t>
            </a:r>
          </a:p>
        </p:txBody>
      </p:sp>
      <p:sp>
        <p:nvSpPr>
          <p:cNvPr id="10" name="Rectangle 9"/>
          <p:cNvSpPr/>
          <p:nvPr/>
        </p:nvSpPr>
        <p:spPr>
          <a:xfrm>
            <a:off x="566928" y="1975104"/>
            <a:ext cx="147157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950" b="0">
                <a:solidFill>
                  <a:srgbClr val="22262B"/>
                </a:solidFill>
                <a:latin typeface="Meiryo"/>
              </a:rPr>
              <a:t>ODEON</a:t>
            </a:r>
          </a:p>
        </p:txBody>
      </p:sp>
      <p:sp>
        <p:nvSpPr>
          <p:cNvPr id="11" name="Rectangle 10"/>
          <p:cNvSpPr/>
          <p:nvPr/>
        </p:nvSpPr>
        <p:spPr>
          <a:xfrm>
            <a:off x="2038503" y="1975104"/>
            <a:ext cx="180793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虚音源（次数で切替）</a:t>
            </a:r>
          </a:p>
        </p:txBody>
      </p:sp>
      <p:sp>
        <p:nvSpPr>
          <p:cNvPr id="12" name="Rectangle 11"/>
          <p:cNvSpPr/>
          <p:nvPr/>
        </p:nvSpPr>
        <p:spPr>
          <a:xfrm>
            <a:off x="3846439" y="1975104"/>
            <a:ext cx="180793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音線 ＋ 2 次音源</a:t>
            </a:r>
          </a:p>
        </p:txBody>
      </p:sp>
      <p:sp>
        <p:nvSpPr>
          <p:cNvPr id="13" name="Rectangle 12"/>
          <p:cNvSpPr/>
          <p:nvPr/>
        </p:nvSpPr>
        <p:spPr>
          <a:xfrm>
            <a:off x="5654374" y="1975104"/>
            <a:ext cx="210225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向きを混ぜる（VBS）
＋ diffuse rain</a:t>
            </a:r>
          </a:p>
        </p:txBody>
      </p:sp>
      <p:sp>
        <p:nvSpPr>
          <p:cNvPr id="14" name="Rectangle 13"/>
          <p:cNvSpPr/>
          <p:nvPr/>
        </p:nvSpPr>
        <p:spPr>
          <a:xfrm>
            <a:off x="7756625" y="1975104"/>
            <a:ext cx="176589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縁の回折を別に足す</a:t>
            </a:r>
          </a:p>
        </p:txBody>
      </p:sp>
      <p:sp>
        <p:nvSpPr>
          <p:cNvPr id="15" name="Rectangle 14"/>
          <p:cNvSpPr/>
          <p:nvPr/>
        </p:nvSpPr>
        <p:spPr>
          <a:xfrm>
            <a:off x="9522516" y="1975104"/>
            <a:ext cx="210225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面ごと・周波数別
＋ 面の大きさから自動補正</a:t>
            </a:r>
          </a:p>
        </p:txBody>
      </p:sp>
      <p:sp>
        <p:nvSpPr>
          <p:cNvPr id="16" name="Rectangle 15"/>
          <p:cNvSpPr/>
          <p:nvPr/>
        </p:nvSpPr>
        <p:spPr>
          <a:xfrm>
            <a:off x="566928" y="2542032"/>
            <a:ext cx="147157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950" b="0">
                <a:solidFill>
                  <a:srgbClr val="22262B"/>
                </a:solidFill>
                <a:latin typeface="Meiryo"/>
              </a:rPr>
              <a:t>CATT-Acoustic</a:t>
            </a:r>
          </a:p>
        </p:txBody>
      </p:sp>
      <p:sp>
        <p:nvSpPr>
          <p:cNvPr id="17" name="Rectangle 16"/>
          <p:cNvSpPr/>
          <p:nvPr/>
        </p:nvSpPr>
        <p:spPr>
          <a:xfrm>
            <a:off x="2038503" y="2542032"/>
            <a:ext cx="180793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虚音源</a:t>
            </a:r>
          </a:p>
        </p:txBody>
      </p:sp>
      <p:sp>
        <p:nvSpPr>
          <p:cNvPr id="18" name="Rectangle 17"/>
          <p:cNvSpPr/>
          <p:nvPr/>
        </p:nvSpPr>
        <p:spPr>
          <a:xfrm>
            <a:off x="3846439" y="2542032"/>
            <a:ext cx="180793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コーン追跡（ランダム化）</a:t>
            </a:r>
          </a:p>
        </p:txBody>
      </p:sp>
      <p:sp>
        <p:nvSpPr>
          <p:cNvPr id="19" name="Rectangle 18"/>
          <p:cNvSpPr/>
          <p:nvPr/>
        </p:nvSpPr>
        <p:spPr>
          <a:xfrm>
            <a:off x="5654374" y="2542032"/>
            <a:ext cx="210225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確率で切替 ＋ 分割
アルゴリズムを選ぶ</a:t>
            </a:r>
          </a:p>
        </p:txBody>
      </p:sp>
      <p:sp>
        <p:nvSpPr>
          <p:cNvPr id="20" name="Rectangle 19"/>
          <p:cNvSpPr/>
          <p:nvPr/>
        </p:nvSpPr>
        <p:spPr>
          <a:xfrm>
            <a:off x="7756625" y="2542032"/>
            <a:ext cx="176589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限定的</a:t>
            </a:r>
          </a:p>
        </p:txBody>
      </p:sp>
      <p:sp>
        <p:nvSpPr>
          <p:cNvPr id="21" name="Rectangle 20"/>
          <p:cNvSpPr/>
          <p:nvPr/>
        </p:nvSpPr>
        <p:spPr>
          <a:xfrm>
            <a:off x="9522516" y="2542032"/>
            <a:ext cx="210225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面ごと・周波数別</a:t>
            </a:r>
          </a:p>
        </p:txBody>
      </p:sp>
      <p:sp>
        <p:nvSpPr>
          <p:cNvPr id="22" name="Rectangle 21"/>
          <p:cNvSpPr/>
          <p:nvPr/>
        </p:nvSpPr>
        <p:spPr>
          <a:xfrm>
            <a:off x="566928" y="3108960"/>
            <a:ext cx="147157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950" b="0">
                <a:solidFill>
                  <a:srgbClr val="22262B"/>
                </a:solidFill>
                <a:latin typeface="Meiryo"/>
              </a:rPr>
              <a:t>RAVEN</a:t>
            </a:r>
          </a:p>
        </p:txBody>
      </p:sp>
      <p:sp>
        <p:nvSpPr>
          <p:cNvPr id="23" name="Rectangle 22"/>
          <p:cNvSpPr/>
          <p:nvPr/>
        </p:nvSpPr>
        <p:spPr>
          <a:xfrm>
            <a:off x="2038503" y="3108960"/>
            <a:ext cx="180793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虚音源 ＋ 可聴判定</a:t>
            </a:r>
          </a:p>
        </p:txBody>
      </p:sp>
      <p:sp>
        <p:nvSpPr>
          <p:cNvPr id="24" name="Rectangle 23"/>
          <p:cNvSpPr/>
          <p:nvPr/>
        </p:nvSpPr>
        <p:spPr>
          <a:xfrm>
            <a:off x="3846439" y="3108960"/>
            <a:ext cx="180793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確率的な音線</a:t>
            </a:r>
          </a:p>
        </p:txBody>
      </p:sp>
      <p:sp>
        <p:nvSpPr>
          <p:cNvPr id="25" name="Rectangle 24"/>
          <p:cNvSpPr/>
          <p:nvPr/>
        </p:nvSpPr>
        <p:spPr>
          <a:xfrm>
            <a:off x="5654374" y="3108960"/>
            <a:ext cx="210225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確率で切替
＋ diffuse rain</a:t>
            </a:r>
          </a:p>
        </p:txBody>
      </p:sp>
      <p:sp>
        <p:nvSpPr>
          <p:cNvPr id="26" name="Rectangle 25"/>
          <p:cNvSpPr/>
          <p:nvPr/>
        </p:nvSpPr>
        <p:spPr>
          <a:xfrm>
            <a:off x="7756625" y="3108960"/>
            <a:ext cx="176589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回折モデルを選べる</a:t>
            </a:r>
          </a:p>
        </p:txBody>
      </p:sp>
      <p:sp>
        <p:nvSpPr>
          <p:cNvPr id="27" name="Rectangle 26"/>
          <p:cNvSpPr/>
          <p:nvPr/>
        </p:nvSpPr>
        <p:spPr>
          <a:xfrm>
            <a:off x="9522516" y="3108960"/>
            <a:ext cx="210225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面ごと・周波数別</a:t>
            </a:r>
          </a:p>
        </p:txBody>
      </p:sp>
      <p:sp>
        <p:nvSpPr>
          <p:cNvPr id="28" name="Rectangle 27"/>
          <p:cNvSpPr/>
          <p:nvPr/>
        </p:nvSpPr>
        <p:spPr>
          <a:xfrm>
            <a:off x="566928" y="3675888"/>
            <a:ext cx="147157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950" b="0">
                <a:solidFill>
                  <a:srgbClr val="22262B"/>
                </a:solidFill>
                <a:latin typeface="Meiryo"/>
              </a:rPr>
              <a:t>EASE / AURA</a:t>
            </a:r>
          </a:p>
        </p:txBody>
      </p:sp>
      <p:sp>
        <p:nvSpPr>
          <p:cNvPr id="29" name="Rectangle 28"/>
          <p:cNvSpPr/>
          <p:nvPr/>
        </p:nvSpPr>
        <p:spPr>
          <a:xfrm>
            <a:off x="2038503" y="3675888"/>
            <a:ext cx="180793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虚音源</a:t>
            </a:r>
          </a:p>
        </p:txBody>
      </p:sp>
      <p:sp>
        <p:nvSpPr>
          <p:cNvPr id="30" name="Rectangle 29"/>
          <p:cNvSpPr/>
          <p:nvPr/>
        </p:nvSpPr>
        <p:spPr>
          <a:xfrm>
            <a:off x="3846439" y="3675888"/>
            <a:ext cx="180793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音線・粒子</a:t>
            </a:r>
          </a:p>
        </p:txBody>
      </p:sp>
      <p:sp>
        <p:nvSpPr>
          <p:cNvPr id="31" name="Rectangle 30"/>
          <p:cNvSpPr/>
          <p:nvPr/>
        </p:nvSpPr>
        <p:spPr>
          <a:xfrm>
            <a:off x="5654374" y="3675888"/>
            <a:ext cx="210225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確率で切替</a:t>
            </a:r>
          </a:p>
        </p:txBody>
      </p:sp>
      <p:sp>
        <p:nvSpPr>
          <p:cNvPr id="32" name="Rectangle 31"/>
          <p:cNvSpPr/>
          <p:nvPr/>
        </p:nvSpPr>
        <p:spPr>
          <a:xfrm>
            <a:off x="7756625" y="3675888"/>
            <a:ext cx="176589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限定的</a:t>
            </a:r>
          </a:p>
        </p:txBody>
      </p:sp>
      <p:sp>
        <p:nvSpPr>
          <p:cNvPr id="33" name="Rectangle 32"/>
          <p:cNvSpPr/>
          <p:nvPr/>
        </p:nvSpPr>
        <p:spPr>
          <a:xfrm>
            <a:off x="9522516" y="3675888"/>
            <a:ext cx="210225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面ごと</a:t>
            </a:r>
          </a:p>
        </p:txBody>
      </p:sp>
      <p:sp>
        <p:nvSpPr>
          <p:cNvPr id="34" name="Rectangle 33"/>
          <p:cNvSpPr/>
          <p:nvPr/>
        </p:nvSpPr>
        <p:spPr>
          <a:xfrm>
            <a:off x="566928" y="4242816"/>
            <a:ext cx="147157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950" b="0">
                <a:solidFill>
                  <a:srgbClr val="22262B"/>
                </a:solidFill>
                <a:latin typeface="Meiryo"/>
              </a:rPr>
              <a:t>Olive Tree Lab</a:t>
            </a:r>
          </a:p>
        </p:txBody>
      </p:sp>
      <p:sp>
        <p:nvSpPr>
          <p:cNvPr id="35" name="Rectangle 34"/>
          <p:cNvSpPr/>
          <p:nvPr/>
        </p:nvSpPr>
        <p:spPr>
          <a:xfrm>
            <a:off x="2038503" y="4242816"/>
            <a:ext cx="180793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虚音源</a:t>
            </a:r>
          </a:p>
        </p:txBody>
      </p:sp>
      <p:sp>
        <p:nvSpPr>
          <p:cNvPr id="36" name="Rectangle 35"/>
          <p:cNvSpPr/>
          <p:nvPr/>
        </p:nvSpPr>
        <p:spPr>
          <a:xfrm>
            <a:off x="3846439" y="4242816"/>
            <a:ext cx="1807935"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虚音源 ＋ 回折</a:t>
            </a:r>
          </a:p>
        </p:txBody>
      </p:sp>
      <p:sp>
        <p:nvSpPr>
          <p:cNvPr id="37" name="Rectangle 36"/>
          <p:cNvSpPr/>
          <p:nvPr/>
        </p:nvSpPr>
        <p:spPr>
          <a:xfrm>
            <a:off x="5654374" y="4242816"/>
            <a:ext cx="210225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★散乱係数に頼らない</a:t>
            </a:r>
          </a:p>
        </p:txBody>
      </p:sp>
      <p:sp>
        <p:nvSpPr>
          <p:cNvPr id="38" name="Rectangle 37"/>
          <p:cNvSpPr/>
          <p:nvPr/>
        </p:nvSpPr>
        <p:spPr>
          <a:xfrm>
            <a:off x="7756625" y="4242816"/>
            <a:ext cx="176589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陽に解く（縁の 2 次音源）</a:t>
            </a:r>
          </a:p>
        </p:txBody>
      </p:sp>
      <p:sp>
        <p:nvSpPr>
          <p:cNvPr id="39" name="Rectangle 38"/>
          <p:cNvSpPr/>
          <p:nvPr/>
        </p:nvSpPr>
        <p:spPr>
          <a:xfrm>
            <a:off x="9522516" y="4242816"/>
            <a:ext cx="2102250" cy="566928"/>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原則使わない</a:t>
            </a:r>
          </a:p>
        </p:txBody>
      </p:sp>
      <p:sp>
        <p:nvSpPr>
          <p:cNvPr id="40" name="Rectangle 39"/>
          <p:cNvSpPr/>
          <p:nvPr/>
        </p:nvSpPr>
        <p:spPr>
          <a:xfrm>
            <a:off x="566928" y="4809744"/>
            <a:ext cx="147157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950" b="0">
                <a:solidFill>
                  <a:srgbClr val="22262B"/>
                </a:solidFill>
                <a:latin typeface="Meiryo"/>
              </a:rPr>
              <a:t>Treble</a:t>
            </a:r>
          </a:p>
        </p:txBody>
      </p:sp>
      <p:sp>
        <p:nvSpPr>
          <p:cNvPr id="41" name="Rectangle 40"/>
          <p:cNvSpPr/>
          <p:nvPr/>
        </p:nvSpPr>
        <p:spPr>
          <a:xfrm>
            <a:off x="2038503" y="4809744"/>
            <a:ext cx="180793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低域は波動（DG-FEM）</a:t>
            </a:r>
          </a:p>
        </p:txBody>
      </p:sp>
      <p:sp>
        <p:nvSpPr>
          <p:cNvPr id="42" name="Rectangle 41"/>
          <p:cNvSpPr/>
          <p:nvPr/>
        </p:nvSpPr>
        <p:spPr>
          <a:xfrm>
            <a:off x="3846439" y="4809744"/>
            <a:ext cx="1807935"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高域は幾何音響</a:t>
            </a:r>
          </a:p>
        </p:txBody>
      </p:sp>
      <p:sp>
        <p:nvSpPr>
          <p:cNvPr id="43" name="Rectangle 42"/>
          <p:cNvSpPr/>
          <p:nvPr/>
        </p:nvSpPr>
        <p:spPr>
          <a:xfrm>
            <a:off x="5654374" y="4809744"/>
            <a:ext cx="210225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高域だけ散乱係数</a:t>
            </a:r>
          </a:p>
        </p:txBody>
      </p:sp>
      <p:sp>
        <p:nvSpPr>
          <p:cNvPr id="44" name="Rectangle 43"/>
          <p:cNvSpPr/>
          <p:nvPr/>
        </p:nvSpPr>
        <p:spPr>
          <a:xfrm>
            <a:off x="7756625" y="4809744"/>
            <a:ext cx="176589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低域は波動が自然に解く</a:t>
            </a:r>
          </a:p>
        </p:txBody>
      </p:sp>
      <p:sp>
        <p:nvSpPr>
          <p:cNvPr id="45" name="Rectangle 44"/>
          <p:cNvSpPr/>
          <p:nvPr/>
        </p:nvSpPr>
        <p:spPr>
          <a:xfrm>
            <a:off x="9522516" y="4809744"/>
            <a:ext cx="2102250" cy="566928"/>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950" b="0">
                <a:solidFill>
                  <a:srgbClr val="22262B"/>
                </a:solidFill>
                <a:latin typeface="Meiryo"/>
              </a:rPr>
              <a:t>高域だけ</a:t>
            </a:r>
          </a:p>
        </p:txBody>
      </p:sp>
      <p:sp>
        <p:nvSpPr>
          <p:cNvPr id="46" name="TextBox 45"/>
          <p:cNvSpPr txBox="1"/>
          <p:nvPr/>
        </p:nvSpPr>
        <p:spPr>
          <a:xfrm>
            <a:off x="566928" y="5522976"/>
            <a:ext cx="10332720" cy="914400"/>
          </a:xfrm>
          <a:prstGeom prst="rect">
            <a:avLst/>
          </a:prstGeom>
          <a:noFill/>
        </p:spPr>
        <p:txBody>
          <a:bodyPr wrap="square" lIns="0" rIns="0" tIns="0" bIns="0" anchor="t">
            <a:spAutoFit/>
          </a:bodyPr>
          <a:lstStyle/>
          <a:p>
            <a:pPr algn="l">
              <a:lnSpc>
                <a:spcPct val="115000"/>
              </a:lnSpc>
              <a:spcAft>
                <a:spcPts val="300"/>
              </a:spcAft>
            </a:pPr>
            <a:r>
              <a:rPr sz="1250" b="1">
                <a:solidFill>
                  <a:srgbClr val="1B254B"/>
                </a:solidFill>
                <a:latin typeface="Meiryo"/>
              </a:rPr>
              <a:t>共通しているのは 2 つ</a:t>
            </a:r>
          </a:p>
          <a:p>
            <a:pPr algn="l">
              <a:lnSpc>
                <a:spcPct val="130000"/>
              </a:lnSpc>
              <a:spcAft>
                <a:spcPts val="300"/>
              </a:spcAft>
            </a:pPr>
            <a:r>
              <a:rPr sz="1150" b="0">
                <a:solidFill>
                  <a:srgbClr val="22262B"/>
                </a:solidFill>
                <a:latin typeface="Meiryo"/>
              </a:rPr>
              <a:t>① 早期は虚音源で厳密に、後期は確率的に、という住み分け。② 散乱は面ごとの係数として周波数別に持たせる。★どのソフトも「散乱を入れずに後期残響を出す」ことはしていない。</a:t>
            </a:r>
          </a:p>
        </p:txBody>
      </p:sp>
      <p:sp>
        <p:nvSpPr>
          <p:cNvPr id="47" name="TextBox 46"/>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主要な 3 本をもう少し詳しく</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このプログラムが合流するとしたら ODEON / RAVEN の系統になる</a:t>
            </a:r>
          </a:p>
        </p:txBody>
      </p:sp>
      <p:sp>
        <p:nvSpPr>
          <p:cNvPr id="4" name="Rounded Rectangle 3"/>
          <p:cNvSpPr/>
          <p:nvPr/>
        </p:nvSpPr>
        <p:spPr>
          <a:xfrm>
            <a:off x="566928" y="1572768"/>
            <a:ext cx="3630168" cy="3977639"/>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55648"/>
            <a:ext cx="3108960" cy="420624"/>
          </a:xfrm>
          <a:prstGeom prst="rect">
            <a:avLst/>
          </a:prstGeom>
          <a:noFill/>
        </p:spPr>
        <p:txBody>
          <a:bodyPr wrap="square" lIns="0" rIns="0" tIns="0" bIns="0" anchor="t">
            <a:spAutoFit/>
          </a:bodyPr>
          <a:lstStyle/>
          <a:p>
            <a:pPr algn="l">
              <a:lnSpc>
                <a:spcPct val="115000"/>
              </a:lnSpc>
              <a:spcAft>
                <a:spcPts val="0"/>
              </a:spcAft>
            </a:pPr>
            <a:r>
              <a:rPr sz="1700" b="1">
                <a:solidFill>
                  <a:srgbClr val="1B254B"/>
                </a:solidFill>
                <a:latin typeface="Meiryo"/>
              </a:rPr>
              <a:t>ODEON</a:t>
            </a:r>
          </a:p>
        </p:txBody>
      </p:sp>
      <p:sp>
        <p:nvSpPr>
          <p:cNvPr id="6" name="TextBox 5"/>
          <p:cNvSpPr txBox="1"/>
          <p:nvPr/>
        </p:nvSpPr>
        <p:spPr>
          <a:xfrm>
            <a:off x="822960" y="2157984"/>
            <a:ext cx="3108960" cy="274320"/>
          </a:xfrm>
          <a:prstGeom prst="rect">
            <a:avLst/>
          </a:prstGeom>
          <a:noFill/>
        </p:spPr>
        <p:txBody>
          <a:bodyPr wrap="square" lIns="0" rIns="0" tIns="0" bIns="0" anchor="t">
            <a:spAutoFit/>
          </a:bodyPr>
          <a:lstStyle/>
          <a:p>
            <a:pPr algn="l">
              <a:lnSpc>
                <a:spcPct val="115000"/>
              </a:lnSpc>
              <a:spcAft>
                <a:spcPts val="0"/>
              </a:spcAft>
            </a:pPr>
            <a:r>
              <a:rPr sz="1050" b="0">
                <a:solidFill>
                  <a:srgbClr val="606A76"/>
                </a:solidFill>
                <a:latin typeface="Meiryo"/>
              </a:rPr>
              <a:t>デンマーク工科大の系統</a:t>
            </a:r>
          </a:p>
        </p:txBody>
      </p:sp>
      <p:sp>
        <p:nvSpPr>
          <p:cNvPr id="7" name="TextBox 6"/>
          <p:cNvSpPr txBox="1"/>
          <p:nvPr/>
        </p:nvSpPr>
        <p:spPr>
          <a:xfrm>
            <a:off x="822960" y="2578608"/>
            <a:ext cx="3127248" cy="2834640"/>
          </a:xfrm>
          <a:prstGeom prst="rect">
            <a:avLst/>
          </a:prstGeom>
          <a:noFill/>
        </p:spPr>
        <p:txBody>
          <a:bodyPr wrap="square" lIns="0" rIns="0" tIns="0" bIns="0" anchor="t">
            <a:spAutoFit/>
          </a:bodyPr>
          <a:lstStyle/>
          <a:p>
            <a:pPr algn="l">
              <a:lnSpc>
                <a:spcPct val="125000"/>
              </a:lnSpc>
              <a:spcAft>
                <a:spcPts val="800"/>
              </a:spcAft>
            </a:pPr>
            <a:r>
              <a:rPr sz="1050" b="0">
                <a:solidFill>
                  <a:srgbClr val="22262B"/>
                </a:solidFill>
                <a:latin typeface="Meiryo"/>
              </a:rPr>
              <a:t>・反射次数 TO で早期／後期を切り替える</a:t>
            </a:r>
          </a:p>
          <a:p>
            <a:pPr algn="l">
              <a:lnSpc>
                <a:spcPct val="125000"/>
              </a:lnSpc>
              <a:spcAft>
                <a:spcPts val="800"/>
              </a:spcAft>
            </a:pPr>
            <a:r>
              <a:rPr sz="1050" b="0">
                <a:solidFill>
                  <a:srgbClr val="22262B"/>
                </a:solidFill>
                <a:latin typeface="Meiryo"/>
              </a:rPr>
              <a:t>・★VBS：鏡面方向と Lambert 方向を s : (1−s) で混ぜて 1 本にする</a:t>
            </a:r>
          </a:p>
          <a:p>
            <a:pPr algn="l">
              <a:lnSpc>
                <a:spcPct val="125000"/>
              </a:lnSpc>
              <a:spcAft>
                <a:spcPts val="800"/>
              </a:spcAft>
            </a:pPr>
            <a:r>
              <a:rPr sz="1050" b="0">
                <a:solidFill>
                  <a:srgbClr val="22262B"/>
                </a:solidFill>
                <a:latin typeface="Meiryo"/>
              </a:rPr>
              <a:t>・★diffuse rain：当たった面から受音点へ直接送る</a:t>
            </a:r>
          </a:p>
          <a:p>
            <a:pPr algn="l">
              <a:lnSpc>
                <a:spcPct val="125000"/>
              </a:lnSpc>
              <a:spcAft>
                <a:spcPts val="800"/>
              </a:spcAft>
            </a:pPr>
            <a:r>
              <a:rPr sz="1050" b="0">
                <a:solidFill>
                  <a:srgbClr val="22262B"/>
                </a:solidFill>
                <a:latin typeface="Meiryo"/>
              </a:rPr>
              <a:t>・面の大きさから縁の散乱を自動で足す（大きい面ほど小さい）</a:t>
            </a:r>
          </a:p>
          <a:p>
            <a:pPr algn="l">
              <a:lnSpc>
                <a:spcPct val="125000"/>
              </a:lnSpc>
              <a:spcAft>
                <a:spcPts val="800"/>
              </a:spcAft>
            </a:pPr>
            <a:r>
              <a:rPr sz="1050" b="0">
                <a:solidFill>
                  <a:srgbClr val="22262B"/>
                </a:solidFill>
                <a:latin typeface="Meiryo"/>
              </a:rPr>
              <a:t>・既定値は平滑 0.05 / 客席 0.7</a:t>
            </a:r>
          </a:p>
        </p:txBody>
      </p:sp>
      <p:sp>
        <p:nvSpPr>
          <p:cNvPr id="8" name="Rounded Rectangle 7"/>
          <p:cNvSpPr/>
          <p:nvPr/>
        </p:nvSpPr>
        <p:spPr>
          <a:xfrm>
            <a:off x="4389120" y="1572768"/>
            <a:ext cx="3630168" cy="3977639"/>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45152" y="1755648"/>
            <a:ext cx="3108960" cy="420624"/>
          </a:xfrm>
          <a:prstGeom prst="rect">
            <a:avLst/>
          </a:prstGeom>
          <a:noFill/>
        </p:spPr>
        <p:txBody>
          <a:bodyPr wrap="square" lIns="0" rIns="0" tIns="0" bIns="0" anchor="t">
            <a:spAutoFit/>
          </a:bodyPr>
          <a:lstStyle/>
          <a:p>
            <a:pPr algn="l">
              <a:lnSpc>
                <a:spcPct val="115000"/>
              </a:lnSpc>
              <a:spcAft>
                <a:spcPts val="0"/>
              </a:spcAft>
            </a:pPr>
            <a:r>
              <a:rPr sz="1700" b="1">
                <a:solidFill>
                  <a:srgbClr val="1B254B"/>
                </a:solidFill>
                <a:latin typeface="Meiryo"/>
              </a:rPr>
              <a:t>CATT-Acoustic</a:t>
            </a:r>
          </a:p>
        </p:txBody>
      </p:sp>
      <p:sp>
        <p:nvSpPr>
          <p:cNvPr id="10" name="TextBox 9"/>
          <p:cNvSpPr txBox="1"/>
          <p:nvPr/>
        </p:nvSpPr>
        <p:spPr>
          <a:xfrm>
            <a:off x="4645152" y="2157984"/>
            <a:ext cx="3108960" cy="274320"/>
          </a:xfrm>
          <a:prstGeom prst="rect">
            <a:avLst/>
          </a:prstGeom>
          <a:noFill/>
        </p:spPr>
        <p:txBody>
          <a:bodyPr wrap="square" lIns="0" rIns="0" tIns="0" bIns="0" anchor="t">
            <a:spAutoFit/>
          </a:bodyPr>
          <a:lstStyle/>
          <a:p>
            <a:pPr algn="l">
              <a:lnSpc>
                <a:spcPct val="115000"/>
              </a:lnSpc>
              <a:spcAft>
                <a:spcPts val="0"/>
              </a:spcAft>
            </a:pPr>
            <a:r>
              <a:rPr sz="1050" b="0">
                <a:solidFill>
                  <a:srgbClr val="606A76"/>
                </a:solidFill>
                <a:latin typeface="Meiryo"/>
              </a:rPr>
              <a:t>スウェーデン・Dalenbäck</a:t>
            </a:r>
          </a:p>
        </p:txBody>
      </p:sp>
      <p:sp>
        <p:nvSpPr>
          <p:cNvPr id="11" name="TextBox 10"/>
          <p:cNvSpPr txBox="1"/>
          <p:nvPr/>
        </p:nvSpPr>
        <p:spPr>
          <a:xfrm>
            <a:off x="4645152" y="2578608"/>
            <a:ext cx="3127248" cy="2834640"/>
          </a:xfrm>
          <a:prstGeom prst="rect">
            <a:avLst/>
          </a:prstGeom>
          <a:noFill/>
        </p:spPr>
        <p:txBody>
          <a:bodyPr wrap="square" lIns="0" rIns="0" tIns="0" bIns="0" anchor="t">
            <a:spAutoFit/>
          </a:bodyPr>
          <a:lstStyle/>
          <a:p>
            <a:pPr algn="l">
              <a:lnSpc>
                <a:spcPct val="125000"/>
              </a:lnSpc>
              <a:spcAft>
                <a:spcPts val="800"/>
              </a:spcAft>
            </a:pPr>
            <a:r>
              <a:rPr sz="1050" b="0">
                <a:solidFill>
                  <a:srgbClr val="22262B"/>
                </a:solidFill>
                <a:latin typeface="Meiryo"/>
              </a:rPr>
              <a:t>・音線ではなくコーン（円錐）を飛ばす</a:t>
            </a:r>
          </a:p>
          <a:p>
            <a:pPr algn="l">
              <a:lnSpc>
                <a:spcPct val="125000"/>
              </a:lnSpc>
              <a:spcAft>
                <a:spcPts val="800"/>
              </a:spcAft>
            </a:pPr>
            <a:r>
              <a:rPr sz="1050" b="0">
                <a:solidFill>
                  <a:srgbClr val="22262B"/>
                </a:solidFill>
                <a:latin typeface="Meiryo"/>
              </a:rPr>
              <a:t>・後期はランダム化して尾を補正する（randomized tail）</a:t>
            </a:r>
          </a:p>
          <a:p>
            <a:pPr algn="l">
              <a:lnSpc>
                <a:spcPct val="125000"/>
              </a:lnSpc>
              <a:spcAft>
                <a:spcPts val="800"/>
              </a:spcAft>
            </a:pPr>
            <a:r>
              <a:rPr sz="1050" b="0">
                <a:solidFill>
                  <a:srgbClr val="22262B"/>
                </a:solidFill>
                <a:latin typeface="Meiryo"/>
              </a:rPr>
              <a:t>・アルゴリズムを用途で選ぶ（結合空間・長い室で変える）</a:t>
            </a:r>
          </a:p>
          <a:p>
            <a:pPr algn="l">
              <a:lnSpc>
                <a:spcPct val="125000"/>
              </a:lnSpc>
              <a:spcAft>
                <a:spcPts val="800"/>
              </a:spcAft>
            </a:pPr>
            <a:r>
              <a:rPr sz="1050" b="0">
                <a:solidFill>
                  <a:srgbClr val="22262B"/>
                </a:solidFill>
                <a:latin typeface="Meiryo"/>
              </a:rPr>
              <a:t>・★散乱係数は周波数別に必須入力。自動推定の補助もある</a:t>
            </a:r>
          </a:p>
          <a:p>
            <a:pPr algn="l">
              <a:lnSpc>
                <a:spcPct val="125000"/>
              </a:lnSpc>
              <a:spcAft>
                <a:spcPts val="800"/>
              </a:spcAft>
            </a:pPr>
            <a:r>
              <a:rPr sz="1050" b="0">
                <a:solidFill>
                  <a:srgbClr val="22262B"/>
                </a:solidFill>
                <a:latin typeface="Meiryo"/>
              </a:rPr>
              <a:t>・面が大きいほど散乱を見込む、という考え方は ODEON と同じ</a:t>
            </a:r>
          </a:p>
        </p:txBody>
      </p:sp>
      <p:sp>
        <p:nvSpPr>
          <p:cNvPr id="12" name="Rounded Rectangle 11"/>
          <p:cNvSpPr/>
          <p:nvPr/>
        </p:nvSpPr>
        <p:spPr>
          <a:xfrm>
            <a:off x="8211312" y="1572768"/>
            <a:ext cx="3630168" cy="3977639"/>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67344" y="1755648"/>
            <a:ext cx="3108960" cy="420624"/>
          </a:xfrm>
          <a:prstGeom prst="rect">
            <a:avLst/>
          </a:prstGeom>
          <a:noFill/>
        </p:spPr>
        <p:txBody>
          <a:bodyPr wrap="square" lIns="0" rIns="0" tIns="0" bIns="0" anchor="t">
            <a:spAutoFit/>
          </a:bodyPr>
          <a:lstStyle/>
          <a:p>
            <a:pPr algn="l">
              <a:lnSpc>
                <a:spcPct val="115000"/>
              </a:lnSpc>
              <a:spcAft>
                <a:spcPts val="0"/>
              </a:spcAft>
            </a:pPr>
            <a:r>
              <a:rPr sz="1700" b="1">
                <a:solidFill>
                  <a:srgbClr val="1B254B"/>
                </a:solidFill>
                <a:latin typeface="Meiryo"/>
              </a:rPr>
              <a:t>RAVEN</a:t>
            </a:r>
          </a:p>
        </p:txBody>
      </p:sp>
      <p:sp>
        <p:nvSpPr>
          <p:cNvPr id="14" name="TextBox 13"/>
          <p:cNvSpPr txBox="1"/>
          <p:nvPr/>
        </p:nvSpPr>
        <p:spPr>
          <a:xfrm>
            <a:off x="8467344" y="2157984"/>
            <a:ext cx="3108960" cy="274320"/>
          </a:xfrm>
          <a:prstGeom prst="rect">
            <a:avLst/>
          </a:prstGeom>
          <a:noFill/>
        </p:spPr>
        <p:txBody>
          <a:bodyPr wrap="square" lIns="0" rIns="0" tIns="0" bIns="0" anchor="t">
            <a:spAutoFit/>
          </a:bodyPr>
          <a:lstStyle/>
          <a:p>
            <a:pPr algn="l">
              <a:lnSpc>
                <a:spcPct val="115000"/>
              </a:lnSpc>
              <a:spcAft>
                <a:spcPts val="0"/>
              </a:spcAft>
            </a:pPr>
            <a:r>
              <a:rPr sz="1050" b="0">
                <a:solidFill>
                  <a:srgbClr val="606A76"/>
                </a:solidFill>
                <a:latin typeface="Meiryo"/>
              </a:rPr>
              <a:t>アーヘン工科大の系統</a:t>
            </a:r>
          </a:p>
        </p:txBody>
      </p:sp>
      <p:sp>
        <p:nvSpPr>
          <p:cNvPr id="15" name="TextBox 14"/>
          <p:cNvSpPr txBox="1"/>
          <p:nvPr/>
        </p:nvSpPr>
        <p:spPr>
          <a:xfrm>
            <a:off x="8467344" y="2578608"/>
            <a:ext cx="3127248" cy="2834640"/>
          </a:xfrm>
          <a:prstGeom prst="rect">
            <a:avLst/>
          </a:prstGeom>
          <a:noFill/>
        </p:spPr>
        <p:txBody>
          <a:bodyPr wrap="square" lIns="0" rIns="0" tIns="0" bIns="0" anchor="t">
            <a:spAutoFit/>
          </a:bodyPr>
          <a:lstStyle/>
          <a:p>
            <a:pPr algn="l">
              <a:lnSpc>
                <a:spcPct val="125000"/>
              </a:lnSpc>
              <a:spcAft>
                <a:spcPts val="800"/>
              </a:spcAft>
            </a:pPr>
            <a:r>
              <a:rPr sz="1050" b="0">
                <a:solidFill>
                  <a:srgbClr val="22262B"/>
                </a:solidFill>
                <a:latin typeface="Meiryo"/>
              </a:rPr>
              <a:t>・虚音源に可聴判定をかけて早期を厳密に出す</a:t>
            </a:r>
          </a:p>
          <a:p>
            <a:pPr algn="l">
              <a:lnSpc>
                <a:spcPct val="125000"/>
              </a:lnSpc>
              <a:spcAft>
                <a:spcPts val="800"/>
              </a:spcAft>
            </a:pPr>
            <a:r>
              <a:rPr sz="1050" b="0">
                <a:solidFill>
                  <a:srgbClr val="22262B"/>
                </a:solidFill>
                <a:latin typeface="Meiryo"/>
              </a:rPr>
              <a:t>・後期は確率的な音線で、受音は diffuse rain</a:t>
            </a:r>
          </a:p>
          <a:p>
            <a:pPr algn="l">
              <a:lnSpc>
                <a:spcPct val="125000"/>
              </a:lnSpc>
              <a:spcAft>
                <a:spcPts val="800"/>
              </a:spcAft>
            </a:pPr>
            <a:r>
              <a:rPr sz="1050" b="0">
                <a:solidFill>
                  <a:srgbClr val="22262B"/>
                </a:solidFill>
                <a:latin typeface="Meiryo"/>
              </a:rPr>
              <a:t>・★ISO 17497-1 の測定法（回転試料法）を作った研究室</a:t>
            </a:r>
          </a:p>
          <a:p>
            <a:pPr algn="l">
              <a:lnSpc>
                <a:spcPct val="125000"/>
              </a:lnSpc>
              <a:spcAft>
                <a:spcPts val="800"/>
              </a:spcAft>
            </a:pPr>
            <a:r>
              <a:rPr sz="1050" b="0">
                <a:solidFill>
                  <a:srgbClr val="22262B"/>
                </a:solidFill>
                <a:latin typeface="Meiryo"/>
              </a:rPr>
              <a:t>・回折モデルを別に選べる（散乱と回折を分けて扱う）</a:t>
            </a:r>
          </a:p>
          <a:p>
            <a:pPr algn="l">
              <a:lnSpc>
                <a:spcPct val="125000"/>
              </a:lnSpc>
              <a:spcAft>
                <a:spcPts val="800"/>
              </a:spcAft>
            </a:pPr>
            <a:r>
              <a:rPr sz="1050" b="0">
                <a:solidFill>
                  <a:srgbClr val="22262B"/>
                </a:solidFill>
                <a:latin typeface="Meiryo"/>
              </a:rPr>
              <a:t>・実時間の可聴化を前提に組まれている</a:t>
            </a:r>
          </a:p>
        </p:txBody>
      </p:sp>
      <p:sp>
        <p:nvSpPr>
          <p:cNvPr id="16" name="TextBox 15"/>
          <p:cNvSpPr txBox="1"/>
          <p:nvPr/>
        </p:nvSpPr>
        <p:spPr>
          <a:xfrm>
            <a:off x="566928" y="5760720"/>
            <a:ext cx="11057839" cy="411480"/>
          </a:xfrm>
          <a:prstGeom prst="rect">
            <a:avLst/>
          </a:prstGeom>
          <a:noFill/>
        </p:spPr>
        <p:txBody>
          <a:bodyPr wrap="square" lIns="0" rIns="0" tIns="0" bIns="0" anchor="t">
            <a:spAutoFit/>
          </a:bodyPr>
          <a:lstStyle/>
          <a:p>
            <a:pPr algn="l">
              <a:lnSpc>
                <a:spcPct val="115000"/>
              </a:lnSpc>
              <a:spcAft>
                <a:spcPts val="0"/>
              </a:spcAft>
            </a:pPr>
            <a:r>
              <a:rPr sz="1150" b="0">
                <a:solidFill>
                  <a:srgbClr val="606A76"/>
                </a:solidFill>
                <a:latin typeface="Meiryo"/>
              </a:rPr>
              <a:t>★3 本とも「虚音源で早期・確率で後期」。違うのは散乱の表し方（向きを混ぜるか、くじで切り替えるか）と、回折をどこまで別扱いするか。</a:t>
            </a:r>
          </a:p>
        </p:txBody>
      </p:sp>
      <p:sp>
        <p:nvSpPr>
          <p:cNvPr id="17" name="TextBox 16"/>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やり方の違いは、この 4 つの分かれ目に集約される</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どのソフトも扱う問題は同じ。選び方が違うだけ</a:t>
            </a:r>
          </a:p>
        </p:txBody>
      </p:sp>
      <p:sp>
        <p:nvSpPr>
          <p:cNvPr id="4" name="Rounded Rectangle 3"/>
          <p:cNvSpPr/>
          <p:nvPr/>
        </p:nvSpPr>
        <p:spPr>
          <a:xfrm>
            <a:off x="566928" y="1572768"/>
            <a:ext cx="11057839" cy="1042415"/>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60" y="1847088"/>
            <a:ext cx="438912" cy="438912"/>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1</a:t>
            </a:r>
          </a:p>
        </p:txBody>
      </p:sp>
      <p:sp>
        <p:nvSpPr>
          <p:cNvPr id="6" name="TextBox 5"/>
          <p:cNvSpPr txBox="1"/>
          <p:nvPr/>
        </p:nvSpPr>
        <p:spPr>
          <a:xfrm>
            <a:off x="1444752" y="1700784"/>
            <a:ext cx="4663440" cy="310896"/>
          </a:xfrm>
          <a:prstGeom prst="rect">
            <a:avLst/>
          </a:prstGeom>
          <a:noFill/>
        </p:spPr>
        <p:txBody>
          <a:bodyPr wrap="square" lIns="0" rIns="0" tIns="0" bIns="0" anchor="t">
            <a:spAutoFit/>
          </a:bodyPr>
          <a:lstStyle/>
          <a:p>
            <a:pPr algn="l">
              <a:lnSpc>
                <a:spcPct val="115000"/>
              </a:lnSpc>
              <a:spcAft>
                <a:spcPts val="0"/>
              </a:spcAft>
            </a:pPr>
            <a:r>
              <a:rPr sz="1300" b="1">
                <a:solidFill>
                  <a:srgbClr val="1B254B"/>
                </a:solidFill>
                <a:latin typeface="Meiryo"/>
              </a:rPr>
              <a:t>早期と後期の境目をどこで切るか</a:t>
            </a:r>
          </a:p>
        </p:txBody>
      </p:sp>
      <p:sp>
        <p:nvSpPr>
          <p:cNvPr id="7" name="TextBox 6"/>
          <p:cNvSpPr txBox="1"/>
          <p:nvPr/>
        </p:nvSpPr>
        <p:spPr>
          <a:xfrm>
            <a:off x="1444752" y="2075688"/>
            <a:ext cx="4663440" cy="457200"/>
          </a:xfrm>
          <a:prstGeom prst="rect">
            <a:avLst/>
          </a:prstGeom>
          <a:noFill/>
        </p:spPr>
        <p:txBody>
          <a:bodyPr wrap="square" lIns="0" rIns="0" tIns="0" bIns="0" anchor="t">
            <a:spAutoFit/>
          </a:bodyPr>
          <a:lstStyle/>
          <a:p>
            <a:pPr algn="l">
              <a:lnSpc>
                <a:spcPct val="120000"/>
              </a:lnSpc>
              <a:spcAft>
                <a:spcPts val="0"/>
              </a:spcAft>
            </a:pPr>
            <a:r>
              <a:rPr sz="1050" b="0">
                <a:solidFill>
                  <a:srgbClr val="065A82"/>
                </a:solidFill>
                <a:latin typeface="Meiryo"/>
              </a:rPr>
              <a:t>反射次数で切る（ODEON の TO など）／★散乱したかどうかで切る</a:t>
            </a:r>
          </a:p>
        </p:txBody>
      </p:sp>
      <p:sp>
        <p:nvSpPr>
          <p:cNvPr id="8" name="TextBox 7"/>
          <p:cNvSpPr txBox="1"/>
          <p:nvPr/>
        </p:nvSpPr>
        <p:spPr>
          <a:xfrm>
            <a:off x="6309360" y="1737360"/>
            <a:ext cx="5303520" cy="777240"/>
          </a:xfrm>
          <a:prstGeom prst="rect">
            <a:avLst/>
          </a:prstGeom>
          <a:noFill/>
        </p:spPr>
        <p:txBody>
          <a:bodyPr wrap="square" lIns="0" rIns="0" tIns="0" bIns="0" anchor="t">
            <a:spAutoFit/>
          </a:bodyPr>
          <a:lstStyle/>
          <a:p>
            <a:pPr algn="l">
              <a:lnSpc>
                <a:spcPct val="125000"/>
              </a:lnSpc>
              <a:spcAft>
                <a:spcPts val="0"/>
              </a:spcAft>
            </a:pPr>
            <a:r>
              <a:rPr sz="1050" b="0">
                <a:solidFill>
                  <a:srgbClr val="22262B"/>
                </a:solidFill>
                <a:latin typeface="Meiryo"/>
              </a:rPr>
              <a:t>次数で切ると「低次でも散乱した音」を鏡面として扱ってしまう。散乱で切るほうが物理に素直で、このプログラムにも合う</a:t>
            </a:r>
          </a:p>
        </p:txBody>
      </p:sp>
      <p:sp>
        <p:nvSpPr>
          <p:cNvPr id="9" name="Rounded Rectangle 8"/>
          <p:cNvSpPr/>
          <p:nvPr/>
        </p:nvSpPr>
        <p:spPr>
          <a:xfrm>
            <a:off x="566928" y="2706624"/>
            <a:ext cx="11057839" cy="1042415"/>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980944"/>
            <a:ext cx="438912" cy="438912"/>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2</a:t>
            </a:r>
          </a:p>
        </p:txBody>
      </p:sp>
      <p:sp>
        <p:nvSpPr>
          <p:cNvPr id="11" name="TextBox 10"/>
          <p:cNvSpPr txBox="1"/>
          <p:nvPr/>
        </p:nvSpPr>
        <p:spPr>
          <a:xfrm>
            <a:off x="1444752" y="2834640"/>
            <a:ext cx="4663440" cy="310896"/>
          </a:xfrm>
          <a:prstGeom prst="rect">
            <a:avLst/>
          </a:prstGeom>
          <a:noFill/>
        </p:spPr>
        <p:txBody>
          <a:bodyPr wrap="square" lIns="0" rIns="0" tIns="0" bIns="0" anchor="t">
            <a:spAutoFit/>
          </a:bodyPr>
          <a:lstStyle/>
          <a:p>
            <a:pPr algn="l">
              <a:lnSpc>
                <a:spcPct val="115000"/>
              </a:lnSpc>
              <a:spcAft>
                <a:spcPts val="0"/>
              </a:spcAft>
            </a:pPr>
            <a:r>
              <a:rPr sz="1300" b="1">
                <a:solidFill>
                  <a:srgbClr val="1B254B"/>
                </a:solidFill>
                <a:latin typeface="Meiryo"/>
              </a:rPr>
              <a:t>散乱をどう表すか</a:t>
            </a:r>
          </a:p>
        </p:txBody>
      </p:sp>
      <p:sp>
        <p:nvSpPr>
          <p:cNvPr id="12" name="TextBox 11"/>
          <p:cNvSpPr txBox="1"/>
          <p:nvPr/>
        </p:nvSpPr>
        <p:spPr>
          <a:xfrm>
            <a:off x="1444752" y="3209544"/>
            <a:ext cx="4663440" cy="457200"/>
          </a:xfrm>
          <a:prstGeom prst="rect">
            <a:avLst/>
          </a:prstGeom>
          <a:noFill/>
        </p:spPr>
        <p:txBody>
          <a:bodyPr wrap="square" lIns="0" rIns="0" tIns="0" bIns="0" anchor="t">
            <a:spAutoFit/>
          </a:bodyPr>
          <a:lstStyle/>
          <a:p>
            <a:pPr algn="l">
              <a:lnSpc>
                <a:spcPct val="120000"/>
              </a:lnSpc>
              <a:spcAft>
                <a:spcPts val="0"/>
              </a:spcAft>
            </a:pPr>
            <a:r>
              <a:rPr sz="1050" b="0">
                <a:solidFill>
                  <a:srgbClr val="065A82"/>
                </a:solidFill>
                <a:latin typeface="Meiryo"/>
              </a:rPr>
              <a:t>向きを混ぜる（VBS）／くじで切り替える（確率）／エネルギーを分ける（分割）</a:t>
            </a:r>
          </a:p>
        </p:txBody>
      </p:sp>
      <p:sp>
        <p:nvSpPr>
          <p:cNvPr id="13" name="TextBox 12"/>
          <p:cNvSpPr txBox="1"/>
          <p:nvPr/>
        </p:nvSpPr>
        <p:spPr>
          <a:xfrm>
            <a:off x="6309360" y="2871216"/>
            <a:ext cx="5303520" cy="777240"/>
          </a:xfrm>
          <a:prstGeom prst="rect">
            <a:avLst/>
          </a:prstGeom>
          <a:noFill/>
        </p:spPr>
        <p:txBody>
          <a:bodyPr wrap="square" lIns="0" rIns="0" tIns="0" bIns="0" anchor="t">
            <a:spAutoFit/>
          </a:bodyPr>
          <a:lstStyle/>
          <a:p>
            <a:pPr algn="l">
              <a:lnSpc>
                <a:spcPct val="125000"/>
              </a:lnSpc>
              <a:spcAft>
                <a:spcPts val="0"/>
              </a:spcAft>
            </a:pPr>
            <a:r>
              <a:rPr sz="1050" b="0">
                <a:solidFill>
                  <a:srgbClr val="22262B"/>
                </a:solidFill>
                <a:latin typeface="Meiryo"/>
              </a:rPr>
              <a:t>向きを混ぜるのがいちばん軽いが後期が伸びない。くじは本数が要るが正しく拡散する。分割は正確だが音線が指数的に増える</a:t>
            </a:r>
          </a:p>
        </p:txBody>
      </p:sp>
      <p:sp>
        <p:nvSpPr>
          <p:cNvPr id="14" name="Rounded Rectangle 13"/>
          <p:cNvSpPr/>
          <p:nvPr/>
        </p:nvSpPr>
        <p:spPr>
          <a:xfrm>
            <a:off x="566928" y="3840480"/>
            <a:ext cx="11057839" cy="1042415"/>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60" y="4114800"/>
            <a:ext cx="438912" cy="43891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3</a:t>
            </a:r>
          </a:p>
        </p:txBody>
      </p:sp>
      <p:sp>
        <p:nvSpPr>
          <p:cNvPr id="16" name="TextBox 15"/>
          <p:cNvSpPr txBox="1"/>
          <p:nvPr/>
        </p:nvSpPr>
        <p:spPr>
          <a:xfrm>
            <a:off x="1444752" y="3968496"/>
            <a:ext cx="4663440" cy="310896"/>
          </a:xfrm>
          <a:prstGeom prst="rect">
            <a:avLst/>
          </a:prstGeom>
          <a:noFill/>
        </p:spPr>
        <p:txBody>
          <a:bodyPr wrap="square" lIns="0" rIns="0" tIns="0" bIns="0" anchor="t">
            <a:spAutoFit/>
          </a:bodyPr>
          <a:lstStyle/>
          <a:p>
            <a:pPr algn="l">
              <a:lnSpc>
                <a:spcPct val="115000"/>
              </a:lnSpc>
              <a:spcAft>
                <a:spcPts val="0"/>
              </a:spcAft>
            </a:pPr>
            <a:r>
              <a:rPr sz="1300" b="1">
                <a:solidFill>
                  <a:srgbClr val="1B254B"/>
                </a:solidFill>
                <a:latin typeface="Meiryo"/>
              </a:rPr>
              <a:t>受音をどう拾うか</a:t>
            </a:r>
          </a:p>
        </p:txBody>
      </p:sp>
      <p:sp>
        <p:nvSpPr>
          <p:cNvPr id="17" name="TextBox 16"/>
          <p:cNvSpPr txBox="1"/>
          <p:nvPr/>
        </p:nvSpPr>
        <p:spPr>
          <a:xfrm>
            <a:off x="1444752" y="4343400"/>
            <a:ext cx="4663440" cy="457200"/>
          </a:xfrm>
          <a:prstGeom prst="rect">
            <a:avLst/>
          </a:prstGeom>
          <a:noFill/>
        </p:spPr>
        <p:txBody>
          <a:bodyPr wrap="square" lIns="0" rIns="0" tIns="0" bIns="0" anchor="t">
            <a:spAutoFit/>
          </a:bodyPr>
          <a:lstStyle/>
          <a:p>
            <a:pPr algn="l">
              <a:lnSpc>
                <a:spcPct val="120000"/>
              </a:lnSpc>
              <a:spcAft>
                <a:spcPts val="0"/>
              </a:spcAft>
            </a:pPr>
            <a:r>
              <a:rPr sz="1050" b="0">
                <a:solidFill>
                  <a:srgbClr val="065A82"/>
                </a:solidFill>
                <a:latin typeface="Meiryo"/>
              </a:rPr>
              <a:t>受音球に当たるのを待つ／★2 次音源で受音点へ直接送る（diffuse rain）</a:t>
            </a:r>
          </a:p>
        </p:txBody>
      </p:sp>
      <p:sp>
        <p:nvSpPr>
          <p:cNvPr id="18" name="TextBox 17"/>
          <p:cNvSpPr txBox="1"/>
          <p:nvPr/>
        </p:nvSpPr>
        <p:spPr>
          <a:xfrm>
            <a:off x="6309360" y="4005072"/>
            <a:ext cx="5303520" cy="777240"/>
          </a:xfrm>
          <a:prstGeom prst="rect">
            <a:avLst/>
          </a:prstGeom>
          <a:noFill/>
        </p:spPr>
        <p:txBody>
          <a:bodyPr wrap="square" lIns="0" rIns="0" tIns="0" bIns="0" anchor="t">
            <a:spAutoFit/>
          </a:bodyPr>
          <a:lstStyle/>
          <a:p>
            <a:pPr algn="l">
              <a:lnSpc>
                <a:spcPct val="125000"/>
              </a:lnSpc>
              <a:spcAft>
                <a:spcPts val="0"/>
              </a:spcAft>
            </a:pPr>
            <a:r>
              <a:rPr sz="1050" b="0">
                <a:solidFill>
                  <a:srgbClr val="22262B"/>
                </a:solidFill>
                <a:latin typeface="Meiryo"/>
              </a:rPr>
              <a:t>待つ方式は音線が足りないとばらつく。直接送る方式は可視判定のぶん重いが、同じ本数で桁違いに滑らかになる</a:t>
            </a:r>
          </a:p>
        </p:txBody>
      </p:sp>
      <p:sp>
        <p:nvSpPr>
          <p:cNvPr id="19" name="Rounded Rectangle 18"/>
          <p:cNvSpPr/>
          <p:nvPr/>
        </p:nvSpPr>
        <p:spPr>
          <a:xfrm>
            <a:off x="566928" y="4974336"/>
            <a:ext cx="11057839" cy="1042415"/>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60" y="5248656"/>
            <a:ext cx="438912" cy="438912"/>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4</a:t>
            </a:r>
          </a:p>
        </p:txBody>
      </p:sp>
      <p:sp>
        <p:nvSpPr>
          <p:cNvPr id="21" name="TextBox 20"/>
          <p:cNvSpPr txBox="1"/>
          <p:nvPr/>
        </p:nvSpPr>
        <p:spPr>
          <a:xfrm>
            <a:off x="1444752" y="5102352"/>
            <a:ext cx="4663440" cy="310896"/>
          </a:xfrm>
          <a:prstGeom prst="rect">
            <a:avLst/>
          </a:prstGeom>
          <a:noFill/>
        </p:spPr>
        <p:txBody>
          <a:bodyPr wrap="square" lIns="0" rIns="0" tIns="0" bIns="0" anchor="t">
            <a:spAutoFit/>
          </a:bodyPr>
          <a:lstStyle/>
          <a:p>
            <a:pPr algn="l">
              <a:lnSpc>
                <a:spcPct val="115000"/>
              </a:lnSpc>
              <a:spcAft>
                <a:spcPts val="0"/>
              </a:spcAft>
            </a:pPr>
            <a:r>
              <a:rPr sz="1300" b="1">
                <a:solidFill>
                  <a:srgbClr val="1B254B"/>
                </a:solidFill>
                <a:latin typeface="Meiryo"/>
              </a:rPr>
              <a:t>回折をどうするか</a:t>
            </a:r>
          </a:p>
        </p:txBody>
      </p:sp>
      <p:sp>
        <p:nvSpPr>
          <p:cNvPr id="22" name="TextBox 21"/>
          <p:cNvSpPr txBox="1"/>
          <p:nvPr/>
        </p:nvSpPr>
        <p:spPr>
          <a:xfrm>
            <a:off x="1444752" y="5477256"/>
            <a:ext cx="4663440" cy="457200"/>
          </a:xfrm>
          <a:prstGeom prst="rect">
            <a:avLst/>
          </a:prstGeom>
          <a:noFill/>
        </p:spPr>
        <p:txBody>
          <a:bodyPr wrap="square" lIns="0" rIns="0" tIns="0" bIns="0" anchor="t">
            <a:spAutoFit/>
          </a:bodyPr>
          <a:lstStyle/>
          <a:p>
            <a:pPr algn="l">
              <a:lnSpc>
                <a:spcPct val="120000"/>
              </a:lnSpc>
              <a:spcAft>
                <a:spcPts val="0"/>
              </a:spcAft>
            </a:pPr>
            <a:r>
              <a:rPr sz="1050" b="0">
                <a:solidFill>
                  <a:srgbClr val="065A82"/>
                </a:solidFill>
                <a:latin typeface="Meiryo"/>
              </a:rPr>
              <a:t>散乱係数に押し込める／縁の回折を陽に解く／低域は波動解法に任せる</a:t>
            </a:r>
          </a:p>
        </p:txBody>
      </p:sp>
      <p:sp>
        <p:nvSpPr>
          <p:cNvPr id="23" name="TextBox 22"/>
          <p:cNvSpPr txBox="1"/>
          <p:nvPr/>
        </p:nvSpPr>
        <p:spPr>
          <a:xfrm>
            <a:off x="6309360" y="5138928"/>
            <a:ext cx="5303520" cy="777240"/>
          </a:xfrm>
          <a:prstGeom prst="rect">
            <a:avLst/>
          </a:prstGeom>
          <a:noFill/>
        </p:spPr>
        <p:txBody>
          <a:bodyPr wrap="square" lIns="0" rIns="0" tIns="0" bIns="0" anchor="t">
            <a:spAutoFit/>
          </a:bodyPr>
          <a:lstStyle/>
          <a:p>
            <a:pPr algn="l">
              <a:lnSpc>
                <a:spcPct val="125000"/>
              </a:lnSpc>
              <a:spcAft>
                <a:spcPts val="0"/>
              </a:spcAft>
            </a:pPr>
            <a:r>
              <a:rPr sz="1050" b="0">
                <a:solidFill>
                  <a:srgbClr val="22262B"/>
                </a:solidFill>
                <a:latin typeface="Meiryo"/>
              </a:rPr>
              <a:t>幾何音響は回折を解かない。押し込めるのが実務の主流だが、低域では原理的に限界がある（Treble が低域を波動にしているのはこのため）</a:t>
            </a:r>
          </a:p>
        </p:txBody>
      </p:sp>
      <p:sp>
        <p:nvSpPr>
          <p:cNvPr id="24" name="TextBox 23"/>
          <p:cNvSpPr txBox="1"/>
          <p:nvPr/>
        </p:nvSpPr>
        <p:spPr>
          <a:xfrm>
            <a:off x="566928" y="6163056"/>
            <a:ext cx="11057839" cy="411480"/>
          </a:xfrm>
          <a:prstGeom prst="rect">
            <a:avLst/>
          </a:prstGeom>
          <a:noFill/>
        </p:spPr>
        <p:txBody>
          <a:bodyPr wrap="square" lIns="0" rIns="0" tIns="0" bIns="0" anchor="t">
            <a:spAutoFit/>
          </a:bodyPr>
          <a:lstStyle/>
          <a:p>
            <a:pPr algn="l">
              <a:lnSpc>
                <a:spcPct val="115000"/>
              </a:lnSpc>
              <a:spcAft>
                <a:spcPts val="0"/>
              </a:spcAft>
            </a:pPr>
            <a:r>
              <a:rPr sz="1150" b="0">
                <a:solidFill>
                  <a:srgbClr val="606A76"/>
                </a:solidFill>
                <a:latin typeface="Meiryo"/>
              </a:rPr>
              <a:t>★このプログラムの提案（B＋C）は、1 を「散乱したかどうか」、2 を「くじ」、3 を「直接送る」、4 を「押し込める」に置いた形。</a:t>
            </a:r>
          </a:p>
        </p:txBody>
      </p:sp>
      <p:sp>
        <p:nvSpPr>
          <p:cNvPr id="25" name="TextBox 24"/>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このプログラムはいまどこにいるか</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虚音源の厳密さは他にない強み。足りないのは後期の散乱だけ</a:t>
            </a:r>
          </a:p>
        </p:txBody>
      </p:sp>
      <p:sp>
        <p:nvSpPr>
          <p:cNvPr id="4" name="Rounded Rectangle 3"/>
          <p:cNvSpPr/>
          <p:nvPr/>
        </p:nvSpPr>
        <p:spPr>
          <a:xfrm>
            <a:off x="566928" y="1572768"/>
            <a:ext cx="5440680" cy="2148840"/>
          </a:xfrm>
          <a:prstGeom prst="roundRect">
            <a:avLst>
              <a:gd name="adj" fmla="val 4000"/>
            </a:avLst>
          </a:prstGeom>
          <a:solidFill>
            <a:srgbClr val="FAEEEE"/>
          </a:solidFill>
          <a:ln w="12700">
            <a:solidFill>
              <a:srgbClr val="A83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41247" y="1773936"/>
            <a:ext cx="4937760" cy="310896"/>
          </a:xfrm>
          <a:prstGeom prst="rect">
            <a:avLst/>
          </a:prstGeom>
          <a:noFill/>
        </p:spPr>
        <p:txBody>
          <a:bodyPr wrap="square" lIns="0" rIns="0" tIns="0" bIns="0" anchor="t">
            <a:spAutoFit/>
          </a:bodyPr>
          <a:lstStyle/>
          <a:p>
            <a:pPr algn="l">
              <a:lnSpc>
                <a:spcPct val="115000"/>
              </a:lnSpc>
              <a:spcAft>
                <a:spcPts val="0"/>
              </a:spcAft>
            </a:pPr>
            <a:r>
              <a:rPr sz="1500" b="1">
                <a:solidFill>
                  <a:srgbClr val="A83232"/>
                </a:solidFill>
                <a:latin typeface="Meiryo"/>
              </a:rPr>
              <a:t>いま — 鏡面だけの虚音源法</a:t>
            </a:r>
          </a:p>
        </p:txBody>
      </p:sp>
      <p:sp>
        <p:nvSpPr>
          <p:cNvPr id="6" name="TextBox 5"/>
          <p:cNvSpPr txBox="1"/>
          <p:nvPr/>
        </p:nvSpPr>
        <p:spPr>
          <a:xfrm>
            <a:off x="841247" y="2212848"/>
            <a:ext cx="4937760" cy="1417320"/>
          </a:xfrm>
          <a:prstGeom prst="rect">
            <a:avLst/>
          </a:prstGeom>
          <a:noFill/>
        </p:spPr>
        <p:txBody>
          <a:bodyPr wrap="square" lIns="0" rIns="0" tIns="0" bIns="0" anchor="t">
            <a:spAutoFit/>
          </a:bodyPr>
          <a:lstStyle/>
          <a:p>
            <a:pPr algn="l">
              <a:lnSpc>
                <a:spcPct val="122000"/>
              </a:lnSpc>
              <a:spcAft>
                <a:spcPts val="700"/>
              </a:spcAft>
            </a:pPr>
            <a:r>
              <a:rPr sz="1150" b="0">
                <a:solidFill>
                  <a:srgbClr val="22262B"/>
                </a:solidFill>
                <a:latin typeface="Meiryo"/>
              </a:rPr>
              <a:t>・早期も後期も虚音源で厳密に解いている</a:t>
            </a:r>
          </a:p>
          <a:p>
            <a:pPr algn="l">
              <a:lnSpc>
                <a:spcPct val="122000"/>
              </a:lnSpc>
              <a:spcAft>
                <a:spcPts val="700"/>
              </a:spcAft>
            </a:pPr>
            <a:r>
              <a:rPr sz="1150" b="0">
                <a:solidFill>
                  <a:srgbClr val="22262B"/>
                </a:solidFill>
                <a:latin typeface="Meiryo"/>
              </a:rPr>
              <a:t>・★この形のソフトは市販には無い（どれも後期は確率的）</a:t>
            </a:r>
          </a:p>
          <a:p>
            <a:pPr algn="l">
              <a:lnSpc>
                <a:spcPct val="122000"/>
              </a:lnSpc>
              <a:spcAft>
                <a:spcPts val="700"/>
              </a:spcAft>
            </a:pPr>
            <a:r>
              <a:rPr sz="1150" b="0">
                <a:solidFill>
                  <a:srgbClr val="22262B"/>
                </a:solidFill>
                <a:latin typeface="Meiryo"/>
              </a:rPr>
              <a:t>・だから初期反射の指標（EDT・C50・STI）は強い</a:t>
            </a:r>
          </a:p>
          <a:p>
            <a:pPr algn="l">
              <a:lnSpc>
                <a:spcPct val="122000"/>
              </a:lnSpc>
              <a:spcAft>
                <a:spcPts val="700"/>
              </a:spcAft>
            </a:pPr>
            <a:r>
              <a:rPr sz="1150" b="0">
                <a:solidFill>
                  <a:srgbClr val="22262B"/>
                </a:solidFill>
                <a:latin typeface="Meiryo"/>
              </a:rPr>
              <a:t>・だから後期残響（T20・T30）だけが構造的に外れる</a:t>
            </a:r>
          </a:p>
        </p:txBody>
      </p:sp>
      <p:sp>
        <p:nvSpPr>
          <p:cNvPr id="7" name="Rounded Rectangle 6"/>
          <p:cNvSpPr/>
          <p:nvPr/>
        </p:nvSpPr>
        <p:spPr>
          <a:xfrm>
            <a:off x="6327648" y="1572768"/>
            <a:ext cx="5294376" cy="2148840"/>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01968" y="1773936"/>
            <a:ext cx="4754880" cy="310896"/>
          </a:xfrm>
          <a:prstGeom prst="rect">
            <a:avLst/>
          </a:prstGeom>
          <a:noFill/>
        </p:spPr>
        <p:txBody>
          <a:bodyPr wrap="square" lIns="0" rIns="0" tIns="0" bIns="0" anchor="t">
            <a:spAutoFit/>
          </a:bodyPr>
          <a:lstStyle/>
          <a:p>
            <a:pPr algn="l">
              <a:lnSpc>
                <a:spcPct val="115000"/>
              </a:lnSpc>
              <a:spcAft>
                <a:spcPts val="0"/>
              </a:spcAft>
            </a:pPr>
            <a:r>
              <a:rPr sz="1500" b="1">
                <a:solidFill>
                  <a:srgbClr val="1B254B"/>
                </a:solidFill>
                <a:latin typeface="Meiryo"/>
              </a:rPr>
              <a:t>提案後 — ODEON / RAVEN の系統へ</a:t>
            </a:r>
          </a:p>
        </p:txBody>
      </p:sp>
      <p:sp>
        <p:nvSpPr>
          <p:cNvPr id="9" name="TextBox 8"/>
          <p:cNvSpPr txBox="1"/>
          <p:nvPr/>
        </p:nvSpPr>
        <p:spPr>
          <a:xfrm>
            <a:off x="6601968" y="2212848"/>
            <a:ext cx="4800600" cy="1417320"/>
          </a:xfrm>
          <a:prstGeom prst="rect">
            <a:avLst/>
          </a:prstGeom>
          <a:noFill/>
        </p:spPr>
        <p:txBody>
          <a:bodyPr wrap="square" lIns="0" rIns="0" tIns="0" bIns="0" anchor="t">
            <a:spAutoFit/>
          </a:bodyPr>
          <a:lstStyle/>
          <a:p>
            <a:pPr algn="l">
              <a:lnSpc>
                <a:spcPct val="122000"/>
              </a:lnSpc>
              <a:spcAft>
                <a:spcPts val="700"/>
              </a:spcAft>
            </a:pPr>
            <a:r>
              <a:rPr sz="1150" b="0">
                <a:solidFill>
                  <a:srgbClr val="22262B"/>
                </a:solidFill>
                <a:latin typeface="Meiryo"/>
              </a:rPr>
              <a:t>・鏡面経路は虚音源のまま（強みを残す）</a:t>
            </a:r>
          </a:p>
          <a:p>
            <a:pPr algn="l">
              <a:lnSpc>
                <a:spcPct val="122000"/>
              </a:lnSpc>
              <a:spcAft>
                <a:spcPts val="700"/>
              </a:spcAft>
            </a:pPr>
            <a:r>
              <a:rPr sz="1150" b="0">
                <a:solidFill>
                  <a:srgbClr val="22262B"/>
                </a:solidFill>
                <a:latin typeface="Meiryo"/>
              </a:rPr>
              <a:t>・散乱経路は確率＋2 次音源でエネルギーとして足す</a:t>
            </a:r>
          </a:p>
          <a:p>
            <a:pPr algn="l">
              <a:lnSpc>
                <a:spcPct val="122000"/>
              </a:lnSpc>
              <a:spcAft>
                <a:spcPts val="700"/>
              </a:spcAft>
            </a:pPr>
            <a:r>
              <a:rPr sz="1150" b="0">
                <a:solidFill>
                  <a:srgbClr val="22262B"/>
                </a:solidFill>
                <a:latin typeface="Meiryo"/>
              </a:rPr>
              <a:t>・★他社が反射次数で切るところを「散乱したか」で切る</a:t>
            </a:r>
          </a:p>
          <a:p>
            <a:pPr algn="l">
              <a:lnSpc>
                <a:spcPct val="122000"/>
              </a:lnSpc>
              <a:spcAft>
                <a:spcPts val="700"/>
              </a:spcAft>
            </a:pPr>
            <a:r>
              <a:rPr sz="1150" b="0">
                <a:solidFill>
                  <a:srgbClr val="22262B"/>
                </a:solidFill>
                <a:latin typeface="Meiryo"/>
              </a:rPr>
              <a:t>・低域の干渉を見る使い方はそのまま残る</a:t>
            </a:r>
          </a:p>
        </p:txBody>
      </p:sp>
      <p:sp>
        <p:nvSpPr>
          <p:cNvPr id="10" name="Rounded Rectangle 9"/>
          <p:cNvSpPr/>
          <p:nvPr/>
        </p:nvSpPr>
        <p:spPr>
          <a:xfrm>
            <a:off x="566928" y="3895344"/>
            <a:ext cx="11057839" cy="1371600"/>
          </a:xfrm>
          <a:prstGeom prst="roundRect">
            <a:avLst>
              <a:gd name="adj" fmla="val 4000"/>
            </a:avLst>
          </a:prstGeom>
          <a:solidFill>
            <a:srgbClr val="F2F5F8"/>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4078224"/>
            <a:ext cx="10509199" cy="1051560"/>
          </a:xfrm>
          <a:prstGeom prst="rect">
            <a:avLst/>
          </a:prstGeom>
          <a:noFill/>
        </p:spPr>
        <p:txBody>
          <a:bodyPr wrap="square" lIns="0" rIns="0" tIns="0" bIns="0" anchor="t">
            <a:spAutoFit/>
          </a:bodyPr>
          <a:lstStyle/>
          <a:p>
            <a:pPr algn="l">
              <a:lnSpc>
                <a:spcPct val="115000"/>
              </a:lnSpc>
              <a:spcAft>
                <a:spcPts val="400"/>
              </a:spcAft>
            </a:pPr>
            <a:r>
              <a:rPr sz="1350" b="1">
                <a:solidFill>
                  <a:srgbClr val="1B254B"/>
                </a:solidFill>
                <a:latin typeface="Meiryo"/>
              </a:rPr>
              <a:t>他社と同じにはしない部分</a:t>
            </a:r>
          </a:p>
          <a:p>
            <a:pPr algn="l">
              <a:lnSpc>
                <a:spcPct val="130000"/>
              </a:lnSpc>
              <a:spcAft>
                <a:spcPts val="400"/>
              </a:spcAft>
            </a:pPr>
            <a:r>
              <a:rPr sz="1150" b="0">
                <a:solidFill>
                  <a:srgbClr val="22262B"/>
                </a:solidFill>
                <a:latin typeface="Meiryo"/>
              </a:rPr>
              <a:t>市販ソフトは早期も統計的な近似に寄せているが、このプログラムは**虚音源で厳密に解く**という作りを持っている（逆二乗則が厳密に再現され、伝達関数で干渉が見える）。散乱を足すときも、この部分は薄めない。</a:t>
            </a:r>
          </a:p>
        </p:txBody>
      </p:sp>
      <p:sp>
        <p:nvSpPr>
          <p:cNvPr id="12" name="TextBox 11"/>
          <p:cNvSpPr txBox="1"/>
          <p:nvPr/>
        </p:nvSpPr>
        <p:spPr>
          <a:xfrm>
            <a:off x="566928" y="5413248"/>
            <a:ext cx="10332720" cy="932688"/>
          </a:xfrm>
          <a:prstGeom prst="rect">
            <a:avLst/>
          </a:prstGeom>
          <a:noFill/>
        </p:spPr>
        <p:txBody>
          <a:bodyPr wrap="square" lIns="0" rIns="0" tIns="0" bIns="0" anchor="t">
            <a:spAutoFit/>
          </a:bodyPr>
          <a:lstStyle/>
          <a:p>
            <a:pPr algn="l">
              <a:lnSpc>
                <a:spcPct val="115000"/>
              </a:lnSpc>
              <a:spcAft>
                <a:spcPts val="300"/>
              </a:spcAft>
            </a:pPr>
            <a:r>
              <a:rPr sz="1200" b="1">
                <a:solidFill>
                  <a:srgbClr val="1B254B"/>
                </a:solidFill>
                <a:latin typeface="Meiryo"/>
              </a:rPr>
              <a:t>裏返せば</a:t>
            </a:r>
          </a:p>
          <a:p>
            <a:pPr algn="l">
              <a:lnSpc>
                <a:spcPct val="130000"/>
              </a:lnSpc>
              <a:spcAft>
                <a:spcPts val="300"/>
              </a:spcAft>
            </a:pPr>
            <a:r>
              <a:rPr sz="1150" b="0">
                <a:solidFill>
                  <a:srgbClr val="22262B"/>
                </a:solidFill>
                <a:latin typeface="Meiryo"/>
              </a:rPr>
              <a:t>・散乱を入れないまま後期残響を出しているソフトは他に無い。いま T20 / T30 が合わないのは、実装の誤りではなく**まだ持っていない機能**のため</a:t>
            </a:r>
          </a:p>
          <a:p>
            <a:pPr algn="l">
              <a:lnSpc>
                <a:spcPct val="130000"/>
              </a:lnSpc>
              <a:spcAft>
                <a:spcPts val="300"/>
              </a:spcAft>
            </a:pPr>
            <a:r>
              <a:rPr sz="1150" b="0">
                <a:solidFill>
                  <a:srgbClr val="22262B"/>
                </a:solidFill>
                <a:latin typeface="Meiryo"/>
              </a:rPr>
              <a:t>・逆に、初期反射・低域のモード検討は他社より厳密にできている</a:t>
            </a:r>
          </a:p>
        </p:txBody>
      </p:sp>
      <p:sp>
        <p:nvSpPr>
          <p:cNvPr id="13" name="TextBox 12"/>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このプログラム固有の論点 — 位相をどう扱うか</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インパルス応答は位相を持つ複素和（査読論文 式(2)）。散乱音には決まった位相が無い</a:t>
            </a:r>
          </a:p>
        </p:txBody>
      </p:sp>
      <p:sp>
        <p:nvSpPr>
          <p:cNvPr id="4" name="Rounded Rectangle 3"/>
          <p:cNvSpPr/>
          <p:nvPr/>
        </p:nvSpPr>
        <p:spPr>
          <a:xfrm>
            <a:off x="566928" y="1554480"/>
            <a:ext cx="5486400" cy="224028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37360"/>
            <a:ext cx="4983480" cy="292608"/>
          </a:xfrm>
          <a:prstGeom prst="rect">
            <a:avLst/>
          </a:prstGeom>
          <a:noFill/>
        </p:spPr>
        <p:txBody>
          <a:bodyPr wrap="square" lIns="0" rIns="0" tIns="0" bIns="0" anchor="t">
            <a:spAutoFit/>
          </a:bodyPr>
          <a:lstStyle/>
          <a:p>
            <a:pPr algn="l">
              <a:lnSpc>
                <a:spcPct val="115000"/>
              </a:lnSpc>
              <a:spcAft>
                <a:spcPts val="0"/>
              </a:spcAft>
            </a:pPr>
            <a:r>
              <a:rPr sz="1350" b="1">
                <a:solidFill>
                  <a:srgbClr val="065A82"/>
                </a:solidFill>
                <a:latin typeface="Meiryo"/>
              </a:rPr>
              <a:t>いま守れていること</a:t>
            </a:r>
          </a:p>
        </p:txBody>
      </p:sp>
      <p:sp>
        <p:nvSpPr>
          <p:cNvPr id="6" name="TextBox 5"/>
          <p:cNvSpPr txBox="1"/>
          <p:nvPr/>
        </p:nvSpPr>
        <p:spPr>
          <a:xfrm>
            <a:off x="822960" y="2121408"/>
            <a:ext cx="4983480" cy="1572768"/>
          </a:xfrm>
          <a:prstGeom prst="rect">
            <a:avLst/>
          </a:prstGeom>
          <a:noFill/>
        </p:spPr>
        <p:txBody>
          <a:bodyPr wrap="square" lIns="0" rIns="0" tIns="0" bIns="0" anchor="t">
            <a:spAutoFit/>
          </a:bodyPr>
          <a:lstStyle/>
          <a:p>
            <a:pPr algn="l">
              <a:lnSpc>
                <a:spcPct val="122000"/>
              </a:lnSpc>
              <a:spcAft>
                <a:spcPts val="700"/>
              </a:spcAft>
            </a:pPr>
            <a:r>
              <a:rPr sz="1150" b="0">
                <a:solidFill>
                  <a:srgbClr val="22262B"/>
                </a:solidFill>
                <a:latin typeface="Meiryo"/>
              </a:rPr>
              <a:t>・残響時間・明瞭度は干渉を含んだ波形から出ている</a:t>
            </a:r>
          </a:p>
          <a:p>
            <a:pPr algn="l">
              <a:lnSpc>
                <a:spcPct val="122000"/>
              </a:lnSpc>
              <a:spcAft>
                <a:spcPts val="700"/>
              </a:spcAft>
            </a:pPr>
            <a:r>
              <a:rPr sz="1150" b="0">
                <a:solidFill>
                  <a:srgbClr val="22262B"/>
                </a:solidFill>
                <a:latin typeface="Meiryo"/>
              </a:rPr>
              <a:t>・伝達関数で干渉が見える（低域のモード検討に使っている）</a:t>
            </a:r>
          </a:p>
          <a:p>
            <a:pPr algn="l">
              <a:lnSpc>
                <a:spcPct val="122000"/>
              </a:lnSpc>
              <a:spcAft>
                <a:spcPts val="700"/>
              </a:spcAft>
            </a:pPr>
            <a:r>
              <a:rPr sz="1150" b="0">
                <a:solidFill>
                  <a:srgbClr val="22262B"/>
                </a:solidFill>
                <a:latin typeface="Meiryo"/>
              </a:rPr>
              <a:t>・逆二乗則が厳密に再現される（実装の物差し）</a:t>
            </a:r>
          </a:p>
          <a:p>
            <a:pPr algn="l">
              <a:lnSpc>
                <a:spcPct val="122000"/>
              </a:lnSpc>
              <a:spcAft>
                <a:spcPts val="700"/>
              </a:spcAft>
            </a:pPr>
            <a:r>
              <a:rPr sz="1150" b="0">
                <a:solidFill>
                  <a:srgbClr val="22262B"/>
                </a:solidFill>
                <a:latin typeface="Meiryo"/>
              </a:rPr>
              <a:t>・音圧レベル・STI はエネルギー和（指標の定義どおり）</a:t>
            </a:r>
          </a:p>
        </p:txBody>
      </p:sp>
      <p:sp>
        <p:nvSpPr>
          <p:cNvPr id="7" name="Rounded Rectangle 6"/>
          <p:cNvSpPr/>
          <p:nvPr/>
        </p:nvSpPr>
        <p:spPr>
          <a:xfrm>
            <a:off x="6373368" y="1554480"/>
            <a:ext cx="5248656" cy="2240280"/>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29400" y="1737360"/>
            <a:ext cx="4754880" cy="292608"/>
          </a:xfrm>
          <a:prstGeom prst="rect">
            <a:avLst/>
          </a:prstGeom>
          <a:noFill/>
        </p:spPr>
        <p:txBody>
          <a:bodyPr wrap="square" lIns="0" rIns="0" tIns="0" bIns="0" anchor="t">
            <a:spAutoFit/>
          </a:bodyPr>
          <a:lstStyle/>
          <a:p>
            <a:pPr algn="l">
              <a:lnSpc>
                <a:spcPct val="115000"/>
              </a:lnSpc>
              <a:spcAft>
                <a:spcPts val="0"/>
              </a:spcAft>
            </a:pPr>
            <a:r>
              <a:rPr sz="1350" b="1">
                <a:solidFill>
                  <a:srgbClr val="1B254B"/>
                </a:solidFill>
                <a:latin typeface="Meiryo"/>
              </a:rPr>
              <a:t>散乱を入れると</a:t>
            </a:r>
          </a:p>
        </p:txBody>
      </p:sp>
      <p:sp>
        <p:nvSpPr>
          <p:cNvPr id="9" name="TextBox 8"/>
          <p:cNvSpPr txBox="1"/>
          <p:nvPr/>
        </p:nvSpPr>
        <p:spPr>
          <a:xfrm>
            <a:off x="6629400" y="2121408"/>
            <a:ext cx="4754880" cy="1572768"/>
          </a:xfrm>
          <a:prstGeom prst="rect">
            <a:avLst/>
          </a:prstGeom>
          <a:noFill/>
        </p:spPr>
        <p:txBody>
          <a:bodyPr wrap="square" lIns="0" rIns="0" tIns="0" bIns="0" anchor="t">
            <a:spAutoFit/>
          </a:bodyPr>
          <a:lstStyle/>
          <a:p>
            <a:pPr algn="l">
              <a:lnSpc>
                <a:spcPct val="122000"/>
              </a:lnSpc>
              <a:spcAft>
                <a:spcPts val="700"/>
              </a:spcAft>
            </a:pPr>
            <a:r>
              <a:rPr sz="1150" b="0">
                <a:solidFill>
                  <a:srgbClr val="22262B"/>
                </a:solidFill>
                <a:latin typeface="Meiryo"/>
              </a:rPr>
              <a:t>・散乱音は経路長が確率的に決まるため位相が定まらない</a:t>
            </a:r>
          </a:p>
          <a:p>
            <a:pPr algn="l">
              <a:lnSpc>
                <a:spcPct val="122000"/>
              </a:lnSpc>
              <a:spcAft>
                <a:spcPts val="700"/>
              </a:spcAft>
            </a:pPr>
            <a:r>
              <a:rPr sz="1150" b="0">
                <a:solidFill>
                  <a:srgbClr val="22262B"/>
                </a:solidFill>
                <a:latin typeface="Meiryo"/>
              </a:rPr>
              <a:t>・無理に複素和へ入れると、偽の干渉が出る</a:t>
            </a:r>
          </a:p>
          <a:p>
            <a:pPr algn="l">
              <a:lnSpc>
                <a:spcPct val="122000"/>
              </a:lnSpc>
              <a:spcAft>
                <a:spcPts val="700"/>
              </a:spcAft>
            </a:pPr>
            <a:r>
              <a:rPr sz="1150" b="0">
                <a:solidFill>
                  <a:srgbClr val="22262B"/>
                </a:solidFill>
                <a:latin typeface="Meiryo"/>
              </a:rPr>
              <a:t>・実務では「散乱成分はエネルギーで扱う」のが標準</a:t>
            </a:r>
          </a:p>
          <a:p>
            <a:pPr algn="l">
              <a:lnSpc>
                <a:spcPct val="122000"/>
              </a:lnSpc>
              <a:spcAft>
                <a:spcPts val="700"/>
              </a:spcAft>
            </a:pPr>
            <a:r>
              <a:rPr sz="1150" b="0">
                <a:solidFill>
                  <a:srgbClr val="22262B"/>
                </a:solidFill>
                <a:latin typeface="Meiryo"/>
              </a:rPr>
              <a:t>・低域のモード検討には散乱音をそもそも入れない</a:t>
            </a:r>
          </a:p>
        </p:txBody>
      </p:sp>
      <p:sp>
        <p:nvSpPr>
          <p:cNvPr id="10" name="Rounded Rectangle 9"/>
          <p:cNvSpPr/>
          <p:nvPr/>
        </p:nvSpPr>
        <p:spPr>
          <a:xfrm>
            <a:off x="566928" y="3968496"/>
            <a:ext cx="11057839" cy="1783080"/>
          </a:xfrm>
          <a:prstGeom prst="roundRect">
            <a:avLst>
              <a:gd name="adj" fmla="val 4000"/>
            </a:avLst>
          </a:prstGeom>
          <a:solidFill>
            <a:srgbClr val="F2F5F8"/>
          </a:solidFill>
          <a:ln w="12700">
            <a:solidFill>
              <a:srgbClr val="065A8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4151376"/>
            <a:ext cx="10509199" cy="1463040"/>
          </a:xfrm>
          <a:prstGeom prst="rect">
            <a:avLst/>
          </a:prstGeom>
          <a:noFill/>
        </p:spPr>
        <p:txBody>
          <a:bodyPr wrap="square" lIns="0" rIns="0" tIns="0" bIns="0" anchor="t">
            <a:spAutoFit/>
          </a:bodyPr>
          <a:lstStyle/>
          <a:p>
            <a:pPr algn="l">
              <a:lnSpc>
                <a:spcPct val="115000"/>
              </a:lnSpc>
              <a:spcAft>
                <a:spcPts val="500"/>
              </a:spcAft>
            </a:pPr>
            <a:r>
              <a:rPr sz="1500" b="1">
                <a:solidFill>
                  <a:srgbClr val="1B254B"/>
                </a:solidFill>
                <a:latin typeface="Meiryo"/>
              </a:rPr>
              <a:t>提案：早い部分は今のまま、遅い部分はエネルギーで</a:t>
            </a:r>
          </a:p>
          <a:p>
            <a:pPr algn="l">
              <a:lnSpc>
                <a:spcPct val="132000"/>
              </a:lnSpc>
              <a:spcAft>
                <a:spcPts val="500"/>
              </a:spcAft>
            </a:pPr>
            <a:r>
              <a:rPr sz="1200" b="0">
                <a:solidFill>
                  <a:srgbClr val="22262B"/>
                </a:solidFill>
                <a:latin typeface="Meiryo"/>
              </a:rPr>
              <a:t>鏡面のまま届いた経路は虚音源で厳密に解き、複素和に入れる（いまと同じ）。一度でも拡散した経路はエネルギーだけを持たせ、後期の減衰として足す。こうすれば、低域の干渉を見る使い方と、残響時間を読む使い方の両方が成り立つ。</a:t>
            </a:r>
          </a:p>
          <a:p>
            <a:pPr algn="l">
              <a:lnSpc>
                <a:spcPct val="132000"/>
              </a:lnSpc>
              <a:spcAft>
                <a:spcPts val="500"/>
              </a:spcAft>
            </a:pPr>
            <a:r>
              <a:rPr sz="1200" b="0">
                <a:solidFill>
                  <a:srgbClr val="22262B"/>
                </a:solidFill>
                <a:latin typeface="Meiryo"/>
              </a:rPr>
              <a:t>★この切り分けは「何次反射まで」ではなく「散乱したかどうか」で決めるのが素直。</a:t>
            </a:r>
          </a:p>
        </p:txBody>
      </p:sp>
      <p:sp>
        <p:nvSpPr>
          <p:cNvPr id="12" name="TextBox 11"/>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入れるとしたらこの順番</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いきなり全部を作らない。各段で「何が良くなったか」を数字で確かめながら進める</a:t>
            </a:r>
          </a:p>
        </p:txBody>
      </p:sp>
      <p:sp>
        <p:nvSpPr>
          <p:cNvPr id="4" name="Rounded Rectangle 3"/>
          <p:cNvSpPr/>
          <p:nvPr/>
        </p:nvSpPr>
        <p:spPr>
          <a:xfrm>
            <a:off x="566928" y="1536192"/>
            <a:ext cx="11057839" cy="1078992"/>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60" y="1828800"/>
            <a:ext cx="457200" cy="457200"/>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0</a:t>
            </a:r>
          </a:p>
        </p:txBody>
      </p:sp>
      <p:sp>
        <p:nvSpPr>
          <p:cNvPr id="6" name="TextBox 5"/>
          <p:cNvSpPr txBox="1"/>
          <p:nvPr/>
        </p:nvSpPr>
        <p:spPr>
          <a:xfrm>
            <a:off x="1463040" y="1719072"/>
            <a:ext cx="3017520" cy="310896"/>
          </a:xfrm>
          <a:prstGeom prst="rect">
            <a:avLst/>
          </a:prstGeom>
          <a:noFill/>
        </p:spPr>
        <p:txBody>
          <a:bodyPr wrap="square" lIns="0" rIns="0" tIns="0" bIns="0" anchor="t">
            <a:spAutoFit/>
          </a:bodyPr>
          <a:lstStyle/>
          <a:p>
            <a:pPr algn="l">
              <a:lnSpc>
                <a:spcPct val="115000"/>
              </a:lnSpc>
              <a:spcAft>
                <a:spcPts val="0"/>
              </a:spcAft>
            </a:pPr>
            <a:r>
              <a:rPr sz="1400" b="1">
                <a:solidFill>
                  <a:srgbClr val="1B254B"/>
                </a:solidFill>
                <a:latin typeface="Meiryo"/>
              </a:rPr>
              <a:t>物差しをつくる</a:t>
            </a:r>
          </a:p>
        </p:txBody>
      </p:sp>
      <p:sp>
        <p:nvSpPr>
          <p:cNvPr id="7" name="TextBox 6"/>
          <p:cNvSpPr txBox="1"/>
          <p:nvPr/>
        </p:nvSpPr>
        <p:spPr>
          <a:xfrm>
            <a:off x="1463040" y="2048256"/>
            <a:ext cx="7680960" cy="530352"/>
          </a:xfrm>
          <a:prstGeom prst="rect">
            <a:avLst/>
          </a:prstGeom>
          <a:noFill/>
        </p:spPr>
        <p:txBody>
          <a:bodyPr wrap="square" lIns="0" rIns="0" tIns="0" bIns="0" anchor="t">
            <a:spAutoFit/>
          </a:bodyPr>
          <a:lstStyle/>
          <a:p>
            <a:pPr algn="l">
              <a:lnSpc>
                <a:spcPct val="122000"/>
              </a:lnSpc>
              <a:spcAft>
                <a:spcPts val="0"/>
              </a:spcAft>
            </a:pPr>
            <a:r>
              <a:rPr sz="1100" b="0">
                <a:solidFill>
                  <a:srgbClr val="22262B"/>
                </a:solidFill>
                <a:latin typeface="Meiryo"/>
              </a:rPr>
              <a:t>散乱が無いいまの状態で、曲率 C・ξ・T20/T30 を</a:t>
            </a:r>
          </a:p>
          <a:p>
            <a:pPr algn="l">
              <a:lnSpc>
                <a:spcPct val="122000"/>
              </a:lnSpc>
              <a:spcAft>
                <a:spcPts val="0"/>
              </a:spcAft>
            </a:pPr>
            <a:r>
              <a:rPr sz="1100" b="0">
                <a:solidFill>
                  <a:srgbClr val="22262B"/>
                </a:solidFill>
                <a:latin typeface="Meiryo"/>
              </a:rPr>
              <a:t>基準値として控える。比較対象が無いと良し悪しが判定できない</a:t>
            </a:r>
          </a:p>
        </p:txBody>
      </p:sp>
      <p:sp>
        <p:nvSpPr>
          <p:cNvPr id="8" name="TextBox 7"/>
          <p:cNvSpPr txBox="1"/>
          <p:nvPr/>
        </p:nvSpPr>
        <p:spPr>
          <a:xfrm>
            <a:off x="9933127" y="1755648"/>
            <a:ext cx="1417320" cy="274320"/>
          </a:xfrm>
          <a:prstGeom prst="rect">
            <a:avLst/>
          </a:prstGeom>
          <a:noFill/>
        </p:spPr>
        <p:txBody>
          <a:bodyPr wrap="square" lIns="0" rIns="0" tIns="0" bIns="0" anchor="t">
            <a:spAutoFit/>
          </a:bodyPr>
          <a:lstStyle/>
          <a:p>
            <a:pPr algn="r">
              <a:lnSpc>
                <a:spcPct val="115000"/>
              </a:lnSpc>
              <a:spcAft>
                <a:spcPts val="0"/>
              </a:spcAft>
            </a:pPr>
            <a:r>
              <a:rPr sz="1050" b="1">
                <a:solidFill>
                  <a:srgbClr val="606A76"/>
                </a:solidFill>
                <a:latin typeface="Meiryo"/>
              </a:rPr>
              <a:t>着手は軽い</a:t>
            </a:r>
          </a:p>
        </p:txBody>
      </p:sp>
      <p:sp>
        <p:nvSpPr>
          <p:cNvPr id="9" name="Rounded Rectangle 8"/>
          <p:cNvSpPr/>
          <p:nvPr/>
        </p:nvSpPr>
        <p:spPr>
          <a:xfrm>
            <a:off x="566928" y="2688336"/>
            <a:ext cx="11057839" cy="1078992"/>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22960" y="2980944"/>
            <a:ext cx="457200" cy="457200"/>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1</a:t>
            </a:r>
          </a:p>
        </p:txBody>
      </p:sp>
      <p:sp>
        <p:nvSpPr>
          <p:cNvPr id="11" name="TextBox 10"/>
          <p:cNvSpPr txBox="1"/>
          <p:nvPr/>
        </p:nvSpPr>
        <p:spPr>
          <a:xfrm>
            <a:off x="1463040" y="2871216"/>
            <a:ext cx="3017520" cy="310896"/>
          </a:xfrm>
          <a:prstGeom prst="rect">
            <a:avLst/>
          </a:prstGeom>
          <a:noFill/>
        </p:spPr>
        <p:txBody>
          <a:bodyPr wrap="square" lIns="0" rIns="0" tIns="0" bIns="0" anchor="t">
            <a:spAutoFit/>
          </a:bodyPr>
          <a:lstStyle/>
          <a:p>
            <a:pPr algn="l">
              <a:lnSpc>
                <a:spcPct val="115000"/>
              </a:lnSpc>
              <a:spcAft>
                <a:spcPts val="0"/>
              </a:spcAft>
            </a:pPr>
            <a:r>
              <a:rPr sz="1400" b="1">
                <a:solidFill>
                  <a:srgbClr val="1B254B"/>
                </a:solidFill>
                <a:latin typeface="Meiryo"/>
              </a:rPr>
              <a:t>B＋C を入れる</a:t>
            </a:r>
          </a:p>
        </p:txBody>
      </p:sp>
      <p:sp>
        <p:nvSpPr>
          <p:cNvPr id="12" name="TextBox 11"/>
          <p:cNvSpPr txBox="1"/>
          <p:nvPr/>
        </p:nvSpPr>
        <p:spPr>
          <a:xfrm>
            <a:off x="1463040" y="3200400"/>
            <a:ext cx="7680960" cy="530352"/>
          </a:xfrm>
          <a:prstGeom prst="rect">
            <a:avLst/>
          </a:prstGeom>
          <a:noFill/>
        </p:spPr>
        <p:txBody>
          <a:bodyPr wrap="square" lIns="0" rIns="0" tIns="0" bIns="0" anchor="t">
            <a:spAutoFit/>
          </a:bodyPr>
          <a:lstStyle/>
          <a:p>
            <a:pPr algn="l">
              <a:lnSpc>
                <a:spcPct val="122000"/>
              </a:lnSpc>
              <a:spcAft>
                <a:spcPts val="0"/>
              </a:spcAft>
            </a:pPr>
            <a:r>
              <a:rPr sz="1100" b="0">
                <a:solidFill>
                  <a:srgbClr val="22262B"/>
                </a:solidFill>
                <a:latin typeface="Meiryo"/>
              </a:rPr>
              <a:t>確率的散乱と 2 次音源。鏡面経路は虚音源のまま残し、</a:t>
            </a:r>
          </a:p>
          <a:p>
            <a:pPr algn="l">
              <a:lnSpc>
                <a:spcPct val="122000"/>
              </a:lnSpc>
              <a:spcAft>
                <a:spcPts val="0"/>
              </a:spcAft>
            </a:pPr>
            <a:r>
              <a:rPr sz="1100" b="0">
                <a:solidFill>
                  <a:srgbClr val="22262B"/>
                </a:solidFill>
                <a:latin typeface="Meiryo"/>
              </a:rPr>
              <a:t>散乱経路はエネルギーだけで後期に足す</a:t>
            </a:r>
          </a:p>
        </p:txBody>
      </p:sp>
      <p:sp>
        <p:nvSpPr>
          <p:cNvPr id="13" name="TextBox 12"/>
          <p:cNvSpPr txBox="1"/>
          <p:nvPr/>
        </p:nvSpPr>
        <p:spPr>
          <a:xfrm>
            <a:off x="9933127" y="2907791"/>
            <a:ext cx="1417320" cy="274320"/>
          </a:xfrm>
          <a:prstGeom prst="rect">
            <a:avLst/>
          </a:prstGeom>
          <a:noFill/>
        </p:spPr>
        <p:txBody>
          <a:bodyPr wrap="square" lIns="0" rIns="0" tIns="0" bIns="0" anchor="t">
            <a:spAutoFit/>
          </a:bodyPr>
          <a:lstStyle/>
          <a:p>
            <a:pPr algn="r">
              <a:lnSpc>
                <a:spcPct val="115000"/>
              </a:lnSpc>
              <a:spcAft>
                <a:spcPts val="0"/>
              </a:spcAft>
            </a:pPr>
            <a:r>
              <a:rPr sz="1050" b="1">
                <a:solidFill>
                  <a:srgbClr val="1B254B"/>
                </a:solidFill>
                <a:latin typeface="Meiryo"/>
              </a:rPr>
              <a:t>ここが本体</a:t>
            </a:r>
          </a:p>
        </p:txBody>
      </p:sp>
      <p:sp>
        <p:nvSpPr>
          <p:cNvPr id="14" name="Rounded Rectangle 13"/>
          <p:cNvSpPr/>
          <p:nvPr/>
        </p:nvSpPr>
        <p:spPr>
          <a:xfrm>
            <a:off x="566928" y="3840480"/>
            <a:ext cx="11057839" cy="1078992"/>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22960" y="4133088"/>
            <a:ext cx="457200" cy="45720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2</a:t>
            </a:r>
          </a:p>
        </p:txBody>
      </p:sp>
      <p:sp>
        <p:nvSpPr>
          <p:cNvPr id="16" name="TextBox 15"/>
          <p:cNvSpPr txBox="1"/>
          <p:nvPr/>
        </p:nvSpPr>
        <p:spPr>
          <a:xfrm>
            <a:off x="1463040" y="4023360"/>
            <a:ext cx="3017520" cy="310896"/>
          </a:xfrm>
          <a:prstGeom prst="rect">
            <a:avLst/>
          </a:prstGeom>
          <a:noFill/>
        </p:spPr>
        <p:txBody>
          <a:bodyPr wrap="square" lIns="0" rIns="0" tIns="0" bIns="0" anchor="t">
            <a:spAutoFit/>
          </a:bodyPr>
          <a:lstStyle/>
          <a:p>
            <a:pPr algn="l">
              <a:lnSpc>
                <a:spcPct val="115000"/>
              </a:lnSpc>
              <a:spcAft>
                <a:spcPts val="0"/>
              </a:spcAft>
            </a:pPr>
            <a:r>
              <a:rPr sz="1400" b="1">
                <a:solidFill>
                  <a:srgbClr val="1B254B"/>
                </a:solidFill>
                <a:latin typeface="Meiryo"/>
              </a:rPr>
              <a:t>s を面ごとに持たせる</a:t>
            </a:r>
          </a:p>
        </p:txBody>
      </p:sp>
      <p:sp>
        <p:nvSpPr>
          <p:cNvPr id="17" name="TextBox 16"/>
          <p:cNvSpPr txBox="1"/>
          <p:nvPr/>
        </p:nvSpPr>
        <p:spPr>
          <a:xfrm>
            <a:off x="1463040" y="4352544"/>
            <a:ext cx="7680960" cy="530352"/>
          </a:xfrm>
          <a:prstGeom prst="rect">
            <a:avLst/>
          </a:prstGeom>
          <a:noFill/>
        </p:spPr>
        <p:txBody>
          <a:bodyPr wrap="square" lIns="0" rIns="0" tIns="0" bIns="0" anchor="t">
            <a:spAutoFit/>
          </a:bodyPr>
          <a:lstStyle/>
          <a:p>
            <a:pPr algn="l">
              <a:lnSpc>
                <a:spcPct val="122000"/>
              </a:lnSpc>
              <a:spcAft>
                <a:spcPts val="0"/>
              </a:spcAft>
            </a:pPr>
            <a:r>
              <a:rPr sz="1100" b="0">
                <a:solidFill>
                  <a:srgbClr val="22262B"/>
                </a:solidFill>
                <a:latin typeface="Meiryo"/>
              </a:rPr>
              <a:t>条件表に「散乱率」の列を足し、材料ごとに周波数別で持つ。</a:t>
            </a:r>
          </a:p>
          <a:p>
            <a:pPr algn="l">
              <a:lnSpc>
                <a:spcPct val="122000"/>
              </a:lnSpc>
              <a:spcAft>
                <a:spcPts val="0"/>
              </a:spcAft>
            </a:pPr>
            <a:r>
              <a:rPr sz="1100" b="0">
                <a:solidFill>
                  <a:srgbClr val="22262B"/>
                </a:solidFill>
                <a:latin typeface="Meiryo"/>
              </a:rPr>
              <a:t>吸音率と同じ仕組みに乗せられる</a:t>
            </a:r>
          </a:p>
        </p:txBody>
      </p:sp>
      <p:sp>
        <p:nvSpPr>
          <p:cNvPr id="18" name="TextBox 17"/>
          <p:cNvSpPr txBox="1"/>
          <p:nvPr/>
        </p:nvSpPr>
        <p:spPr>
          <a:xfrm>
            <a:off x="9933127" y="4059936"/>
            <a:ext cx="1417320" cy="274320"/>
          </a:xfrm>
          <a:prstGeom prst="rect">
            <a:avLst/>
          </a:prstGeom>
          <a:noFill/>
        </p:spPr>
        <p:txBody>
          <a:bodyPr wrap="square" lIns="0" rIns="0" tIns="0" bIns="0" anchor="t">
            <a:spAutoFit/>
          </a:bodyPr>
          <a:lstStyle/>
          <a:p>
            <a:pPr algn="r">
              <a:lnSpc>
                <a:spcPct val="115000"/>
              </a:lnSpc>
              <a:spcAft>
                <a:spcPts val="0"/>
              </a:spcAft>
            </a:pPr>
            <a:r>
              <a:rPr sz="1050" b="1">
                <a:solidFill>
                  <a:srgbClr val="606A76"/>
                </a:solidFill>
                <a:latin typeface="Meiryo"/>
              </a:rPr>
              <a:t>入力の整備</a:t>
            </a:r>
          </a:p>
        </p:txBody>
      </p:sp>
      <p:sp>
        <p:nvSpPr>
          <p:cNvPr id="19" name="Rounded Rectangle 18"/>
          <p:cNvSpPr/>
          <p:nvPr/>
        </p:nvSpPr>
        <p:spPr>
          <a:xfrm>
            <a:off x="566928" y="4992624"/>
            <a:ext cx="11057839" cy="1078992"/>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2960" y="5285232"/>
            <a:ext cx="457200" cy="457200"/>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3</a:t>
            </a:r>
          </a:p>
        </p:txBody>
      </p:sp>
      <p:sp>
        <p:nvSpPr>
          <p:cNvPr id="21" name="TextBox 20"/>
          <p:cNvSpPr txBox="1"/>
          <p:nvPr/>
        </p:nvSpPr>
        <p:spPr>
          <a:xfrm>
            <a:off x="1463040" y="5175504"/>
            <a:ext cx="3017520" cy="310896"/>
          </a:xfrm>
          <a:prstGeom prst="rect">
            <a:avLst/>
          </a:prstGeom>
          <a:noFill/>
        </p:spPr>
        <p:txBody>
          <a:bodyPr wrap="square" lIns="0" rIns="0" tIns="0" bIns="0" anchor="t">
            <a:spAutoFit/>
          </a:bodyPr>
          <a:lstStyle/>
          <a:p>
            <a:pPr algn="l">
              <a:lnSpc>
                <a:spcPct val="115000"/>
              </a:lnSpc>
              <a:spcAft>
                <a:spcPts val="0"/>
              </a:spcAft>
            </a:pPr>
            <a:r>
              <a:rPr sz="1400" b="1">
                <a:solidFill>
                  <a:srgbClr val="1B254B"/>
                </a:solidFill>
                <a:latin typeface="Meiryo"/>
              </a:rPr>
              <a:t>校正と検証</a:t>
            </a:r>
          </a:p>
        </p:txBody>
      </p:sp>
      <p:sp>
        <p:nvSpPr>
          <p:cNvPr id="22" name="TextBox 21"/>
          <p:cNvSpPr txBox="1"/>
          <p:nvPr/>
        </p:nvSpPr>
        <p:spPr>
          <a:xfrm>
            <a:off x="1463040" y="5504688"/>
            <a:ext cx="7680960" cy="530352"/>
          </a:xfrm>
          <a:prstGeom prst="rect">
            <a:avLst/>
          </a:prstGeom>
          <a:noFill/>
        </p:spPr>
        <p:txBody>
          <a:bodyPr wrap="square" lIns="0" rIns="0" tIns="0" bIns="0" anchor="t">
            <a:spAutoFit/>
          </a:bodyPr>
          <a:lstStyle/>
          <a:p>
            <a:pPr algn="l">
              <a:lnSpc>
                <a:spcPct val="122000"/>
              </a:lnSpc>
              <a:spcAft>
                <a:spcPts val="0"/>
              </a:spcAft>
            </a:pPr>
            <a:r>
              <a:rPr sz="1100" b="0">
                <a:solidFill>
                  <a:srgbClr val="22262B"/>
                </a:solidFill>
                <a:latin typeface="Meiryo"/>
              </a:rPr>
              <a:t>実測のある室（階段教室）で T20・T30・曲率・ξ を突き合わせ、</a:t>
            </a:r>
          </a:p>
          <a:p>
            <a:pPr algn="l">
              <a:lnSpc>
                <a:spcPct val="122000"/>
              </a:lnSpc>
              <a:spcAft>
                <a:spcPts val="0"/>
              </a:spcAft>
            </a:pPr>
            <a:r>
              <a:rPr sz="1100" b="0">
                <a:solidFill>
                  <a:srgbClr val="22262B"/>
                </a:solidFill>
                <a:latin typeface="Meiryo"/>
              </a:rPr>
              <a:t>s の妥当な範囲を決める</a:t>
            </a:r>
          </a:p>
        </p:txBody>
      </p:sp>
      <p:sp>
        <p:nvSpPr>
          <p:cNvPr id="23" name="TextBox 22"/>
          <p:cNvSpPr txBox="1"/>
          <p:nvPr/>
        </p:nvSpPr>
        <p:spPr>
          <a:xfrm>
            <a:off x="9933127" y="5212080"/>
            <a:ext cx="1417320" cy="274320"/>
          </a:xfrm>
          <a:prstGeom prst="rect">
            <a:avLst/>
          </a:prstGeom>
          <a:noFill/>
        </p:spPr>
        <p:txBody>
          <a:bodyPr wrap="square" lIns="0" rIns="0" tIns="0" bIns="0" anchor="t">
            <a:spAutoFit/>
          </a:bodyPr>
          <a:lstStyle/>
          <a:p>
            <a:pPr algn="r">
              <a:lnSpc>
                <a:spcPct val="115000"/>
              </a:lnSpc>
              <a:spcAft>
                <a:spcPts val="0"/>
              </a:spcAft>
            </a:pPr>
            <a:r>
              <a:rPr sz="1050" b="1">
                <a:solidFill>
                  <a:srgbClr val="606A76"/>
                </a:solidFill>
                <a:latin typeface="Meiryo"/>
              </a:rPr>
              <a:t>ここまでで実用</a:t>
            </a:r>
          </a:p>
        </p:txBody>
      </p:sp>
      <p:sp>
        <p:nvSpPr>
          <p:cNvPr id="24" name="TextBox 23"/>
          <p:cNvSpPr txBox="1"/>
          <p:nvPr/>
        </p:nvSpPr>
        <p:spPr>
          <a:xfrm>
            <a:off x="566928" y="6181344"/>
            <a:ext cx="11057839" cy="411480"/>
          </a:xfrm>
          <a:prstGeom prst="rect">
            <a:avLst/>
          </a:prstGeom>
          <a:noFill/>
        </p:spPr>
        <p:txBody>
          <a:bodyPr wrap="square" lIns="0" rIns="0" tIns="0" bIns="0" anchor="t">
            <a:spAutoFit/>
          </a:bodyPr>
          <a:lstStyle/>
          <a:p>
            <a:pPr algn="l">
              <a:lnSpc>
                <a:spcPct val="115000"/>
              </a:lnSpc>
              <a:spcAft>
                <a:spcPts val="0"/>
              </a:spcAft>
            </a:pPr>
            <a:r>
              <a:rPr sz="1150" b="0">
                <a:solidFill>
                  <a:srgbClr val="606A76"/>
                </a:solidFill>
                <a:latin typeface="Meiryo"/>
              </a:rPr>
              <a:t>★段 1 まで入れれば T20 / T30 が読めるようになる見込み。段 2・3 は精度を詰める作業。</a:t>
            </a:r>
          </a:p>
        </p:txBody>
      </p:sp>
      <p:sp>
        <p:nvSpPr>
          <p:cNvPr id="25" name="TextBox 24"/>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散乱係数の決め方 — 考え方</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測るのが本筋（ISO 17497-1）。実務では目安から入れて、実測に合わせて校正する</a:t>
            </a:r>
          </a:p>
        </p:txBody>
      </p:sp>
      <p:sp>
        <p:nvSpPr>
          <p:cNvPr id="4" name="Rounded Rectangle 3"/>
          <p:cNvSpPr/>
          <p:nvPr/>
        </p:nvSpPr>
        <p:spPr>
          <a:xfrm>
            <a:off x="566928" y="1554480"/>
            <a:ext cx="3611880" cy="228600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60" y="1773936"/>
            <a:ext cx="402336" cy="40233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1</a:t>
            </a:r>
          </a:p>
        </p:txBody>
      </p:sp>
      <p:sp>
        <p:nvSpPr>
          <p:cNvPr id="6" name="TextBox 5"/>
          <p:cNvSpPr txBox="1"/>
          <p:nvPr/>
        </p:nvSpPr>
        <p:spPr>
          <a:xfrm>
            <a:off x="1353312" y="1810512"/>
            <a:ext cx="2651760" cy="310896"/>
          </a:xfrm>
          <a:prstGeom prst="rect">
            <a:avLst/>
          </a:prstGeom>
          <a:noFill/>
        </p:spPr>
        <p:txBody>
          <a:bodyPr wrap="square" lIns="0" rIns="0" tIns="0" bIns="0" anchor="t">
            <a:spAutoFit/>
          </a:bodyPr>
          <a:lstStyle/>
          <a:p>
            <a:pPr algn="l">
              <a:lnSpc>
                <a:spcPct val="115000"/>
              </a:lnSpc>
              <a:spcAft>
                <a:spcPts val="0"/>
              </a:spcAft>
            </a:pPr>
            <a:r>
              <a:rPr sz="1300" b="1">
                <a:solidFill>
                  <a:srgbClr val="1B254B"/>
                </a:solidFill>
                <a:latin typeface="Meiryo"/>
              </a:rPr>
              <a:t>凹凸の深さと波長</a:t>
            </a:r>
          </a:p>
        </p:txBody>
      </p:sp>
      <p:sp>
        <p:nvSpPr>
          <p:cNvPr id="7" name="TextBox 6"/>
          <p:cNvSpPr txBox="1"/>
          <p:nvPr/>
        </p:nvSpPr>
        <p:spPr>
          <a:xfrm>
            <a:off x="822960" y="2340864"/>
            <a:ext cx="3108960" cy="1371600"/>
          </a:xfrm>
          <a:prstGeom prst="rect">
            <a:avLst/>
          </a:prstGeom>
          <a:noFill/>
        </p:spPr>
        <p:txBody>
          <a:bodyPr wrap="square" lIns="0" rIns="0" tIns="0" bIns="0" anchor="t">
            <a:spAutoFit/>
          </a:bodyPr>
          <a:lstStyle/>
          <a:p>
            <a:pPr algn="l">
              <a:lnSpc>
                <a:spcPct val="128000"/>
              </a:lnSpc>
              <a:spcAft>
                <a:spcPts val="0"/>
              </a:spcAft>
            </a:pPr>
            <a:r>
              <a:rPr sz="1100" b="0">
                <a:solidFill>
                  <a:srgbClr val="22262B"/>
                </a:solidFill>
                <a:latin typeface="Meiryo"/>
              </a:rPr>
              <a:t>凹凸の深さが波長の 1/4 前後、幅が波長と同程度のときに散乱が最大になる。波長がそれより十分長ければ面は平らに見え、s はほぼ 0 になる。</a:t>
            </a:r>
          </a:p>
          <a:p>
            <a:pPr algn="l">
              <a:lnSpc>
                <a:spcPct val="128000"/>
              </a:lnSpc>
              <a:spcAft>
                <a:spcPts val="0"/>
              </a:spcAft>
            </a:pPr>
            <a:r>
              <a:rPr sz="1100" b="0">
                <a:solidFill>
                  <a:srgbClr val="22262B"/>
                </a:solidFill>
                <a:latin typeface="Meiryo"/>
              </a:rPr>
              <a:t>→ s は高い周波数ほど大きい。</a:t>
            </a:r>
          </a:p>
        </p:txBody>
      </p:sp>
      <p:sp>
        <p:nvSpPr>
          <p:cNvPr id="8" name="Rounded Rectangle 7"/>
          <p:cNvSpPr/>
          <p:nvPr/>
        </p:nvSpPr>
        <p:spPr>
          <a:xfrm>
            <a:off x="4379976" y="1554480"/>
            <a:ext cx="3611880" cy="2286000"/>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636008" y="1773936"/>
            <a:ext cx="402336" cy="402336"/>
          </a:xfrm>
          <a:prstGeom prst="ellipse">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2</a:t>
            </a:r>
          </a:p>
        </p:txBody>
      </p:sp>
      <p:sp>
        <p:nvSpPr>
          <p:cNvPr id="10" name="TextBox 9"/>
          <p:cNvSpPr txBox="1"/>
          <p:nvPr/>
        </p:nvSpPr>
        <p:spPr>
          <a:xfrm>
            <a:off x="5166360" y="1810512"/>
            <a:ext cx="2651760" cy="310896"/>
          </a:xfrm>
          <a:prstGeom prst="rect">
            <a:avLst/>
          </a:prstGeom>
          <a:noFill/>
        </p:spPr>
        <p:txBody>
          <a:bodyPr wrap="square" lIns="0" rIns="0" tIns="0" bIns="0" anchor="t">
            <a:spAutoFit/>
          </a:bodyPr>
          <a:lstStyle/>
          <a:p>
            <a:pPr algn="l">
              <a:lnSpc>
                <a:spcPct val="115000"/>
              </a:lnSpc>
              <a:spcAft>
                <a:spcPts val="0"/>
              </a:spcAft>
            </a:pPr>
            <a:r>
              <a:rPr sz="1300" b="1">
                <a:solidFill>
                  <a:srgbClr val="1B254B"/>
                </a:solidFill>
                <a:latin typeface="Meiryo"/>
              </a:rPr>
              <a:t>面の大きさ（縁の効果）</a:t>
            </a:r>
          </a:p>
        </p:txBody>
      </p:sp>
      <p:sp>
        <p:nvSpPr>
          <p:cNvPr id="11" name="TextBox 10"/>
          <p:cNvSpPr txBox="1"/>
          <p:nvPr/>
        </p:nvSpPr>
        <p:spPr>
          <a:xfrm>
            <a:off x="4636008" y="2340864"/>
            <a:ext cx="3108960" cy="1371600"/>
          </a:xfrm>
          <a:prstGeom prst="rect">
            <a:avLst/>
          </a:prstGeom>
          <a:noFill/>
        </p:spPr>
        <p:txBody>
          <a:bodyPr wrap="square" lIns="0" rIns="0" tIns="0" bIns="0" anchor="t">
            <a:spAutoFit/>
          </a:bodyPr>
          <a:lstStyle/>
          <a:p>
            <a:pPr algn="l">
              <a:lnSpc>
                <a:spcPct val="128000"/>
              </a:lnSpc>
              <a:spcAft>
                <a:spcPts val="0"/>
              </a:spcAft>
            </a:pPr>
            <a:r>
              <a:rPr sz="1100" b="0">
                <a:solidFill>
                  <a:srgbClr val="22262B"/>
                </a:solidFill>
                <a:latin typeface="Meiryo"/>
              </a:rPr>
              <a:t>面が波長に比べて小さいほど、縁での回り込みが効いて実効的な散乱が増える。★このプログラムは同一平面パッチで大きな面にまとめるので、縁の効果はいっそう表現されない。s で補う対象になる。</a:t>
            </a:r>
          </a:p>
        </p:txBody>
      </p:sp>
      <p:sp>
        <p:nvSpPr>
          <p:cNvPr id="12" name="Rounded Rectangle 11"/>
          <p:cNvSpPr/>
          <p:nvPr/>
        </p:nvSpPr>
        <p:spPr>
          <a:xfrm>
            <a:off x="8010144" y="1554480"/>
            <a:ext cx="3611880" cy="2286000"/>
          </a:xfrm>
          <a:prstGeom prst="roundRect">
            <a:avLst>
              <a:gd name="adj" fmla="val 4000"/>
            </a:avLst>
          </a:prstGeom>
          <a:solidFill>
            <a:srgbClr val="FAEEEE"/>
          </a:solidFill>
          <a:ln w="12700">
            <a:solidFill>
              <a:srgbClr val="A832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266175" y="1773936"/>
            <a:ext cx="402336" cy="402336"/>
          </a:xfrm>
          <a:prstGeom prst="ellipse">
            <a:avLst/>
          </a:prstGeom>
          <a:solidFill>
            <a:srgbClr val="A8323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Meiryo"/>
              </a:rPr>
              <a:t>3</a:t>
            </a:r>
          </a:p>
        </p:txBody>
      </p:sp>
      <p:sp>
        <p:nvSpPr>
          <p:cNvPr id="14" name="TextBox 13"/>
          <p:cNvSpPr txBox="1"/>
          <p:nvPr/>
        </p:nvSpPr>
        <p:spPr>
          <a:xfrm>
            <a:off x="8796528" y="1810512"/>
            <a:ext cx="2651760" cy="310896"/>
          </a:xfrm>
          <a:prstGeom prst="rect">
            <a:avLst/>
          </a:prstGeom>
          <a:noFill/>
        </p:spPr>
        <p:txBody>
          <a:bodyPr wrap="square" lIns="0" rIns="0" tIns="0" bIns="0" anchor="t">
            <a:spAutoFit/>
          </a:bodyPr>
          <a:lstStyle/>
          <a:p>
            <a:pPr algn="l">
              <a:lnSpc>
                <a:spcPct val="115000"/>
              </a:lnSpc>
              <a:spcAft>
                <a:spcPts val="0"/>
              </a:spcAft>
            </a:pPr>
            <a:r>
              <a:rPr sz="1300" b="1">
                <a:solidFill>
                  <a:srgbClr val="A83232"/>
                </a:solidFill>
                <a:latin typeface="Meiryo"/>
              </a:rPr>
              <a:t>二重に数えない</a:t>
            </a:r>
          </a:p>
        </p:txBody>
      </p:sp>
      <p:sp>
        <p:nvSpPr>
          <p:cNvPr id="15" name="TextBox 14"/>
          <p:cNvSpPr txBox="1"/>
          <p:nvPr/>
        </p:nvSpPr>
        <p:spPr>
          <a:xfrm>
            <a:off x="8266175" y="2340864"/>
            <a:ext cx="3108960" cy="1371600"/>
          </a:xfrm>
          <a:prstGeom prst="rect">
            <a:avLst/>
          </a:prstGeom>
          <a:noFill/>
        </p:spPr>
        <p:txBody>
          <a:bodyPr wrap="square" lIns="0" rIns="0" tIns="0" bIns="0" anchor="t">
            <a:spAutoFit/>
          </a:bodyPr>
          <a:lstStyle/>
          <a:p>
            <a:pPr algn="l">
              <a:lnSpc>
                <a:spcPct val="128000"/>
              </a:lnSpc>
              <a:spcAft>
                <a:spcPts val="0"/>
              </a:spcAft>
            </a:pPr>
            <a:r>
              <a:rPr sz="1100" b="0">
                <a:solidFill>
                  <a:srgbClr val="22262B"/>
                </a:solidFill>
                <a:latin typeface="Meiryo"/>
              </a:rPr>
              <a:t>作図で凹凸を表した面に、さらに大きな s を与えてはいけない。階段教室の反射板・段床はすでに形で表されているので、ここに与えるのは表面の粗さぶんだけ。</a:t>
            </a:r>
          </a:p>
        </p:txBody>
      </p:sp>
      <p:sp>
        <p:nvSpPr>
          <p:cNvPr id="16" name="Rounded Rectangle 15"/>
          <p:cNvSpPr/>
          <p:nvPr/>
        </p:nvSpPr>
        <p:spPr>
          <a:xfrm>
            <a:off x="566928" y="4041648"/>
            <a:ext cx="11057839" cy="1938528"/>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41247" y="4206240"/>
            <a:ext cx="5120640" cy="1691640"/>
          </a:xfrm>
          <a:prstGeom prst="rect">
            <a:avLst/>
          </a:prstGeom>
          <a:noFill/>
        </p:spPr>
        <p:txBody>
          <a:bodyPr wrap="square" lIns="0" rIns="0" tIns="0" bIns="0" anchor="t">
            <a:spAutoFit/>
          </a:bodyPr>
          <a:lstStyle/>
          <a:p>
            <a:pPr algn="l">
              <a:lnSpc>
                <a:spcPct val="115000"/>
              </a:lnSpc>
              <a:spcAft>
                <a:spcPts val="400"/>
              </a:spcAft>
            </a:pPr>
            <a:r>
              <a:rPr sz="1300" b="1">
                <a:solidFill>
                  <a:srgbClr val="1B254B"/>
                </a:solidFill>
                <a:latin typeface="Meiryo"/>
              </a:rPr>
              <a:t>実務での決め方（順番）</a:t>
            </a:r>
          </a:p>
          <a:p>
            <a:pPr algn="l">
              <a:lnSpc>
                <a:spcPct val="135000"/>
              </a:lnSpc>
              <a:spcAft>
                <a:spcPts val="400"/>
              </a:spcAft>
            </a:pPr>
            <a:r>
              <a:rPr sz="1150" b="0">
                <a:solidFill>
                  <a:srgbClr val="22262B"/>
                </a:solidFill>
                <a:latin typeface="Meiryo"/>
              </a:rPr>
              <a:t>① 材料の種類から目安を入れる（次ページ）</a:t>
            </a:r>
          </a:p>
          <a:p>
            <a:pPr algn="l">
              <a:lnSpc>
                <a:spcPct val="135000"/>
              </a:lnSpc>
              <a:spcAft>
                <a:spcPts val="400"/>
              </a:spcAft>
            </a:pPr>
            <a:r>
              <a:rPr sz="1150" b="0">
                <a:solidFill>
                  <a:srgbClr val="22262B"/>
                </a:solidFill>
                <a:latin typeface="Meiryo"/>
              </a:rPr>
              <a:t>② 全面に最低 0.05〜0.1 は入れる。★s = 0 にしない</a:t>
            </a:r>
          </a:p>
          <a:p>
            <a:pPr algn="l">
              <a:lnSpc>
                <a:spcPct val="135000"/>
              </a:lnSpc>
              <a:spcAft>
                <a:spcPts val="400"/>
              </a:spcAft>
            </a:pPr>
            <a:r>
              <a:rPr sz="1150" b="0">
                <a:solidFill>
                  <a:srgbClr val="22262B"/>
                </a:solidFill>
                <a:latin typeface="Meiryo"/>
              </a:rPr>
              <a:t>③ 実測のある室で T20・T30 を合わせて校正する</a:t>
            </a:r>
          </a:p>
          <a:p>
            <a:pPr algn="l">
              <a:lnSpc>
                <a:spcPct val="135000"/>
              </a:lnSpc>
              <a:spcAft>
                <a:spcPts val="400"/>
              </a:spcAft>
            </a:pPr>
            <a:r>
              <a:rPr sz="1150" b="0">
                <a:solidFill>
                  <a:srgbClr val="22262B"/>
                </a:solidFill>
                <a:latin typeface="Meiryo"/>
              </a:rPr>
              <a:t>④ 合わないときは吸音率より先に s を疑う</a:t>
            </a:r>
          </a:p>
        </p:txBody>
      </p:sp>
      <p:sp>
        <p:nvSpPr>
          <p:cNvPr id="18" name="TextBox 17"/>
          <p:cNvSpPr txBox="1"/>
          <p:nvPr/>
        </p:nvSpPr>
        <p:spPr>
          <a:xfrm>
            <a:off x="6263640" y="4206240"/>
            <a:ext cx="5120640" cy="1691640"/>
          </a:xfrm>
          <a:prstGeom prst="rect">
            <a:avLst/>
          </a:prstGeom>
          <a:noFill/>
        </p:spPr>
        <p:txBody>
          <a:bodyPr wrap="square" lIns="0" rIns="0" tIns="0" bIns="0" anchor="t">
            <a:spAutoFit/>
          </a:bodyPr>
          <a:lstStyle/>
          <a:p>
            <a:pPr algn="l">
              <a:lnSpc>
                <a:spcPct val="115000"/>
              </a:lnSpc>
              <a:spcAft>
                <a:spcPts val="400"/>
              </a:spcAft>
            </a:pPr>
            <a:r>
              <a:rPr sz="1300" b="1">
                <a:solidFill>
                  <a:srgbClr val="1B254B"/>
                </a:solidFill>
                <a:latin typeface="Meiryo"/>
              </a:rPr>
              <a:t>なぜ s = 0 にしてはいけないか</a:t>
            </a:r>
          </a:p>
          <a:p>
            <a:pPr algn="l">
              <a:lnSpc>
                <a:spcPct val="135000"/>
              </a:lnSpc>
              <a:spcAft>
                <a:spcPts val="400"/>
              </a:spcAft>
            </a:pPr>
            <a:r>
              <a:rPr sz="1150" b="0">
                <a:solidFill>
                  <a:srgbClr val="22262B"/>
                </a:solidFill>
                <a:latin typeface="Meiryo"/>
              </a:rPr>
              <a:t>完全な鏡面反射は現実には存在しない。s = 0 は減衰を不自然に長く・曲げる方向に働き、まさにいま階段教室で起きている状態になる。実測と比べる前提なら、平滑な面でも 0.05 程度は入れておくのが通例。</a:t>
            </a:r>
          </a:p>
        </p:txBody>
      </p:sp>
      <p:sp>
        <p:nvSpPr>
          <p:cNvPr id="19" name="TextBox 18"/>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散乱係数の目安（実務で使われている値）</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★確定値ではない。出発点として入れ、実測に合わせて校正する前提の数字</a:t>
            </a:r>
          </a:p>
        </p:txBody>
      </p:sp>
      <p:sp>
        <p:nvSpPr>
          <p:cNvPr id="4" name="Rectangle 3"/>
          <p:cNvSpPr/>
          <p:nvPr/>
        </p:nvSpPr>
        <p:spPr>
          <a:xfrm>
            <a:off x="566928" y="1572768"/>
            <a:ext cx="3357643"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面の種類</a:t>
            </a:r>
          </a:p>
        </p:txBody>
      </p:sp>
      <p:sp>
        <p:nvSpPr>
          <p:cNvPr id="5" name="Rectangle 4"/>
          <p:cNvSpPr/>
          <p:nvPr/>
        </p:nvSpPr>
        <p:spPr>
          <a:xfrm>
            <a:off x="3924571" y="1572768"/>
            <a:ext cx="895371"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125 Hz</a:t>
            </a:r>
          </a:p>
        </p:txBody>
      </p:sp>
      <p:sp>
        <p:nvSpPr>
          <p:cNvPr id="6" name="Rectangle 5"/>
          <p:cNvSpPr/>
          <p:nvPr/>
        </p:nvSpPr>
        <p:spPr>
          <a:xfrm>
            <a:off x="4819943" y="1572768"/>
            <a:ext cx="895371"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250 Hz</a:t>
            </a:r>
          </a:p>
        </p:txBody>
      </p:sp>
      <p:sp>
        <p:nvSpPr>
          <p:cNvPr id="7" name="Rectangle 6"/>
          <p:cNvSpPr/>
          <p:nvPr/>
        </p:nvSpPr>
        <p:spPr>
          <a:xfrm>
            <a:off x="5715314" y="1572768"/>
            <a:ext cx="895371"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500 Hz</a:t>
            </a:r>
          </a:p>
        </p:txBody>
      </p:sp>
      <p:sp>
        <p:nvSpPr>
          <p:cNvPr id="8" name="Rectangle 7"/>
          <p:cNvSpPr/>
          <p:nvPr/>
        </p:nvSpPr>
        <p:spPr>
          <a:xfrm>
            <a:off x="6610686" y="1572768"/>
            <a:ext cx="895371"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1 kHz</a:t>
            </a:r>
          </a:p>
        </p:txBody>
      </p:sp>
      <p:sp>
        <p:nvSpPr>
          <p:cNvPr id="9" name="Rectangle 8"/>
          <p:cNvSpPr/>
          <p:nvPr/>
        </p:nvSpPr>
        <p:spPr>
          <a:xfrm>
            <a:off x="7506057" y="1572768"/>
            <a:ext cx="895371"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2 kHz</a:t>
            </a:r>
          </a:p>
        </p:txBody>
      </p:sp>
      <p:sp>
        <p:nvSpPr>
          <p:cNvPr id="10" name="Rectangle 9"/>
          <p:cNvSpPr/>
          <p:nvPr/>
        </p:nvSpPr>
        <p:spPr>
          <a:xfrm>
            <a:off x="8401429" y="1572768"/>
            <a:ext cx="895371"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4 kHz</a:t>
            </a:r>
          </a:p>
        </p:txBody>
      </p:sp>
      <p:sp>
        <p:nvSpPr>
          <p:cNvPr id="11" name="Rectangle 10"/>
          <p:cNvSpPr/>
          <p:nvPr/>
        </p:nvSpPr>
        <p:spPr>
          <a:xfrm>
            <a:off x="9296801" y="1572768"/>
            <a:ext cx="2327966"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1">
                <a:solidFill>
                  <a:srgbClr val="FFFFFF"/>
                </a:solidFill>
                <a:latin typeface="Meiryo"/>
              </a:rPr>
              <a:t>備考</a:t>
            </a:r>
          </a:p>
        </p:txBody>
      </p:sp>
      <p:sp>
        <p:nvSpPr>
          <p:cNvPr id="12" name="Rectangle 11"/>
          <p:cNvSpPr/>
          <p:nvPr/>
        </p:nvSpPr>
        <p:spPr>
          <a:xfrm>
            <a:off x="566928" y="1975104"/>
            <a:ext cx="3357643"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平滑な面（ガラス・塗装コンクリート・ボード）</a:t>
            </a:r>
          </a:p>
        </p:txBody>
      </p:sp>
      <p:sp>
        <p:nvSpPr>
          <p:cNvPr id="13" name="Rectangle 12"/>
          <p:cNvSpPr/>
          <p:nvPr/>
        </p:nvSpPr>
        <p:spPr>
          <a:xfrm>
            <a:off x="3924571" y="1975104"/>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0.02</a:t>
            </a:r>
          </a:p>
        </p:txBody>
      </p:sp>
      <p:sp>
        <p:nvSpPr>
          <p:cNvPr id="14" name="Rectangle 13"/>
          <p:cNvSpPr/>
          <p:nvPr/>
        </p:nvSpPr>
        <p:spPr>
          <a:xfrm>
            <a:off x="4819943" y="1975104"/>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0.02</a:t>
            </a:r>
          </a:p>
        </p:txBody>
      </p:sp>
      <p:sp>
        <p:nvSpPr>
          <p:cNvPr id="15" name="Rectangle 14"/>
          <p:cNvSpPr/>
          <p:nvPr/>
        </p:nvSpPr>
        <p:spPr>
          <a:xfrm>
            <a:off x="5715314" y="1975104"/>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0.03</a:t>
            </a:r>
          </a:p>
        </p:txBody>
      </p:sp>
      <p:sp>
        <p:nvSpPr>
          <p:cNvPr id="16" name="Rectangle 15"/>
          <p:cNvSpPr/>
          <p:nvPr/>
        </p:nvSpPr>
        <p:spPr>
          <a:xfrm>
            <a:off x="6610686" y="1975104"/>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0.04</a:t>
            </a:r>
          </a:p>
        </p:txBody>
      </p:sp>
      <p:sp>
        <p:nvSpPr>
          <p:cNvPr id="17" name="Rectangle 16"/>
          <p:cNvSpPr/>
          <p:nvPr/>
        </p:nvSpPr>
        <p:spPr>
          <a:xfrm>
            <a:off x="7506057" y="1975104"/>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0.05</a:t>
            </a:r>
          </a:p>
        </p:txBody>
      </p:sp>
      <p:sp>
        <p:nvSpPr>
          <p:cNvPr id="18" name="Rectangle 17"/>
          <p:cNvSpPr/>
          <p:nvPr/>
        </p:nvSpPr>
        <p:spPr>
          <a:xfrm>
            <a:off x="8401429" y="1975104"/>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0.05</a:t>
            </a:r>
          </a:p>
        </p:txBody>
      </p:sp>
      <p:sp>
        <p:nvSpPr>
          <p:cNvPr id="19" name="Rectangle 18"/>
          <p:cNvSpPr/>
          <p:nvPr/>
        </p:nvSpPr>
        <p:spPr>
          <a:xfrm>
            <a:off x="9296801" y="1975104"/>
            <a:ext cx="2327966"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ほぼ鏡面。0 にはしない</a:t>
            </a:r>
          </a:p>
        </p:txBody>
      </p:sp>
      <p:sp>
        <p:nvSpPr>
          <p:cNvPr id="20" name="Rectangle 19"/>
          <p:cNvSpPr/>
          <p:nvPr/>
        </p:nvSpPr>
        <p:spPr>
          <a:xfrm>
            <a:off x="566928" y="2377440"/>
            <a:ext cx="3357643"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わずかな凹凸（目地・浅いリブ・見切り）</a:t>
            </a:r>
          </a:p>
        </p:txBody>
      </p:sp>
      <p:sp>
        <p:nvSpPr>
          <p:cNvPr id="21" name="Rectangle 20"/>
          <p:cNvSpPr/>
          <p:nvPr/>
        </p:nvSpPr>
        <p:spPr>
          <a:xfrm>
            <a:off x="3924571" y="2377440"/>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0.05</a:t>
            </a:r>
          </a:p>
        </p:txBody>
      </p:sp>
      <p:sp>
        <p:nvSpPr>
          <p:cNvPr id="22" name="Rectangle 21"/>
          <p:cNvSpPr/>
          <p:nvPr/>
        </p:nvSpPr>
        <p:spPr>
          <a:xfrm>
            <a:off x="4819943" y="2377440"/>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0.06</a:t>
            </a:r>
          </a:p>
        </p:txBody>
      </p:sp>
      <p:sp>
        <p:nvSpPr>
          <p:cNvPr id="23" name="Rectangle 22"/>
          <p:cNvSpPr/>
          <p:nvPr/>
        </p:nvSpPr>
        <p:spPr>
          <a:xfrm>
            <a:off x="5715314" y="2377440"/>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0.08</a:t>
            </a:r>
          </a:p>
        </p:txBody>
      </p:sp>
      <p:sp>
        <p:nvSpPr>
          <p:cNvPr id="24" name="Rectangle 23"/>
          <p:cNvSpPr/>
          <p:nvPr/>
        </p:nvSpPr>
        <p:spPr>
          <a:xfrm>
            <a:off x="6610686" y="2377440"/>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0.10</a:t>
            </a:r>
          </a:p>
        </p:txBody>
      </p:sp>
      <p:sp>
        <p:nvSpPr>
          <p:cNvPr id="25" name="Rectangle 24"/>
          <p:cNvSpPr/>
          <p:nvPr/>
        </p:nvSpPr>
        <p:spPr>
          <a:xfrm>
            <a:off x="7506057" y="2377440"/>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0.12</a:t>
            </a:r>
          </a:p>
        </p:txBody>
      </p:sp>
      <p:sp>
        <p:nvSpPr>
          <p:cNvPr id="26" name="Rectangle 25"/>
          <p:cNvSpPr/>
          <p:nvPr/>
        </p:nvSpPr>
        <p:spPr>
          <a:xfrm>
            <a:off x="8401429" y="2377440"/>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0.15</a:t>
            </a:r>
          </a:p>
        </p:txBody>
      </p:sp>
      <p:sp>
        <p:nvSpPr>
          <p:cNvPr id="27" name="Rectangle 26"/>
          <p:cNvSpPr/>
          <p:nvPr/>
        </p:nvSpPr>
        <p:spPr>
          <a:xfrm>
            <a:off x="9296801" y="2377440"/>
            <a:ext cx="2327966"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一般的な内装面</a:t>
            </a:r>
          </a:p>
        </p:txBody>
      </p:sp>
      <p:sp>
        <p:nvSpPr>
          <p:cNvPr id="28" name="Rectangle 27"/>
          <p:cNvSpPr/>
          <p:nvPr/>
        </p:nvSpPr>
        <p:spPr>
          <a:xfrm>
            <a:off x="566928" y="2779776"/>
            <a:ext cx="3357643"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粗い面（石積み・打放し・格天井）</a:t>
            </a:r>
          </a:p>
        </p:txBody>
      </p:sp>
      <p:sp>
        <p:nvSpPr>
          <p:cNvPr id="29" name="Rectangle 28"/>
          <p:cNvSpPr/>
          <p:nvPr/>
        </p:nvSpPr>
        <p:spPr>
          <a:xfrm>
            <a:off x="3924571" y="2779776"/>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0.10</a:t>
            </a:r>
          </a:p>
        </p:txBody>
      </p:sp>
      <p:sp>
        <p:nvSpPr>
          <p:cNvPr id="30" name="Rectangle 29"/>
          <p:cNvSpPr/>
          <p:nvPr/>
        </p:nvSpPr>
        <p:spPr>
          <a:xfrm>
            <a:off x="4819943" y="2779776"/>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0.15</a:t>
            </a:r>
          </a:p>
        </p:txBody>
      </p:sp>
      <p:sp>
        <p:nvSpPr>
          <p:cNvPr id="31" name="Rectangle 30"/>
          <p:cNvSpPr/>
          <p:nvPr/>
        </p:nvSpPr>
        <p:spPr>
          <a:xfrm>
            <a:off x="5715314" y="2779776"/>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0.20</a:t>
            </a:r>
          </a:p>
        </p:txBody>
      </p:sp>
      <p:sp>
        <p:nvSpPr>
          <p:cNvPr id="32" name="Rectangle 31"/>
          <p:cNvSpPr/>
          <p:nvPr/>
        </p:nvSpPr>
        <p:spPr>
          <a:xfrm>
            <a:off x="6610686" y="2779776"/>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0.30</a:t>
            </a:r>
          </a:p>
        </p:txBody>
      </p:sp>
      <p:sp>
        <p:nvSpPr>
          <p:cNvPr id="33" name="Rectangle 32"/>
          <p:cNvSpPr/>
          <p:nvPr/>
        </p:nvSpPr>
        <p:spPr>
          <a:xfrm>
            <a:off x="7506057" y="2779776"/>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0.40</a:t>
            </a:r>
          </a:p>
        </p:txBody>
      </p:sp>
      <p:sp>
        <p:nvSpPr>
          <p:cNvPr id="34" name="Rectangle 33"/>
          <p:cNvSpPr/>
          <p:nvPr/>
        </p:nvSpPr>
        <p:spPr>
          <a:xfrm>
            <a:off x="8401429" y="2779776"/>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0.45</a:t>
            </a:r>
          </a:p>
        </p:txBody>
      </p:sp>
      <p:sp>
        <p:nvSpPr>
          <p:cNvPr id="35" name="Rectangle 34"/>
          <p:cNvSpPr/>
          <p:nvPr/>
        </p:nvSpPr>
        <p:spPr>
          <a:xfrm>
            <a:off x="9296801" y="2779776"/>
            <a:ext cx="2327966"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深さ数 cm の凹凸</a:t>
            </a:r>
          </a:p>
        </p:txBody>
      </p:sp>
      <p:sp>
        <p:nvSpPr>
          <p:cNvPr id="36" name="Rectangle 35"/>
          <p:cNvSpPr/>
          <p:nvPr/>
        </p:nvSpPr>
        <p:spPr>
          <a:xfrm>
            <a:off x="566928" y="3182112"/>
            <a:ext cx="3357643"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棚・設備・什器が並ぶ面</a:t>
            </a:r>
          </a:p>
        </p:txBody>
      </p:sp>
      <p:sp>
        <p:nvSpPr>
          <p:cNvPr id="37" name="Rectangle 36"/>
          <p:cNvSpPr/>
          <p:nvPr/>
        </p:nvSpPr>
        <p:spPr>
          <a:xfrm>
            <a:off x="3924571" y="3182112"/>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0.20</a:t>
            </a:r>
          </a:p>
        </p:txBody>
      </p:sp>
      <p:sp>
        <p:nvSpPr>
          <p:cNvPr id="38" name="Rectangle 37"/>
          <p:cNvSpPr/>
          <p:nvPr/>
        </p:nvSpPr>
        <p:spPr>
          <a:xfrm>
            <a:off x="4819943" y="3182112"/>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0.30</a:t>
            </a:r>
          </a:p>
        </p:txBody>
      </p:sp>
      <p:sp>
        <p:nvSpPr>
          <p:cNvPr id="39" name="Rectangle 38"/>
          <p:cNvSpPr/>
          <p:nvPr/>
        </p:nvSpPr>
        <p:spPr>
          <a:xfrm>
            <a:off x="5715314" y="3182112"/>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0.40</a:t>
            </a:r>
          </a:p>
        </p:txBody>
      </p:sp>
      <p:sp>
        <p:nvSpPr>
          <p:cNvPr id="40" name="Rectangle 39"/>
          <p:cNvSpPr/>
          <p:nvPr/>
        </p:nvSpPr>
        <p:spPr>
          <a:xfrm>
            <a:off x="6610686" y="3182112"/>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0.50</a:t>
            </a:r>
          </a:p>
        </p:txBody>
      </p:sp>
      <p:sp>
        <p:nvSpPr>
          <p:cNvPr id="41" name="Rectangle 40"/>
          <p:cNvSpPr/>
          <p:nvPr/>
        </p:nvSpPr>
        <p:spPr>
          <a:xfrm>
            <a:off x="7506057" y="3182112"/>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0.60</a:t>
            </a:r>
          </a:p>
        </p:txBody>
      </p:sp>
      <p:sp>
        <p:nvSpPr>
          <p:cNvPr id="42" name="Rectangle 41"/>
          <p:cNvSpPr/>
          <p:nvPr/>
        </p:nvSpPr>
        <p:spPr>
          <a:xfrm>
            <a:off x="8401429" y="3182112"/>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0.60</a:t>
            </a:r>
          </a:p>
        </p:txBody>
      </p:sp>
      <p:sp>
        <p:nvSpPr>
          <p:cNvPr id="43" name="Rectangle 42"/>
          <p:cNvSpPr/>
          <p:nvPr/>
        </p:nvSpPr>
        <p:spPr>
          <a:xfrm>
            <a:off x="9296801" y="3182112"/>
            <a:ext cx="2327966"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作図しない場合の代用</a:t>
            </a:r>
          </a:p>
        </p:txBody>
      </p:sp>
      <p:sp>
        <p:nvSpPr>
          <p:cNvPr id="44" name="Rectangle 43"/>
          <p:cNvSpPr/>
          <p:nvPr/>
        </p:nvSpPr>
        <p:spPr>
          <a:xfrm>
            <a:off x="566928" y="3584448"/>
            <a:ext cx="3357643"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段床（段鼻が露出。作図していない場合）</a:t>
            </a:r>
          </a:p>
        </p:txBody>
      </p:sp>
      <p:sp>
        <p:nvSpPr>
          <p:cNvPr id="45" name="Rectangle 44"/>
          <p:cNvSpPr/>
          <p:nvPr/>
        </p:nvSpPr>
        <p:spPr>
          <a:xfrm>
            <a:off x="3924571" y="3584448"/>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0.30</a:t>
            </a:r>
          </a:p>
        </p:txBody>
      </p:sp>
      <p:sp>
        <p:nvSpPr>
          <p:cNvPr id="46" name="Rectangle 45"/>
          <p:cNvSpPr/>
          <p:nvPr/>
        </p:nvSpPr>
        <p:spPr>
          <a:xfrm>
            <a:off x="4819943" y="3584448"/>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0.40</a:t>
            </a:r>
          </a:p>
        </p:txBody>
      </p:sp>
      <p:sp>
        <p:nvSpPr>
          <p:cNvPr id="47" name="Rectangle 46"/>
          <p:cNvSpPr/>
          <p:nvPr/>
        </p:nvSpPr>
        <p:spPr>
          <a:xfrm>
            <a:off x="5715314" y="3584448"/>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0.50</a:t>
            </a:r>
          </a:p>
        </p:txBody>
      </p:sp>
      <p:sp>
        <p:nvSpPr>
          <p:cNvPr id="48" name="Rectangle 47"/>
          <p:cNvSpPr/>
          <p:nvPr/>
        </p:nvSpPr>
        <p:spPr>
          <a:xfrm>
            <a:off x="6610686" y="3584448"/>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0.60</a:t>
            </a:r>
          </a:p>
        </p:txBody>
      </p:sp>
      <p:sp>
        <p:nvSpPr>
          <p:cNvPr id="49" name="Rectangle 48"/>
          <p:cNvSpPr/>
          <p:nvPr/>
        </p:nvSpPr>
        <p:spPr>
          <a:xfrm>
            <a:off x="7506057" y="3584448"/>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0.70</a:t>
            </a:r>
          </a:p>
        </p:txBody>
      </p:sp>
      <p:sp>
        <p:nvSpPr>
          <p:cNvPr id="50" name="Rectangle 49"/>
          <p:cNvSpPr/>
          <p:nvPr/>
        </p:nvSpPr>
        <p:spPr>
          <a:xfrm>
            <a:off x="8401429" y="3584448"/>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0.70</a:t>
            </a:r>
          </a:p>
        </p:txBody>
      </p:sp>
      <p:sp>
        <p:nvSpPr>
          <p:cNvPr id="51" name="Rectangle 50"/>
          <p:cNvSpPr/>
          <p:nvPr/>
        </p:nvSpPr>
        <p:spPr>
          <a:xfrm>
            <a:off x="9296801" y="3584448"/>
            <a:ext cx="2327966"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作図済みなら 0.1 以下</a:t>
            </a:r>
          </a:p>
        </p:txBody>
      </p:sp>
      <p:sp>
        <p:nvSpPr>
          <p:cNvPr id="52" name="Rectangle 51"/>
          <p:cNvSpPr/>
          <p:nvPr/>
        </p:nvSpPr>
        <p:spPr>
          <a:xfrm>
            <a:off x="566928" y="3986784"/>
            <a:ext cx="3357643"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客席・椅子・人</a:t>
            </a:r>
          </a:p>
        </p:txBody>
      </p:sp>
      <p:sp>
        <p:nvSpPr>
          <p:cNvPr id="53" name="Rectangle 52"/>
          <p:cNvSpPr/>
          <p:nvPr/>
        </p:nvSpPr>
        <p:spPr>
          <a:xfrm>
            <a:off x="3924571" y="3986784"/>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0.50</a:t>
            </a:r>
          </a:p>
        </p:txBody>
      </p:sp>
      <p:sp>
        <p:nvSpPr>
          <p:cNvPr id="54" name="Rectangle 53"/>
          <p:cNvSpPr/>
          <p:nvPr/>
        </p:nvSpPr>
        <p:spPr>
          <a:xfrm>
            <a:off x="4819943" y="3986784"/>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0.60</a:t>
            </a:r>
          </a:p>
        </p:txBody>
      </p:sp>
      <p:sp>
        <p:nvSpPr>
          <p:cNvPr id="55" name="Rectangle 54"/>
          <p:cNvSpPr/>
          <p:nvPr/>
        </p:nvSpPr>
        <p:spPr>
          <a:xfrm>
            <a:off x="5715314" y="3986784"/>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0.60</a:t>
            </a:r>
          </a:p>
        </p:txBody>
      </p:sp>
      <p:sp>
        <p:nvSpPr>
          <p:cNvPr id="56" name="Rectangle 55"/>
          <p:cNvSpPr/>
          <p:nvPr/>
        </p:nvSpPr>
        <p:spPr>
          <a:xfrm>
            <a:off x="6610686" y="3986784"/>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0.70</a:t>
            </a:r>
          </a:p>
        </p:txBody>
      </p:sp>
      <p:sp>
        <p:nvSpPr>
          <p:cNvPr id="57" name="Rectangle 56"/>
          <p:cNvSpPr/>
          <p:nvPr/>
        </p:nvSpPr>
        <p:spPr>
          <a:xfrm>
            <a:off x="7506057" y="3986784"/>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0.70</a:t>
            </a:r>
          </a:p>
        </p:txBody>
      </p:sp>
      <p:sp>
        <p:nvSpPr>
          <p:cNvPr id="58" name="Rectangle 57"/>
          <p:cNvSpPr/>
          <p:nvPr/>
        </p:nvSpPr>
        <p:spPr>
          <a:xfrm>
            <a:off x="8401429" y="3986784"/>
            <a:ext cx="89537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0.70</a:t>
            </a:r>
          </a:p>
        </p:txBody>
      </p:sp>
      <p:sp>
        <p:nvSpPr>
          <p:cNvPr id="59" name="Rectangle 58"/>
          <p:cNvSpPr/>
          <p:nvPr/>
        </p:nvSpPr>
        <p:spPr>
          <a:xfrm>
            <a:off x="9296801" y="3986784"/>
            <a:ext cx="2327966"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市販ソフトの既定も 0.6〜0.7</a:t>
            </a:r>
          </a:p>
        </p:txBody>
      </p:sp>
      <p:sp>
        <p:nvSpPr>
          <p:cNvPr id="60" name="Rectangle 59"/>
          <p:cNvSpPr/>
          <p:nvPr/>
        </p:nvSpPr>
        <p:spPr>
          <a:xfrm>
            <a:off x="566928" y="4389120"/>
            <a:ext cx="3357643"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00" b="0">
                <a:solidFill>
                  <a:srgbClr val="22262B"/>
                </a:solidFill>
                <a:latin typeface="Meiryo"/>
              </a:rPr>
              <a:t>拡散体（QRD など）</a:t>
            </a:r>
          </a:p>
        </p:txBody>
      </p:sp>
      <p:sp>
        <p:nvSpPr>
          <p:cNvPr id="61" name="Rectangle 60"/>
          <p:cNvSpPr/>
          <p:nvPr/>
        </p:nvSpPr>
        <p:spPr>
          <a:xfrm>
            <a:off x="3924571" y="4389120"/>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0.40</a:t>
            </a:r>
          </a:p>
        </p:txBody>
      </p:sp>
      <p:sp>
        <p:nvSpPr>
          <p:cNvPr id="62" name="Rectangle 61"/>
          <p:cNvSpPr/>
          <p:nvPr/>
        </p:nvSpPr>
        <p:spPr>
          <a:xfrm>
            <a:off x="4819943" y="4389120"/>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0.60</a:t>
            </a:r>
          </a:p>
        </p:txBody>
      </p:sp>
      <p:sp>
        <p:nvSpPr>
          <p:cNvPr id="63" name="Rectangle 62"/>
          <p:cNvSpPr/>
          <p:nvPr/>
        </p:nvSpPr>
        <p:spPr>
          <a:xfrm>
            <a:off x="5715314" y="4389120"/>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0.80</a:t>
            </a:r>
          </a:p>
        </p:txBody>
      </p:sp>
      <p:sp>
        <p:nvSpPr>
          <p:cNvPr id="64" name="Rectangle 63"/>
          <p:cNvSpPr/>
          <p:nvPr/>
        </p:nvSpPr>
        <p:spPr>
          <a:xfrm>
            <a:off x="6610686" y="4389120"/>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0.90</a:t>
            </a:r>
          </a:p>
        </p:txBody>
      </p:sp>
      <p:sp>
        <p:nvSpPr>
          <p:cNvPr id="65" name="Rectangle 64"/>
          <p:cNvSpPr/>
          <p:nvPr/>
        </p:nvSpPr>
        <p:spPr>
          <a:xfrm>
            <a:off x="7506057" y="4389120"/>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0.90</a:t>
            </a:r>
          </a:p>
        </p:txBody>
      </p:sp>
      <p:sp>
        <p:nvSpPr>
          <p:cNvPr id="66" name="Rectangle 65"/>
          <p:cNvSpPr/>
          <p:nvPr/>
        </p:nvSpPr>
        <p:spPr>
          <a:xfrm>
            <a:off x="8401429" y="4389120"/>
            <a:ext cx="89537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0.90</a:t>
            </a:r>
          </a:p>
        </p:txBody>
      </p:sp>
      <p:sp>
        <p:nvSpPr>
          <p:cNvPr id="67" name="Rectangle 66"/>
          <p:cNvSpPr/>
          <p:nvPr/>
        </p:nvSpPr>
        <p:spPr>
          <a:xfrm>
            <a:off x="9296801" y="4389120"/>
            <a:ext cx="2327966"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00" b="0">
                <a:solidFill>
                  <a:srgbClr val="22262B"/>
                </a:solidFill>
                <a:latin typeface="Meiryo"/>
              </a:rPr>
              <a:t>製品資料があればそちらを優先</a:t>
            </a:r>
          </a:p>
        </p:txBody>
      </p:sp>
      <p:sp>
        <p:nvSpPr>
          <p:cNvPr id="68" name="TextBox 67"/>
          <p:cNvSpPr txBox="1"/>
          <p:nvPr/>
        </p:nvSpPr>
        <p:spPr>
          <a:xfrm>
            <a:off x="566928" y="4974336"/>
            <a:ext cx="11057839" cy="1325880"/>
          </a:xfrm>
          <a:prstGeom prst="rect">
            <a:avLst/>
          </a:prstGeom>
          <a:noFill/>
        </p:spPr>
        <p:txBody>
          <a:bodyPr wrap="square" lIns="0" rIns="0" tIns="0" bIns="0" anchor="t">
            <a:spAutoFit/>
          </a:bodyPr>
          <a:lstStyle/>
          <a:p>
            <a:pPr algn="l">
              <a:lnSpc>
                <a:spcPct val="115000"/>
              </a:lnSpc>
              <a:spcAft>
                <a:spcPts val="300"/>
              </a:spcAft>
            </a:pPr>
            <a:r>
              <a:rPr sz="1250" b="1">
                <a:solidFill>
                  <a:srgbClr val="1B254B"/>
                </a:solidFill>
                <a:latin typeface="Meiryo"/>
              </a:rPr>
              <a:t>使うときの注意</a:t>
            </a:r>
          </a:p>
          <a:p>
            <a:pPr algn="l">
              <a:lnSpc>
                <a:spcPct val="132000"/>
              </a:lnSpc>
              <a:spcAft>
                <a:spcPts val="300"/>
              </a:spcAft>
            </a:pPr>
            <a:r>
              <a:rPr sz="1150" b="0">
                <a:solidFill>
                  <a:srgbClr val="22262B"/>
                </a:solidFill>
                <a:latin typeface="Meiryo"/>
              </a:rPr>
              <a:t>・高い周波数ほど大きい、という傾きだけは必ず持たせる（定数で置かない）</a:t>
            </a:r>
          </a:p>
          <a:p>
            <a:pPr algn="l">
              <a:lnSpc>
                <a:spcPct val="132000"/>
              </a:lnSpc>
              <a:spcAft>
                <a:spcPts val="300"/>
              </a:spcAft>
            </a:pPr>
            <a:r>
              <a:rPr sz="1150" b="0">
                <a:solidFill>
                  <a:srgbClr val="22262B"/>
                </a:solidFill>
                <a:latin typeface="Meiryo"/>
              </a:rPr>
              <a:t>・吸音率と違い、s は測定データが手に入らないことが多い。「材料の種類 → 目安 → 校正」で運用するのが前提</a:t>
            </a:r>
          </a:p>
          <a:p>
            <a:pPr algn="l">
              <a:lnSpc>
                <a:spcPct val="132000"/>
              </a:lnSpc>
              <a:spcAft>
                <a:spcPts val="300"/>
              </a:spcAft>
            </a:pPr>
            <a:r>
              <a:rPr sz="1150" b="0">
                <a:solidFill>
                  <a:srgbClr val="22262B"/>
                </a:solidFill>
                <a:latin typeface="Meiryo"/>
              </a:rPr>
              <a:t>・s を 0.1 変えると後期残響は動くが、初期反射（EDT・C50・STI）はあまり動かない。校正は T20 / T30 と曲率を見て行う</a:t>
            </a:r>
          </a:p>
        </p:txBody>
      </p:sp>
      <p:sp>
        <p:nvSpPr>
          <p:cNvPr id="69" name="TextBox 68"/>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階段教室に当てはめると</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いまのモデルは形がよく作り込まれているので、与えるべき s は小さめになる</a:t>
            </a:r>
          </a:p>
        </p:txBody>
      </p:sp>
      <p:sp>
        <p:nvSpPr>
          <p:cNvPr id="4" name="Rectangle 3"/>
          <p:cNvSpPr/>
          <p:nvPr/>
        </p:nvSpPr>
        <p:spPr>
          <a:xfrm>
            <a:off x="566928" y="1572768"/>
            <a:ext cx="3244242"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レイヤ（面）</a:t>
            </a:r>
          </a:p>
        </p:txBody>
      </p:sp>
      <p:sp>
        <p:nvSpPr>
          <p:cNvPr id="5" name="Rectangle 4"/>
          <p:cNvSpPr/>
          <p:nvPr/>
        </p:nvSpPr>
        <p:spPr>
          <a:xfrm>
            <a:off x="3811170" y="1572768"/>
            <a:ext cx="1690661"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作図の状態</a:t>
            </a:r>
          </a:p>
        </p:txBody>
      </p:sp>
      <p:sp>
        <p:nvSpPr>
          <p:cNvPr id="6" name="Rectangle 5"/>
          <p:cNvSpPr/>
          <p:nvPr/>
        </p:nvSpPr>
        <p:spPr>
          <a:xfrm>
            <a:off x="5501831" y="1572768"/>
            <a:ext cx="1827742"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与える s（1 kHz）</a:t>
            </a:r>
          </a:p>
        </p:txBody>
      </p:sp>
      <p:sp>
        <p:nvSpPr>
          <p:cNvPr id="7" name="Rectangle 6"/>
          <p:cNvSpPr/>
          <p:nvPr/>
        </p:nvSpPr>
        <p:spPr>
          <a:xfrm>
            <a:off x="7329573" y="1572768"/>
            <a:ext cx="4295193" cy="402336"/>
          </a:xfrm>
          <a:prstGeom prst="rect">
            <a:avLst/>
          </a:prstGeom>
          <a:solidFill>
            <a:srgbClr val="065A82"/>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1">
                <a:solidFill>
                  <a:srgbClr val="FFFFFF"/>
                </a:solidFill>
                <a:latin typeface="Meiryo"/>
              </a:rPr>
              <a:t>考え方</a:t>
            </a:r>
          </a:p>
        </p:txBody>
      </p:sp>
      <p:sp>
        <p:nvSpPr>
          <p:cNvPr id="8" name="Rectangle 7"/>
          <p:cNvSpPr/>
          <p:nvPr/>
        </p:nvSpPr>
        <p:spPr>
          <a:xfrm>
            <a:off x="566928" y="1975104"/>
            <a:ext cx="3244242"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反射板（7 枚・ピッチ 2.0 m・傾き 14°）</a:t>
            </a:r>
          </a:p>
        </p:txBody>
      </p:sp>
      <p:sp>
        <p:nvSpPr>
          <p:cNvPr id="9" name="Rectangle 8"/>
          <p:cNvSpPr/>
          <p:nvPr/>
        </p:nvSpPr>
        <p:spPr>
          <a:xfrm>
            <a:off x="3811170" y="1975104"/>
            <a:ext cx="169066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形で表現済み</a:t>
            </a:r>
          </a:p>
        </p:txBody>
      </p:sp>
      <p:sp>
        <p:nvSpPr>
          <p:cNvPr id="10" name="Rectangle 9"/>
          <p:cNvSpPr/>
          <p:nvPr/>
        </p:nvSpPr>
        <p:spPr>
          <a:xfrm>
            <a:off x="5501831" y="1975104"/>
            <a:ext cx="1827742"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0.05〜0.10</a:t>
            </a:r>
          </a:p>
        </p:txBody>
      </p:sp>
      <p:sp>
        <p:nvSpPr>
          <p:cNvPr id="11" name="Rectangle 10"/>
          <p:cNvSpPr/>
          <p:nvPr/>
        </p:nvSpPr>
        <p:spPr>
          <a:xfrm>
            <a:off x="7329573" y="1975104"/>
            <a:ext cx="4295193"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ルーバーの効果は幾何で出る。粗さぶんだけ</a:t>
            </a:r>
          </a:p>
        </p:txBody>
      </p:sp>
      <p:sp>
        <p:nvSpPr>
          <p:cNvPr id="12" name="Rectangle 11"/>
          <p:cNvSpPr/>
          <p:nvPr/>
        </p:nvSpPr>
        <p:spPr>
          <a:xfrm>
            <a:off x="566928" y="2377440"/>
            <a:ext cx="3244242"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床_段床</a:t>
            </a:r>
          </a:p>
        </p:txBody>
      </p:sp>
      <p:sp>
        <p:nvSpPr>
          <p:cNvPr id="13" name="Rectangle 12"/>
          <p:cNvSpPr/>
          <p:nvPr/>
        </p:nvSpPr>
        <p:spPr>
          <a:xfrm>
            <a:off x="3811170" y="2377440"/>
            <a:ext cx="169066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段で表現済み</a:t>
            </a:r>
          </a:p>
        </p:txBody>
      </p:sp>
      <p:sp>
        <p:nvSpPr>
          <p:cNvPr id="14" name="Rectangle 13"/>
          <p:cNvSpPr/>
          <p:nvPr/>
        </p:nvSpPr>
        <p:spPr>
          <a:xfrm>
            <a:off x="5501831" y="2377440"/>
            <a:ext cx="1827742"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0.05〜0.10</a:t>
            </a:r>
          </a:p>
        </p:txBody>
      </p:sp>
      <p:sp>
        <p:nvSpPr>
          <p:cNvPr id="15" name="Rectangle 14"/>
          <p:cNvSpPr/>
          <p:nvPr/>
        </p:nvSpPr>
        <p:spPr>
          <a:xfrm>
            <a:off x="7329573" y="2377440"/>
            <a:ext cx="4295193"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同上。作図していなければ 0.6</a:t>
            </a:r>
          </a:p>
        </p:txBody>
      </p:sp>
      <p:sp>
        <p:nvSpPr>
          <p:cNvPr id="16" name="Rectangle 15"/>
          <p:cNvSpPr/>
          <p:nvPr/>
        </p:nvSpPr>
        <p:spPr>
          <a:xfrm>
            <a:off x="566928" y="2779776"/>
            <a:ext cx="3244242"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GW（反射板上のプレナム）</a:t>
            </a:r>
          </a:p>
        </p:txBody>
      </p:sp>
      <p:sp>
        <p:nvSpPr>
          <p:cNvPr id="17" name="Rectangle 16"/>
          <p:cNvSpPr/>
          <p:nvPr/>
        </p:nvSpPr>
        <p:spPr>
          <a:xfrm>
            <a:off x="3811170" y="2779776"/>
            <a:ext cx="169066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平面</a:t>
            </a:r>
          </a:p>
        </p:txBody>
      </p:sp>
      <p:sp>
        <p:nvSpPr>
          <p:cNvPr id="18" name="Rectangle 17"/>
          <p:cNvSpPr/>
          <p:nvPr/>
        </p:nvSpPr>
        <p:spPr>
          <a:xfrm>
            <a:off x="5501831" y="2779776"/>
            <a:ext cx="1827742"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0.10〜0.30</a:t>
            </a:r>
          </a:p>
        </p:txBody>
      </p:sp>
      <p:sp>
        <p:nvSpPr>
          <p:cNvPr id="19" name="Rectangle 18"/>
          <p:cNvSpPr/>
          <p:nvPr/>
        </p:nvSpPr>
        <p:spPr>
          <a:xfrm>
            <a:off x="7329573" y="2779776"/>
            <a:ext cx="4295193"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繊維面。ただしほぼ吸われるので効きは小さい</a:t>
            </a:r>
          </a:p>
        </p:txBody>
      </p:sp>
      <p:sp>
        <p:nvSpPr>
          <p:cNvPr id="20" name="Rectangle 19"/>
          <p:cNvSpPr/>
          <p:nvPr/>
        </p:nvSpPr>
        <p:spPr>
          <a:xfrm>
            <a:off x="566928" y="3182112"/>
            <a:ext cx="3244242"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天井ボード・ボード</a:t>
            </a:r>
          </a:p>
        </p:txBody>
      </p:sp>
      <p:sp>
        <p:nvSpPr>
          <p:cNvPr id="21" name="Rectangle 20"/>
          <p:cNvSpPr/>
          <p:nvPr/>
        </p:nvSpPr>
        <p:spPr>
          <a:xfrm>
            <a:off x="3811170" y="3182112"/>
            <a:ext cx="169066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平面</a:t>
            </a:r>
          </a:p>
        </p:txBody>
      </p:sp>
      <p:sp>
        <p:nvSpPr>
          <p:cNvPr id="22" name="Rectangle 21"/>
          <p:cNvSpPr/>
          <p:nvPr/>
        </p:nvSpPr>
        <p:spPr>
          <a:xfrm>
            <a:off x="5501831" y="3182112"/>
            <a:ext cx="1827742"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0.05〜0.10</a:t>
            </a:r>
          </a:p>
        </p:txBody>
      </p:sp>
      <p:sp>
        <p:nvSpPr>
          <p:cNvPr id="23" name="Rectangle 22"/>
          <p:cNvSpPr/>
          <p:nvPr/>
        </p:nvSpPr>
        <p:spPr>
          <a:xfrm>
            <a:off x="7329573" y="3182112"/>
            <a:ext cx="4295193"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一般的な内装面</a:t>
            </a:r>
          </a:p>
        </p:txBody>
      </p:sp>
      <p:sp>
        <p:nvSpPr>
          <p:cNvPr id="24" name="Rectangle 23"/>
          <p:cNvSpPr/>
          <p:nvPr/>
        </p:nvSpPr>
        <p:spPr>
          <a:xfrm>
            <a:off x="566928" y="3584448"/>
            <a:ext cx="3244242"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ガラス・ガラス_食堂</a:t>
            </a:r>
          </a:p>
        </p:txBody>
      </p:sp>
      <p:sp>
        <p:nvSpPr>
          <p:cNvPr id="25" name="Rectangle 24"/>
          <p:cNvSpPr/>
          <p:nvPr/>
        </p:nvSpPr>
        <p:spPr>
          <a:xfrm>
            <a:off x="3811170" y="3584448"/>
            <a:ext cx="1690661"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平面</a:t>
            </a:r>
          </a:p>
        </p:txBody>
      </p:sp>
      <p:sp>
        <p:nvSpPr>
          <p:cNvPr id="26" name="Rectangle 25"/>
          <p:cNvSpPr/>
          <p:nvPr/>
        </p:nvSpPr>
        <p:spPr>
          <a:xfrm>
            <a:off x="5501831" y="3584448"/>
            <a:ext cx="1827742"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0.02〜0.05</a:t>
            </a:r>
          </a:p>
        </p:txBody>
      </p:sp>
      <p:sp>
        <p:nvSpPr>
          <p:cNvPr id="27" name="Rectangle 26"/>
          <p:cNvSpPr/>
          <p:nvPr/>
        </p:nvSpPr>
        <p:spPr>
          <a:xfrm>
            <a:off x="7329573" y="3584448"/>
            <a:ext cx="4295193" cy="402336"/>
          </a:xfrm>
          <a:prstGeom prst="rect">
            <a:avLst/>
          </a:prstGeom>
          <a:solidFill>
            <a:srgbClr val="FFFFFF"/>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平滑。0 にはしない</a:t>
            </a:r>
          </a:p>
        </p:txBody>
      </p:sp>
      <p:sp>
        <p:nvSpPr>
          <p:cNvPr id="28" name="Rectangle 27"/>
          <p:cNvSpPr/>
          <p:nvPr/>
        </p:nvSpPr>
        <p:spPr>
          <a:xfrm>
            <a:off x="566928" y="3986784"/>
            <a:ext cx="3244242"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l">
              <a:lnSpc>
                <a:spcPct val="100000"/>
              </a:lnSpc>
            </a:pPr>
            <a:r>
              <a:rPr sz="1050" b="0">
                <a:solidFill>
                  <a:srgbClr val="22262B"/>
                </a:solidFill>
                <a:latin typeface="Meiryo"/>
              </a:rPr>
              <a:t>客席（人・椅子）</a:t>
            </a:r>
          </a:p>
        </p:txBody>
      </p:sp>
      <p:sp>
        <p:nvSpPr>
          <p:cNvPr id="29" name="Rectangle 28"/>
          <p:cNvSpPr/>
          <p:nvPr/>
        </p:nvSpPr>
        <p:spPr>
          <a:xfrm>
            <a:off x="3811170" y="3986784"/>
            <a:ext cx="1690661"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未作図</a:t>
            </a:r>
          </a:p>
        </p:txBody>
      </p:sp>
      <p:sp>
        <p:nvSpPr>
          <p:cNvPr id="30" name="Rectangle 29"/>
          <p:cNvSpPr/>
          <p:nvPr/>
        </p:nvSpPr>
        <p:spPr>
          <a:xfrm>
            <a:off x="5501831" y="3986784"/>
            <a:ext cx="1827742"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0.60〜0.70</a:t>
            </a:r>
          </a:p>
        </p:txBody>
      </p:sp>
      <p:sp>
        <p:nvSpPr>
          <p:cNvPr id="31" name="Rectangle 30"/>
          <p:cNvSpPr/>
          <p:nvPr/>
        </p:nvSpPr>
        <p:spPr>
          <a:xfrm>
            <a:off x="7329573" y="3986784"/>
            <a:ext cx="4295193" cy="402336"/>
          </a:xfrm>
          <a:prstGeom prst="rect">
            <a:avLst/>
          </a:prstGeom>
          <a:solidFill>
            <a:srgbClr val="F2F5F8"/>
          </a:solidFill>
          <a:ln w="9525">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0" bIns="0"/>
          <a:lstStyle/>
          <a:p>
            <a:pPr algn="ctr">
              <a:lnSpc>
                <a:spcPct val="100000"/>
              </a:lnSpc>
            </a:pPr>
            <a:r>
              <a:rPr sz="1050" b="0">
                <a:solidFill>
                  <a:srgbClr val="22262B"/>
                </a:solidFill>
                <a:latin typeface="Meiryo"/>
              </a:rPr>
              <a:t>★満席条件を入れるならここが効く</a:t>
            </a:r>
          </a:p>
        </p:txBody>
      </p:sp>
      <p:sp>
        <p:nvSpPr>
          <p:cNvPr id="32" name="Rounded Rectangle 31"/>
          <p:cNvSpPr/>
          <p:nvPr/>
        </p:nvSpPr>
        <p:spPr>
          <a:xfrm>
            <a:off x="566928" y="4700016"/>
            <a:ext cx="11057839" cy="1463040"/>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41247" y="4864608"/>
            <a:ext cx="10509199" cy="1188720"/>
          </a:xfrm>
          <a:prstGeom prst="rect">
            <a:avLst/>
          </a:prstGeom>
          <a:noFill/>
        </p:spPr>
        <p:txBody>
          <a:bodyPr wrap="square" lIns="0" rIns="0" tIns="0" bIns="0" anchor="t">
            <a:spAutoFit/>
          </a:bodyPr>
          <a:lstStyle/>
          <a:p>
            <a:pPr algn="l">
              <a:lnSpc>
                <a:spcPct val="115000"/>
              </a:lnSpc>
              <a:spcAft>
                <a:spcPts val="400"/>
              </a:spcAft>
            </a:pPr>
            <a:r>
              <a:rPr sz="1400" b="1">
                <a:solidFill>
                  <a:srgbClr val="1B254B"/>
                </a:solidFill>
                <a:latin typeface="Meiryo"/>
              </a:rPr>
              <a:t>いちばん効くのは「のど」— 反射板の隙間</a:t>
            </a:r>
          </a:p>
          <a:p>
            <a:pPr algn="l">
              <a:lnSpc>
                <a:spcPct val="130000"/>
              </a:lnSpc>
              <a:spcAft>
                <a:spcPts val="400"/>
              </a:spcAft>
            </a:pPr>
            <a:r>
              <a:rPr sz="1150" b="0">
                <a:solidFill>
                  <a:srgbClr val="22262B"/>
                </a:solidFill>
                <a:latin typeface="Meiryo"/>
              </a:rPr>
              <a:t>500 Hz で吸音の 71 % がプレナムの中にある。客席側とプレナムが反射板の隙間だけでつながった結合空間になっており、残響を決めているのは吸音力ではなく隙間の通りやすさ。散乱を入れると、この出入りの量が変わる。★つまり階段教室では s の効き方が他の室より大きい。校正は必ずこの室で行うべき。</a:t>
            </a:r>
          </a:p>
        </p:txBody>
      </p:sp>
      <p:sp>
        <p:nvSpPr>
          <p:cNvPr id="34" name="TextBox 33"/>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1B254B"/>
                </a:solidFill>
                <a:latin typeface="Meiryo"/>
              </a:rPr>
              <a:t>入れたあと、何をもって「正しい」とするか</a:t>
            </a:r>
          </a:p>
        </p:txBody>
      </p:sp>
      <p:sp>
        <p:nvSpPr>
          <p:cNvPr id="3" name="TextBox 2"/>
          <p:cNvSpPr txBox="1"/>
          <p:nvPr/>
        </p:nvSpPr>
        <p:spPr>
          <a:xfrm>
            <a:off x="566928" y="1060704"/>
            <a:ext cx="11057839" cy="310896"/>
          </a:xfrm>
          <a:prstGeom prst="rect">
            <a:avLst/>
          </a:prstGeom>
          <a:noFill/>
        </p:spPr>
        <p:txBody>
          <a:bodyPr wrap="square" lIns="0" rIns="0" tIns="0" bIns="0" anchor="t">
            <a:spAutoFit/>
          </a:bodyPr>
          <a:lstStyle/>
          <a:p>
            <a:pPr algn="l">
              <a:lnSpc>
                <a:spcPct val="115000"/>
              </a:lnSpc>
              <a:spcAft>
                <a:spcPts val="0"/>
              </a:spcAft>
            </a:pPr>
            <a:r>
              <a:rPr sz="1250" b="0">
                <a:solidFill>
                  <a:srgbClr val="606A76"/>
                </a:solidFill>
                <a:latin typeface="Meiryo"/>
              </a:rPr>
              <a:t>散乱は当て込みができてしまうので、判定の基準を先に決めておく</a:t>
            </a:r>
          </a:p>
        </p:txBody>
      </p:sp>
      <p:sp>
        <p:nvSpPr>
          <p:cNvPr id="4" name="Rounded Rectangle 3"/>
          <p:cNvSpPr/>
          <p:nvPr/>
        </p:nvSpPr>
        <p:spPr>
          <a:xfrm>
            <a:off x="566928" y="1600200"/>
            <a:ext cx="11057839" cy="804672"/>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41247" y="1865376"/>
            <a:ext cx="274320" cy="274320"/>
          </a:xfrm>
          <a:prstGeom prst="ellipse">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746504"/>
            <a:ext cx="3657600" cy="274320"/>
          </a:xfrm>
          <a:prstGeom prst="rect">
            <a:avLst/>
          </a:prstGeom>
          <a:noFill/>
        </p:spPr>
        <p:txBody>
          <a:bodyPr wrap="square" lIns="0" rIns="0" tIns="0" bIns="0" anchor="t">
            <a:spAutoFit/>
          </a:bodyPr>
          <a:lstStyle/>
          <a:p>
            <a:pPr algn="l">
              <a:lnSpc>
                <a:spcPct val="115000"/>
              </a:lnSpc>
              <a:spcAft>
                <a:spcPts val="0"/>
              </a:spcAft>
            </a:pPr>
            <a:r>
              <a:rPr sz="1250" b="1">
                <a:solidFill>
                  <a:srgbClr val="1B254B"/>
                </a:solidFill>
                <a:latin typeface="Meiryo"/>
              </a:rPr>
              <a:t>曲率 C が小さくなること</a:t>
            </a:r>
          </a:p>
        </p:txBody>
      </p:sp>
      <p:sp>
        <p:nvSpPr>
          <p:cNvPr id="7" name="TextBox 6"/>
          <p:cNvSpPr txBox="1"/>
          <p:nvPr/>
        </p:nvSpPr>
        <p:spPr>
          <a:xfrm>
            <a:off x="4572000" y="1764792"/>
            <a:ext cx="6949440" cy="530352"/>
          </a:xfrm>
          <a:prstGeom prst="rect">
            <a:avLst/>
          </a:prstGeom>
          <a:noFill/>
        </p:spPr>
        <p:txBody>
          <a:bodyPr wrap="square" lIns="0" rIns="0" tIns="0" bIns="0" anchor="t">
            <a:spAutoFit/>
          </a:bodyPr>
          <a:lstStyle/>
          <a:p>
            <a:pPr algn="l">
              <a:lnSpc>
                <a:spcPct val="120000"/>
              </a:lnSpc>
              <a:spcAft>
                <a:spcPts val="0"/>
              </a:spcAft>
            </a:pPr>
            <a:r>
              <a:rPr sz="1100" b="0">
                <a:solidFill>
                  <a:srgbClr val="22262B"/>
                </a:solidFill>
                <a:latin typeface="Meiryo"/>
              </a:rPr>
              <a:t>いま 125〜4 kHz で 10 % 超。散乱が効けば数 % に収まるはず</a:t>
            </a:r>
          </a:p>
        </p:txBody>
      </p:sp>
      <p:sp>
        <p:nvSpPr>
          <p:cNvPr id="8" name="Rounded Rectangle 7"/>
          <p:cNvSpPr/>
          <p:nvPr/>
        </p:nvSpPr>
        <p:spPr>
          <a:xfrm>
            <a:off x="566928" y="2487168"/>
            <a:ext cx="11057839" cy="804672"/>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41247" y="2752344"/>
            <a:ext cx="274320" cy="274320"/>
          </a:xfrm>
          <a:prstGeom prst="ellipse">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2633472"/>
            <a:ext cx="3657600" cy="274320"/>
          </a:xfrm>
          <a:prstGeom prst="rect">
            <a:avLst/>
          </a:prstGeom>
          <a:noFill/>
        </p:spPr>
        <p:txBody>
          <a:bodyPr wrap="square" lIns="0" rIns="0" tIns="0" bIns="0" anchor="t">
            <a:spAutoFit/>
          </a:bodyPr>
          <a:lstStyle/>
          <a:p>
            <a:pPr algn="l">
              <a:lnSpc>
                <a:spcPct val="115000"/>
              </a:lnSpc>
              <a:spcAft>
                <a:spcPts val="0"/>
              </a:spcAft>
            </a:pPr>
            <a:r>
              <a:rPr sz="1250" b="1">
                <a:solidFill>
                  <a:srgbClr val="1B254B"/>
                </a:solidFill>
                <a:latin typeface="Meiryo"/>
              </a:rPr>
              <a:t>非線形性 ξ が 10 以下に入ること</a:t>
            </a:r>
          </a:p>
        </p:txBody>
      </p:sp>
      <p:sp>
        <p:nvSpPr>
          <p:cNvPr id="11" name="TextBox 10"/>
          <p:cNvSpPr txBox="1"/>
          <p:nvPr/>
        </p:nvSpPr>
        <p:spPr>
          <a:xfrm>
            <a:off x="4572000" y="2651760"/>
            <a:ext cx="6949440" cy="530352"/>
          </a:xfrm>
          <a:prstGeom prst="rect">
            <a:avLst/>
          </a:prstGeom>
          <a:noFill/>
        </p:spPr>
        <p:txBody>
          <a:bodyPr wrap="square" lIns="0" rIns="0" tIns="0" bIns="0" anchor="t">
            <a:spAutoFit/>
          </a:bodyPr>
          <a:lstStyle/>
          <a:p>
            <a:pPr algn="l">
              <a:lnSpc>
                <a:spcPct val="120000"/>
              </a:lnSpc>
              <a:spcAft>
                <a:spcPts val="0"/>
              </a:spcAft>
            </a:pPr>
            <a:r>
              <a:rPr sz="1100" b="0">
                <a:solidFill>
                  <a:srgbClr val="22262B"/>
                </a:solidFill>
                <a:latin typeface="Meiryo"/>
              </a:rPr>
              <a:t>ISO 3382-2 の目安。いま 10〜25。読んでよい帯域かどうかの判定にそのまま使える</a:t>
            </a:r>
          </a:p>
        </p:txBody>
      </p:sp>
      <p:sp>
        <p:nvSpPr>
          <p:cNvPr id="12" name="Rounded Rectangle 11"/>
          <p:cNvSpPr/>
          <p:nvPr/>
        </p:nvSpPr>
        <p:spPr>
          <a:xfrm>
            <a:off x="566928" y="3374135"/>
            <a:ext cx="11057839" cy="804672"/>
          </a:xfrm>
          <a:prstGeom prst="roundRect">
            <a:avLst>
              <a:gd name="adj" fmla="val 4000"/>
            </a:avLst>
          </a:prstGeom>
          <a:solidFill>
            <a:srgbClr val="F2F5F8"/>
          </a:solidFill>
          <a:ln w="12700">
            <a:solidFill>
              <a:srgbClr val="D8E0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41247" y="3639311"/>
            <a:ext cx="274320" cy="274320"/>
          </a:xfrm>
          <a:prstGeom prst="ellipse">
            <a:avLst/>
          </a:prstGeom>
          <a:solidFill>
            <a:srgbClr val="2C6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3520439"/>
            <a:ext cx="3657600" cy="274320"/>
          </a:xfrm>
          <a:prstGeom prst="rect">
            <a:avLst/>
          </a:prstGeom>
          <a:noFill/>
        </p:spPr>
        <p:txBody>
          <a:bodyPr wrap="square" lIns="0" rIns="0" tIns="0" bIns="0" anchor="t">
            <a:spAutoFit/>
          </a:bodyPr>
          <a:lstStyle/>
          <a:p>
            <a:pPr algn="l">
              <a:lnSpc>
                <a:spcPct val="115000"/>
              </a:lnSpc>
              <a:spcAft>
                <a:spcPts val="0"/>
              </a:spcAft>
            </a:pPr>
            <a:r>
              <a:rPr sz="1250" b="1">
                <a:solidFill>
                  <a:srgbClr val="1B254B"/>
                </a:solidFill>
                <a:latin typeface="Meiryo"/>
              </a:rPr>
              <a:t>T20 と T30 の差が縮むこと</a:t>
            </a:r>
          </a:p>
        </p:txBody>
      </p:sp>
      <p:sp>
        <p:nvSpPr>
          <p:cNvPr id="15" name="TextBox 14"/>
          <p:cNvSpPr txBox="1"/>
          <p:nvPr/>
        </p:nvSpPr>
        <p:spPr>
          <a:xfrm>
            <a:off x="4572000" y="3538727"/>
            <a:ext cx="6949440" cy="530352"/>
          </a:xfrm>
          <a:prstGeom prst="rect">
            <a:avLst/>
          </a:prstGeom>
          <a:noFill/>
        </p:spPr>
        <p:txBody>
          <a:bodyPr wrap="square" lIns="0" rIns="0" tIns="0" bIns="0" anchor="t">
            <a:spAutoFit/>
          </a:bodyPr>
          <a:lstStyle/>
          <a:p>
            <a:pPr algn="l">
              <a:lnSpc>
                <a:spcPct val="120000"/>
              </a:lnSpc>
              <a:spcAft>
                <a:spcPts val="0"/>
              </a:spcAft>
            </a:pPr>
            <a:r>
              <a:rPr sz="1100" b="0">
                <a:solidFill>
                  <a:srgbClr val="22262B"/>
                </a:solidFill>
                <a:latin typeface="Meiryo"/>
              </a:rPr>
              <a:t>いま T20 &lt; T30 &lt; RTany と開いている。散乱が入れば揃う方向に動く</a:t>
            </a:r>
          </a:p>
        </p:txBody>
      </p:sp>
      <p:sp>
        <p:nvSpPr>
          <p:cNvPr id="16" name="Rounded Rectangle 15"/>
          <p:cNvSpPr/>
          <p:nvPr/>
        </p:nvSpPr>
        <p:spPr>
          <a:xfrm>
            <a:off x="566928" y="4261103"/>
            <a:ext cx="11057839" cy="804672"/>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41247" y="4526279"/>
            <a:ext cx="274320" cy="274320"/>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80160" y="4407407"/>
            <a:ext cx="3657600" cy="274320"/>
          </a:xfrm>
          <a:prstGeom prst="rect">
            <a:avLst/>
          </a:prstGeom>
          <a:noFill/>
        </p:spPr>
        <p:txBody>
          <a:bodyPr wrap="square" lIns="0" rIns="0" tIns="0" bIns="0" anchor="t">
            <a:spAutoFit/>
          </a:bodyPr>
          <a:lstStyle/>
          <a:p>
            <a:pPr algn="l">
              <a:lnSpc>
                <a:spcPct val="115000"/>
              </a:lnSpc>
              <a:spcAft>
                <a:spcPts val="0"/>
              </a:spcAft>
            </a:pPr>
            <a:r>
              <a:rPr sz="1250" b="1">
                <a:solidFill>
                  <a:srgbClr val="1B254B"/>
                </a:solidFill>
                <a:latin typeface="Meiryo"/>
              </a:rPr>
              <a:t>EDT・C50・STI がほとんど動かないこと</a:t>
            </a:r>
          </a:p>
        </p:txBody>
      </p:sp>
      <p:sp>
        <p:nvSpPr>
          <p:cNvPr id="19" name="TextBox 18"/>
          <p:cNvSpPr txBox="1"/>
          <p:nvPr/>
        </p:nvSpPr>
        <p:spPr>
          <a:xfrm>
            <a:off x="4572000" y="4425695"/>
            <a:ext cx="6949440" cy="530352"/>
          </a:xfrm>
          <a:prstGeom prst="rect">
            <a:avLst/>
          </a:prstGeom>
          <a:noFill/>
        </p:spPr>
        <p:txBody>
          <a:bodyPr wrap="square" lIns="0" rIns="0" tIns="0" bIns="0" anchor="t">
            <a:spAutoFit/>
          </a:bodyPr>
          <a:lstStyle/>
          <a:p>
            <a:pPr algn="l">
              <a:lnSpc>
                <a:spcPct val="120000"/>
              </a:lnSpc>
              <a:spcAft>
                <a:spcPts val="0"/>
              </a:spcAft>
            </a:pPr>
            <a:r>
              <a:rPr sz="1100" b="0">
                <a:solidFill>
                  <a:srgbClr val="22262B"/>
                </a:solidFill>
                <a:latin typeface="Meiryo"/>
              </a:rPr>
              <a:t>★これが動くようなら入れ方を間違えている。初期反射は散乱にあまり依らない</a:t>
            </a:r>
          </a:p>
        </p:txBody>
      </p:sp>
      <p:sp>
        <p:nvSpPr>
          <p:cNvPr id="20" name="Rounded Rectangle 19"/>
          <p:cNvSpPr/>
          <p:nvPr/>
        </p:nvSpPr>
        <p:spPr>
          <a:xfrm>
            <a:off x="566928" y="5148071"/>
            <a:ext cx="11057839" cy="804672"/>
          </a:xfrm>
          <a:prstGeom prst="roundRect">
            <a:avLst>
              <a:gd name="adj" fmla="val 4000"/>
            </a:avLst>
          </a:prstGeom>
          <a:solidFill>
            <a:srgbClr val="FAF0DF"/>
          </a:solidFill>
          <a:ln w="12700">
            <a:solidFill>
              <a:srgbClr val="E0932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247" y="5413247"/>
            <a:ext cx="274320" cy="274320"/>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5294375"/>
            <a:ext cx="3657600" cy="274320"/>
          </a:xfrm>
          <a:prstGeom prst="rect">
            <a:avLst/>
          </a:prstGeom>
          <a:noFill/>
        </p:spPr>
        <p:txBody>
          <a:bodyPr wrap="square" lIns="0" rIns="0" tIns="0" bIns="0" anchor="t">
            <a:spAutoFit/>
          </a:bodyPr>
          <a:lstStyle/>
          <a:p>
            <a:pPr algn="l">
              <a:lnSpc>
                <a:spcPct val="115000"/>
              </a:lnSpc>
              <a:spcAft>
                <a:spcPts val="0"/>
              </a:spcAft>
            </a:pPr>
            <a:r>
              <a:rPr sz="1250" b="1">
                <a:solidFill>
                  <a:srgbClr val="1B254B"/>
                </a:solidFill>
                <a:latin typeface="Meiryo"/>
              </a:rPr>
              <a:t>逆二乗則の検算が通り続けること</a:t>
            </a:r>
          </a:p>
        </p:txBody>
      </p:sp>
      <p:sp>
        <p:nvSpPr>
          <p:cNvPr id="23" name="TextBox 22"/>
          <p:cNvSpPr txBox="1"/>
          <p:nvPr/>
        </p:nvSpPr>
        <p:spPr>
          <a:xfrm>
            <a:off x="4572000" y="5312663"/>
            <a:ext cx="6949440" cy="530352"/>
          </a:xfrm>
          <a:prstGeom prst="rect">
            <a:avLst/>
          </a:prstGeom>
          <a:noFill/>
        </p:spPr>
        <p:txBody>
          <a:bodyPr wrap="square" lIns="0" rIns="0" tIns="0" bIns="0" anchor="t">
            <a:spAutoFit/>
          </a:bodyPr>
          <a:lstStyle/>
          <a:p>
            <a:pPr algn="l">
              <a:lnSpc>
                <a:spcPct val="120000"/>
              </a:lnSpc>
              <a:spcAft>
                <a:spcPts val="0"/>
              </a:spcAft>
            </a:pPr>
            <a:r>
              <a:rPr sz="1100" b="0">
                <a:solidFill>
                  <a:srgbClr val="22262B"/>
                </a:solidFill>
                <a:latin typeface="Meiryo"/>
              </a:rPr>
              <a:t>反射面が無ければ Lp = Lw − 20log10 d − 11 に厳密一致する、という物差しを壊さない</a:t>
            </a:r>
          </a:p>
        </p:txBody>
      </p:sp>
      <p:sp>
        <p:nvSpPr>
          <p:cNvPr id="24" name="TextBox 23"/>
          <p:cNvSpPr txBox="1"/>
          <p:nvPr/>
        </p:nvSpPr>
        <p:spPr>
          <a:xfrm>
            <a:off x="566928" y="6108192"/>
            <a:ext cx="11057839" cy="411480"/>
          </a:xfrm>
          <a:prstGeom prst="rect">
            <a:avLst/>
          </a:prstGeom>
          <a:noFill/>
        </p:spPr>
        <p:txBody>
          <a:bodyPr wrap="square" lIns="0" rIns="0" tIns="0" bIns="0" anchor="t">
            <a:spAutoFit/>
          </a:bodyPr>
          <a:lstStyle/>
          <a:p>
            <a:pPr algn="l">
              <a:lnSpc>
                <a:spcPct val="115000"/>
              </a:lnSpc>
              <a:spcAft>
                <a:spcPts val="0"/>
              </a:spcAft>
            </a:pPr>
            <a:r>
              <a:rPr sz="1150" b="0">
                <a:solidFill>
                  <a:srgbClr val="606A76"/>
                </a:solidFill>
                <a:latin typeface="Meiryo"/>
              </a:rPr>
              <a:t>★実測が無い室で s を動かして合わせにいくのは危険。校正は実測のある室で行い、他の室へはその値を持ち込む。</a:t>
            </a:r>
          </a:p>
        </p:txBody>
      </p:sp>
      <p:sp>
        <p:nvSpPr>
          <p:cNvPr id="25" name="TextBox 24"/>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778240" y="-1463040"/>
            <a:ext cx="5852160" cy="5852160"/>
          </a:xfrm>
          <a:prstGeom prst="ellipse">
            <a:avLst/>
          </a:prstGeom>
          <a:solidFill>
            <a:srgbClr val="2431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57839" cy="658368"/>
          </a:xfrm>
          <a:prstGeom prst="rect">
            <a:avLst/>
          </a:prstGeom>
          <a:noFill/>
        </p:spPr>
        <p:txBody>
          <a:bodyPr wrap="square" lIns="0" rIns="0" tIns="0" bIns="0" anchor="t">
            <a:spAutoFit/>
          </a:bodyPr>
          <a:lstStyle/>
          <a:p>
            <a:pPr algn="l">
              <a:lnSpc>
                <a:spcPct val="115000"/>
              </a:lnSpc>
              <a:spcAft>
                <a:spcPts val="0"/>
              </a:spcAft>
            </a:pPr>
            <a:r>
              <a:rPr sz="2700" b="1">
                <a:solidFill>
                  <a:srgbClr val="FFFFFF"/>
                </a:solidFill>
                <a:latin typeface="Meiryo"/>
              </a:rPr>
              <a:t>まとめ</a:t>
            </a:r>
          </a:p>
        </p:txBody>
      </p:sp>
      <p:sp>
        <p:nvSpPr>
          <p:cNvPr id="5" name="TextBox 4"/>
          <p:cNvSpPr txBox="1"/>
          <p:nvPr/>
        </p:nvSpPr>
        <p:spPr>
          <a:xfrm>
            <a:off x="566928" y="1298448"/>
            <a:ext cx="7863840" cy="365760"/>
          </a:xfrm>
          <a:prstGeom prst="rect">
            <a:avLst/>
          </a:prstGeom>
          <a:noFill/>
        </p:spPr>
        <p:txBody>
          <a:bodyPr wrap="square" lIns="0" rIns="0" tIns="0" bIns="0" anchor="t">
            <a:spAutoFit/>
          </a:bodyPr>
          <a:lstStyle/>
          <a:p>
            <a:pPr algn="l">
              <a:lnSpc>
                <a:spcPct val="115000"/>
              </a:lnSpc>
              <a:spcAft>
                <a:spcPts val="0"/>
              </a:spcAft>
            </a:pPr>
            <a:r>
              <a:rPr sz="1300" b="1">
                <a:solidFill>
                  <a:srgbClr val="E0932F"/>
                </a:solidFill>
                <a:latin typeface="Meiryo"/>
              </a:rPr>
              <a:t>判断していただきたいこと</a:t>
            </a:r>
          </a:p>
        </p:txBody>
      </p:sp>
      <p:sp>
        <p:nvSpPr>
          <p:cNvPr id="6" name="Oval 5"/>
          <p:cNvSpPr/>
          <p:nvPr/>
        </p:nvSpPr>
        <p:spPr>
          <a:xfrm>
            <a:off x="585216" y="1883664"/>
            <a:ext cx="155448" cy="155448"/>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0976" y="1783080"/>
            <a:ext cx="7772400" cy="292608"/>
          </a:xfrm>
          <a:prstGeom prst="rect">
            <a:avLst/>
          </a:prstGeom>
          <a:noFill/>
        </p:spPr>
        <p:txBody>
          <a:bodyPr wrap="square" lIns="0" rIns="0" tIns="0" bIns="0" anchor="t">
            <a:spAutoFit/>
          </a:bodyPr>
          <a:lstStyle/>
          <a:p>
            <a:pPr algn="l">
              <a:lnSpc>
                <a:spcPct val="115000"/>
              </a:lnSpc>
              <a:spcAft>
                <a:spcPts val="0"/>
              </a:spcAft>
            </a:pPr>
            <a:r>
              <a:rPr sz="1400" b="1">
                <a:solidFill>
                  <a:srgbClr val="FFFFFF"/>
                </a:solidFill>
                <a:latin typeface="Meiryo"/>
              </a:rPr>
              <a:t>散乱を入れないと T20 / T30 は読めないまま</a:t>
            </a:r>
          </a:p>
        </p:txBody>
      </p:sp>
      <p:sp>
        <p:nvSpPr>
          <p:cNvPr id="8" name="TextBox 7"/>
          <p:cNvSpPr txBox="1"/>
          <p:nvPr/>
        </p:nvSpPr>
        <p:spPr>
          <a:xfrm>
            <a:off x="950976" y="2130552"/>
            <a:ext cx="7772400" cy="502920"/>
          </a:xfrm>
          <a:prstGeom prst="rect">
            <a:avLst/>
          </a:prstGeom>
          <a:noFill/>
        </p:spPr>
        <p:txBody>
          <a:bodyPr wrap="square" lIns="0" rIns="0" tIns="0" bIns="0" anchor="t">
            <a:spAutoFit/>
          </a:bodyPr>
          <a:lstStyle/>
          <a:p>
            <a:pPr algn="l">
              <a:lnSpc>
                <a:spcPct val="125000"/>
              </a:lnSpc>
              <a:spcAft>
                <a:spcPts val="0"/>
              </a:spcAft>
            </a:pPr>
            <a:r>
              <a:rPr sz="1150" b="0">
                <a:solidFill>
                  <a:srgbClr val="BECDDE"/>
                </a:solidFill>
                <a:latin typeface="Meiryo"/>
              </a:rPr>
              <a:t>EDT・C50・STI は使える。残響時間だけが構造的に外れている</a:t>
            </a:r>
          </a:p>
        </p:txBody>
      </p:sp>
      <p:sp>
        <p:nvSpPr>
          <p:cNvPr id="9" name="Oval 8"/>
          <p:cNvSpPr/>
          <p:nvPr/>
        </p:nvSpPr>
        <p:spPr>
          <a:xfrm>
            <a:off x="585216" y="2907792"/>
            <a:ext cx="155448" cy="155448"/>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2807208"/>
            <a:ext cx="7772400" cy="292608"/>
          </a:xfrm>
          <a:prstGeom prst="rect">
            <a:avLst/>
          </a:prstGeom>
          <a:noFill/>
        </p:spPr>
        <p:txBody>
          <a:bodyPr wrap="square" lIns="0" rIns="0" tIns="0" bIns="0" anchor="t">
            <a:spAutoFit/>
          </a:bodyPr>
          <a:lstStyle/>
          <a:p>
            <a:pPr algn="l">
              <a:lnSpc>
                <a:spcPct val="115000"/>
              </a:lnSpc>
              <a:spcAft>
                <a:spcPts val="0"/>
              </a:spcAft>
            </a:pPr>
            <a:r>
              <a:rPr sz="1400" b="1">
                <a:solidFill>
                  <a:srgbClr val="FFFFFF"/>
                </a:solidFill>
                <a:latin typeface="Meiryo"/>
              </a:rPr>
              <a:t>本命は B（確率的散乱）＋ C（2 次音源）</a:t>
            </a:r>
          </a:p>
        </p:txBody>
      </p:sp>
      <p:sp>
        <p:nvSpPr>
          <p:cNvPr id="11" name="TextBox 10"/>
          <p:cNvSpPr txBox="1"/>
          <p:nvPr/>
        </p:nvSpPr>
        <p:spPr>
          <a:xfrm>
            <a:off x="950976" y="3154680"/>
            <a:ext cx="7772400" cy="502920"/>
          </a:xfrm>
          <a:prstGeom prst="rect">
            <a:avLst/>
          </a:prstGeom>
          <a:noFill/>
        </p:spPr>
        <p:txBody>
          <a:bodyPr wrap="square" lIns="0" rIns="0" tIns="0" bIns="0" anchor="t">
            <a:spAutoFit/>
          </a:bodyPr>
          <a:lstStyle/>
          <a:p>
            <a:pPr algn="l">
              <a:lnSpc>
                <a:spcPct val="125000"/>
              </a:lnSpc>
              <a:spcAft>
                <a:spcPts val="0"/>
              </a:spcAft>
            </a:pPr>
            <a:r>
              <a:rPr sz="1150" b="0">
                <a:solidFill>
                  <a:srgbClr val="BECDDE"/>
                </a:solidFill>
                <a:latin typeface="Meiryo"/>
              </a:rPr>
              <a:t>市販ソフトと同じ形。鏡面経路は虚音源のまま残せるので、いまの強みを壊さない</a:t>
            </a:r>
          </a:p>
        </p:txBody>
      </p:sp>
      <p:sp>
        <p:nvSpPr>
          <p:cNvPr id="12" name="Oval 11"/>
          <p:cNvSpPr/>
          <p:nvPr/>
        </p:nvSpPr>
        <p:spPr>
          <a:xfrm>
            <a:off x="585216" y="3931920"/>
            <a:ext cx="155448" cy="155448"/>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3831336"/>
            <a:ext cx="7772400" cy="292608"/>
          </a:xfrm>
          <a:prstGeom prst="rect">
            <a:avLst/>
          </a:prstGeom>
          <a:noFill/>
        </p:spPr>
        <p:txBody>
          <a:bodyPr wrap="square" lIns="0" rIns="0" tIns="0" bIns="0" anchor="t">
            <a:spAutoFit/>
          </a:bodyPr>
          <a:lstStyle/>
          <a:p>
            <a:pPr algn="l">
              <a:lnSpc>
                <a:spcPct val="115000"/>
              </a:lnSpc>
              <a:spcAft>
                <a:spcPts val="0"/>
              </a:spcAft>
            </a:pPr>
            <a:r>
              <a:rPr sz="1400" b="1">
                <a:solidFill>
                  <a:srgbClr val="FFFFFF"/>
                </a:solidFill>
                <a:latin typeface="Meiryo"/>
              </a:rPr>
              <a:t>位相は「散乱したかどうか」で切り分ける</a:t>
            </a:r>
          </a:p>
        </p:txBody>
      </p:sp>
      <p:sp>
        <p:nvSpPr>
          <p:cNvPr id="14" name="TextBox 13"/>
          <p:cNvSpPr txBox="1"/>
          <p:nvPr/>
        </p:nvSpPr>
        <p:spPr>
          <a:xfrm>
            <a:off x="950976" y="4178808"/>
            <a:ext cx="7772400" cy="502920"/>
          </a:xfrm>
          <a:prstGeom prst="rect">
            <a:avLst/>
          </a:prstGeom>
          <a:noFill/>
        </p:spPr>
        <p:txBody>
          <a:bodyPr wrap="square" lIns="0" rIns="0" tIns="0" bIns="0" anchor="t">
            <a:spAutoFit/>
          </a:bodyPr>
          <a:lstStyle/>
          <a:p>
            <a:pPr algn="l">
              <a:lnSpc>
                <a:spcPct val="125000"/>
              </a:lnSpc>
              <a:spcAft>
                <a:spcPts val="0"/>
              </a:spcAft>
            </a:pPr>
            <a:r>
              <a:rPr sz="1150" b="0">
                <a:solidFill>
                  <a:srgbClr val="BECDDE"/>
                </a:solidFill>
                <a:latin typeface="Meiryo"/>
              </a:rPr>
              <a:t>鏡面は複素和のまま、散乱はエネルギー。低域のモード検討と残響の両立ができる</a:t>
            </a:r>
          </a:p>
        </p:txBody>
      </p:sp>
      <p:sp>
        <p:nvSpPr>
          <p:cNvPr id="15" name="Oval 14"/>
          <p:cNvSpPr/>
          <p:nvPr/>
        </p:nvSpPr>
        <p:spPr>
          <a:xfrm>
            <a:off x="585216" y="4956048"/>
            <a:ext cx="155448" cy="155448"/>
          </a:xfrm>
          <a:prstGeom prst="ellipse">
            <a:avLst/>
          </a:prstGeom>
          <a:solidFill>
            <a:srgbClr val="E093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4855464"/>
            <a:ext cx="7772400" cy="292608"/>
          </a:xfrm>
          <a:prstGeom prst="rect">
            <a:avLst/>
          </a:prstGeom>
          <a:noFill/>
        </p:spPr>
        <p:txBody>
          <a:bodyPr wrap="square" lIns="0" rIns="0" tIns="0" bIns="0" anchor="t">
            <a:spAutoFit/>
          </a:bodyPr>
          <a:lstStyle/>
          <a:p>
            <a:pPr algn="l">
              <a:lnSpc>
                <a:spcPct val="115000"/>
              </a:lnSpc>
              <a:spcAft>
                <a:spcPts val="0"/>
              </a:spcAft>
            </a:pPr>
            <a:r>
              <a:rPr sz="1400" b="1">
                <a:solidFill>
                  <a:srgbClr val="FFFFFF"/>
                </a:solidFill>
                <a:latin typeface="Meiryo"/>
              </a:rPr>
              <a:t>s は 0 にしない。0.05〜0.1 を下限に、高域ほど大きく</a:t>
            </a:r>
          </a:p>
        </p:txBody>
      </p:sp>
      <p:sp>
        <p:nvSpPr>
          <p:cNvPr id="17" name="TextBox 16"/>
          <p:cNvSpPr txBox="1"/>
          <p:nvPr/>
        </p:nvSpPr>
        <p:spPr>
          <a:xfrm>
            <a:off x="950976" y="5202936"/>
            <a:ext cx="7772400" cy="502920"/>
          </a:xfrm>
          <a:prstGeom prst="rect">
            <a:avLst/>
          </a:prstGeom>
          <a:noFill/>
        </p:spPr>
        <p:txBody>
          <a:bodyPr wrap="square" lIns="0" rIns="0" tIns="0" bIns="0" anchor="t">
            <a:spAutoFit/>
          </a:bodyPr>
          <a:lstStyle/>
          <a:p>
            <a:pPr algn="l">
              <a:lnSpc>
                <a:spcPct val="125000"/>
              </a:lnSpc>
              <a:spcAft>
                <a:spcPts val="0"/>
              </a:spcAft>
            </a:pPr>
            <a:r>
              <a:rPr sz="1150" b="0">
                <a:solidFill>
                  <a:srgbClr val="BECDDE"/>
                </a:solidFill>
                <a:latin typeface="Meiryo"/>
              </a:rPr>
              <a:t>階段教室は形が作り込まれているので小さめ。ただし未作図の客席は 0.6〜0.7</a:t>
            </a:r>
          </a:p>
        </p:txBody>
      </p:sp>
      <p:sp>
        <p:nvSpPr>
          <p:cNvPr id="18" name="Rounded Rectangle 17"/>
          <p:cNvSpPr/>
          <p:nvPr/>
        </p:nvSpPr>
        <p:spPr>
          <a:xfrm>
            <a:off x="566928" y="5870448"/>
            <a:ext cx="8138160" cy="658368"/>
          </a:xfrm>
          <a:prstGeom prst="roundRect">
            <a:avLst>
              <a:gd name="adj" fmla="val 4000"/>
            </a:avLst>
          </a:prstGeom>
          <a:solidFill>
            <a:srgbClr val="2A3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7" y="6025896"/>
            <a:ext cx="7589520" cy="365760"/>
          </a:xfrm>
          <a:prstGeom prst="rect">
            <a:avLst/>
          </a:prstGeom>
          <a:noFill/>
        </p:spPr>
        <p:txBody>
          <a:bodyPr wrap="square" lIns="0" rIns="0" tIns="0" bIns="0" anchor="t">
            <a:spAutoFit/>
          </a:bodyPr>
          <a:lstStyle/>
          <a:p>
            <a:pPr algn="l">
              <a:lnSpc>
                <a:spcPct val="115000"/>
              </a:lnSpc>
              <a:spcAft>
                <a:spcPts val="0"/>
              </a:spcAft>
            </a:pPr>
            <a:r>
              <a:rPr sz="1200" b="1">
                <a:solidFill>
                  <a:srgbClr val="FFFFFF"/>
                </a:solidFill>
                <a:latin typeface="Meiryo"/>
              </a:rPr>
              <a:t>次にやること：段 0（散乱の無い状態の曲率・ξ・T20 / T30 を基準値として控える）</a:t>
            </a:r>
          </a:p>
        </p:txBody>
      </p:sp>
      <p:sp>
        <p:nvSpPr>
          <p:cNvPr id="20" name="TextBox 19"/>
          <p:cNvSpPr txBox="1"/>
          <p:nvPr/>
        </p:nvSpPr>
        <p:spPr>
          <a:xfrm>
            <a:off x="10801807" y="6327648"/>
            <a:ext cx="822960" cy="237744"/>
          </a:xfrm>
          <a:prstGeom prst="rect">
            <a:avLst/>
          </a:prstGeom>
          <a:noFill/>
        </p:spPr>
        <p:txBody>
          <a:bodyPr wrap="square" lIns="0" rIns="0" tIns="0" bIns="0" anchor="t">
            <a:spAutoFit/>
          </a:bodyPr>
          <a:lstStyle/>
          <a:p>
            <a:pPr algn="r">
              <a:lnSpc>
                <a:spcPct val="115000"/>
              </a:lnSpc>
              <a:spcAft>
                <a:spcPts val="0"/>
              </a:spcAft>
            </a:pPr>
            <a:r>
              <a:rPr sz="1000" b="0">
                <a:solidFill>
                  <a:srgbClr val="606A76"/>
                </a:solidFill>
                <a:latin typeface="Meiryo"/>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