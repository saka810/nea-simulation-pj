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B8C6CF"/>
                </a:solidFill>
                <a:latin typeface="Meiryo UI"/>
              </a:rPr>
              <a:t>修正版 backtrace_rev.f90 の改善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eiryo UI"/>
              </a:rPr>
              <a:t>いま捨てている経路を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eiryo UI"/>
              </a:rPr>
              <a:t>図で説明します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DDE5EA"/>
                </a:solidFill>
                <a:latin typeface="Meiryo UI"/>
              </a:rPr>
              <a:t>壁を横から見た断面図で、音線を飛ばしてから経路を確かめるまでを 1 枚ずつ追います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B8C6CF"/>
                </a:solidFill>
                <a:latin typeface="Meiryo UI"/>
              </a:rPr>
              <a:t>2026-10-21　WIN240377 / Claude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10332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2F3D"/>
                </a:solidFill>
                <a:latin typeface="Meiryo UI"/>
              </a:rPr>
              <a:t>同じ壁でもレイヤが違えば別の面になる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E7C86"/>
                </a:solidFill>
                <a:latin typeface="Meiryo UI"/>
              </a:rPr>
              <a:t>ご認識のとおり、いまは「同じレイヤ・同じ平面・つながっている」三角形を 1 枚の面として計算している</a:t>
            </a:r>
          </a:p>
        </p:txBody>
      </p:sp>
      <p:pic>
        <p:nvPicPr>
          <p:cNvPr id="5" name="Picture 4" descr="fig0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5196"/>
            <a:ext cx="7498079" cy="270192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21040" y="1737360"/>
            <a:ext cx="3291840" cy="3657600"/>
          </a:xfrm>
          <a:prstGeom prst="roundRect">
            <a:avLst>
              <a:gd name="adj" fmla="val 4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2057400"/>
            <a:ext cx="2651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1B2F3D"/>
                </a:solidFill>
                <a:latin typeface="Meiryo UI"/>
              </a:rPr>
              <a:t>いまのプログラム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B2F3D"/>
                </a:solidFill>
                <a:latin typeface="Meiryo UI"/>
              </a:rPr>
              <a:t>上下でレイヤが違うので「面 A」と「面 B」の 2 枚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1B2F3D"/>
                </a:solidFill>
                <a:latin typeface="Meiryo UI"/>
              </a:rPr>
              <a:t>修正版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B2F3D"/>
                </a:solidFill>
                <a:latin typeface="Meiryo UI"/>
              </a:rPr>
              <a:t>レイヤは見ずに、同じ平面なら 1 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E7C86"/>
                </a:solidFill>
                <a:latin typeface="Meiryo UI"/>
              </a:rPr>
              <a:t>hall1.dxf の側壁がこの形（下部 2_74・上部 8_74）。奥の壁と反対側の側壁も同じで、11 平面が 14 面に分かれている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②「平面で照合する」とは　2026-10-21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10332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2F3D"/>
                </a:solidFill>
                <a:latin typeface="Meiryo UI"/>
              </a:rPr>
              <a:t>音源から音線を飛ばす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E7C86"/>
                </a:solidFill>
                <a:latin typeface="Meiryo UI"/>
              </a:rPr>
              <a:t>壁の下部（A）の境目近くで反射し、受音球の端をかすめた</a:t>
            </a:r>
          </a:p>
        </p:txBody>
      </p:sp>
      <p:pic>
        <p:nvPicPr>
          <p:cNvPr id="5" name="Picture 4" descr="fig1_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03" y="1600200"/>
            <a:ext cx="5137312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1737360"/>
            <a:ext cx="4663440" cy="4389120"/>
          </a:xfrm>
          <a:prstGeom prst="roundRect">
            <a:avLst>
              <a:gd name="adj" fmla="val 4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9479" y="2057400"/>
            <a:ext cx="4023359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B2F3D"/>
                </a:solidFill>
                <a:latin typeface="Meiryo UI"/>
              </a:rPr>
              <a:t>受音球の中を通ったので「受音した」とみなす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1B2F3D"/>
                </a:solidFill>
                <a:latin typeface="Meiryo UI"/>
              </a:rPr>
              <a:t>経路の記録：</a:t>
            </a:r>
            <a:r>
              <a:rPr sz="1700" b="1">
                <a:solidFill>
                  <a:srgbClr val="B33A2E"/>
                </a:solidFill>
                <a:latin typeface="Meiryo UI"/>
              </a:rPr>
              <a:t>「面 A で 1 回反射」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B2F3D"/>
                </a:solidFill>
                <a:latin typeface="Meiryo UI"/>
              </a:rPr>
              <a:t>受音球には大きさ（半径 1 m）があるので、球の中心ではなく端を通った音線も受音として数える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②「平面で照合する」とは　2026-10-21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10332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2F3D"/>
                </a:solidFill>
                <a:latin typeface="Meiryo UI"/>
              </a:rPr>
              <a:t>記録をもとに虚音源を作る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E7C86"/>
                </a:solidFill>
                <a:latin typeface="Meiryo UI"/>
              </a:rPr>
              <a:t>壁を鏡とみなして、音源を壁の向こう側に映す</a:t>
            </a:r>
          </a:p>
        </p:txBody>
      </p:sp>
      <p:pic>
        <p:nvPicPr>
          <p:cNvPr id="5" name="Picture 4" descr="fig2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9309"/>
            <a:ext cx="6949440" cy="39652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737360"/>
            <a:ext cx="3840480" cy="4389120"/>
          </a:xfrm>
          <a:prstGeom prst="roundRect">
            <a:avLst>
              <a:gd name="adj" fmla="val 4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20574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B2F3D"/>
                </a:solidFill>
                <a:latin typeface="Meiryo UI"/>
              </a:rPr>
              <a:t>虚音源は「壁までの距離」だけで決まる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B2F3D"/>
                </a:solidFill>
                <a:latin typeface="Meiryo UI"/>
              </a:rPr>
              <a:t>A で反射しても B で反射しても、</a:t>
            </a:r>
            <a:r>
              <a:rPr sz="1700" b="1">
                <a:solidFill>
                  <a:srgbClr val="1B2F3D"/>
                </a:solidFill>
                <a:latin typeface="Meiryo UI"/>
              </a:rPr>
              <a:t>虚音源は同じ位置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B2F3D"/>
                </a:solidFill>
                <a:latin typeface="Meiryo UI"/>
              </a:rPr>
              <a:t>A と B は同じ平面の上にあるので、鏡としては 1 枚と同じ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②「平面で照合する」とは　2026-10-21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10332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2F3D"/>
                </a:solidFill>
                <a:latin typeface="Meiryo UI"/>
              </a:rPr>
              <a:t>受音点の中心から辿り直して確かめる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E7C86"/>
                </a:solidFill>
                <a:latin typeface="Meiryo UI"/>
              </a:rPr>
              <a:t>手順 1 は球の端を通った音線なので、本当に中心まで届く経路かを確かめる</a:t>
            </a:r>
          </a:p>
        </p:txBody>
      </p:sp>
      <p:pic>
        <p:nvPicPr>
          <p:cNvPr id="5" name="Picture 4" descr="fig3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49309"/>
            <a:ext cx="6949440" cy="39652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737360"/>
            <a:ext cx="3840480" cy="4389120"/>
          </a:xfrm>
          <a:prstGeom prst="roundRect">
            <a:avLst>
              <a:gd name="adj" fmla="val 4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205740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1B2F3D"/>
                </a:solidFill>
                <a:latin typeface="Meiryo UI"/>
              </a:rPr>
              <a:t>受音点の中心から虚音源へまっすぐ線を引き、壁で折り返して音源まで辿る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B2F3D"/>
                </a:solidFill>
                <a:latin typeface="Meiryo UI"/>
              </a:rPr>
              <a:t>すると壁の当たる位置が少し上にずれて、</a:t>
            </a:r>
            <a:r>
              <a:rPr sz="1700" b="1">
                <a:solidFill>
                  <a:srgbClr val="2E7D5B"/>
                </a:solidFill>
                <a:latin typeface="Meiryo UI"/>
              </a:rPr>
              <a:t>上部（B）に当たる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1B2F3D"/>
                </a:solidFill>
                <a:latin typeface="Meiryo UI"/>
              </a:rPr>
              <a:t>中心と端では通る位置が違うので、境目の近くではこうなる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②「平面で照合する」とは　2026-10-21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10332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2F3D"/>
                </a:solidFill>
                <a:latin typeface="Meiryo UI"/>
              </a:rPr>
              <a:t>ここで判定が分かれる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E7C86"/>
                </a:solidFill>
                <a:latin typeface="Meiryo UI"/>
              </a:rPr>
              <a:t>記録は「面 A」、辿り直して当たったのは「面 B」</a:t>
            </a:r>
          </a:p>
        </p:txBody>
      </p:sp>
      <p:pic>
        <p:nvPicPr>
          <p:cNvPr id="5" name="Picture 4" descr="fig4_ju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260" y="1554480"/>
            <a:ext cx="8862998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B2F3D"/>
                </a:solidFill>
                <a:latin typeface="Meiryo UI"/>
              </a:rPr>
              <a:t>この経路は実在する：</a:t>
            </a:r>
            <a:r>
              <a:rPr sz="1500" b="0">
                <a:solidFill>
                  <a:srgbClr val="1B2F3D"/>
                </a:solidFill>
                <a:latin typeface="Meiryo UI"/>
              </a:rPr>
              <a:t>音源 → 壁の上部 → 受音点の中心と、正しく 1 回反射して届いている。いまはそれを捨てている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②「平面で照合する」とは　2026-10-21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03504" cy="603504"/>
          </a:xfrm>
          <a:prstGeom prst="ellipse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411480"/>
            <a:ext cx="103327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1B2F3D"/>
                </a:solidFill>
                <a:latin typeface="Meiryo UI"/>
              </a:rPr>
              <a:t>反射の回数が多い経路ほど捨てられやすい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107899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6E7C86"/>
                </a:solidFill>
                <a:latin typeface="Meiryo UI"/>
              </a:rPr>
              <a:t>どこか 1 回でも境目近くで反射すれば捨てるので、後ろの時間ほど効く</a:t>
            </a:r>
          </a:p>
        </p:txBody>
      </p:sp>
      <p:pic>
        <p:nvPicPr>
          <p:cNvPr id="5" name="Picture 4" descr="fig5_hal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97564"/>
            <a:ext cx="7589520" cy="370295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737360"/>
            <a:ext cx="3200400" cy="4114800"/>
          </a:xfrm>
          <a:prstGeom prst="roundRect">
            <a:avLst>
              <a:gd name="adj" fmla="val 4000"/>
            </a:avLst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19" y="2057400"/>
            <a:ext cx="25603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>
                <a:solidFill>
                  <a:srgbClr val="1B2F3D"/>
                </a:solidFill>
                <a:latin typeface="Meiryo UI"/>
              </a:rPr>
              <a:t>hall1.dxf・音線 100 万本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B2F3D"/>
                </a:solidFill>
                <a:latin typeface="Meiryo UI"/>
              </a:rPr>
              <a:t>いま </a:t>
            </a:r>
            <a:r>
              <a:rPr sz="1600" b="1">
                <a:solidFill>
                  <a:srgbClr val="1B2F3D"/>
                </a:solidFill>
                <a:latin typeface="Meiryo UI"/>
              </a:rPr>
              <a:t>61,667</a:t>
            </a:r>
            <a:r>
              <a:rPr sz="1600" b="0">
                <a:solidFill>
                  <a:srgbClr val="1B2F3D"/>
                </a:solidFill>
                <a:latin typeface="Meiryo UI"/>
              </a:rPr>
              <a:t> 本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B2F3D"/>
                </a:solidFill>
                <a:latin typeface="Meiryo UI"/>
              </a:rPr>
              <a:t>平面で照合 </a:t>
            </a:r>
            <a:r>
              <a:rPr sz="1600" b="1">
                <a:solidFill>
                  <a:srgbClr val="2E7D5B"/>
                </a:solidFill>
                <a:latin typeface="Meiryo UI"/>
              </a:rPr>
              <a:t>73,817</a:t>
            </a:r>
            <a:r>
              <a:rPr sz="1600" b="0">
                <a:solidFill>
                  <a:srgbClr val="1B2F3D"/>
                </a:solidFill>
                <a:latin typeface="Meiryo UI"/>
              </a:rPr>
              <a:t> 本</a:t>
            </a:r>
          </a:p>
          <a:p>
            <a:pPr algn="l">
              <a:spcAft>
                <a:spcPts val="1400"/>
              </a:spcAft>
            </a:pPr>
            <a:r>
              <a:rPr sz="2400" b="1">
                <a:solidFill>
                  <a:srgbClr val="2E7D5B"/>
                </a:solidFill>
                <a:latin typeface="Meiryo UI"/>
              </a:rPr>
              <a:t>1.20 倍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B2F3D"/>
                </a:solidFill>
                <a:latin typeface="Meiryo UI"/>
              </a:rPr>
              <a:t>増えるのはほぼ 1 s 以降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②「平面で照合する」とは　2026-10-21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E7C86"/>
                </a:solidFill>
                <a:latin typeface="Meiryo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Meiryo UI"/>
              </a:rPr>
              <a:t>直すとしたら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B8C6CF"/>
                </a:solidFill>
                <a:latin typeface="Meiryo UI"/>
              </a:rPr>
              <a:t>計算結果の数字が変わるので、ブランチに置いて共同開発者に判断してもらう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3337560" cy="3291840"/>
          </a:xfrm>
          <a:prstGeom prst="roundRect">
            <a:avLst>
              <a:gd name="adj" fmla="val 5000"/>
            </a:avLst>
          </a:prstGeom>
          <a:solidFill>
            <a:srgbClr val="26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651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B8C6CF"/>
                </a:solidFill>
                <a:latin typeface="Meiryo UI"/>
              </a:rPr>
              <a:t>当たり判定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0632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eiryo UI"/>
              </a:rPr>
              <a:t>いまのまま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86200"/>
            <a:ext cx="2743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DDE5EA"/>
                </a:solidFill>
                <a:latin typeface="Meiryo UI"/>
              </a:rPr>
              <a:t>「同じレイヤ・同じ平面・つながっている」1 枚の面で当たりを調べる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377440"/>
            <a:ext cx="3337560" cy="3291840"/>
          </a:xfrm>
          <a:prstGeom prst="roundRect">
            <a:avLst>
              <a:gd name="adj" fmla="val 5000"/>
            </a:avLst>
          </a:prstGeom>
          <a:solidFill>
            <a:srgbClr val="26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651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B8C6CF"/>
                </a:solidFill>
                <a:latin typeface="Meiryo UI"/>
              </a:rPr>
              <a:t>経路の照合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0632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eiryo UI"/>
              </a:rPr>
              <a:t>平面で見る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886200"/>
            <a:ext cx="2743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DDE5EA"/>
                </a:solidFill>
                <a:latin typeface="Meiryo UI"/>
              </a:rPr>
              <a:t>手順 4 で「同じ平面か」を見る。面 A と面 B なら通す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377440"/>
            <a:ext cx="3337560" cy="3291840"/>
          </a:xfrm>
          <a:prstGeom prst="roundRect">
            <a:avLst>
              <a:gd name="adj" fmla="val 5000"/>
            </a:avLst>
          </a:prstGeom>
          <a:solidFill>
            <a:srgbClr val="26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651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B8C6CF"/>
                </a:solidFill>
                <a:latin typeface="Meiryo UI"/>
              </a:rPr>
              <a:t>吸音率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0632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eiryo UI"/>
              </a:rPr>
              <a:t>当たった面の値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886200"/>
            <a:ext cx="27432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DDE5EA"/>
                </a:solidFill>
                <a:latin typeface="Meiryo UI"/>
              </a:rPr>
              <a:t>辿り直して実際に当たった面（B）のレイヤの吸音率で計算する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